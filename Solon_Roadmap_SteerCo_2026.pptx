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Hours</c:v>
                </c:pt>
              </c:strCache>
            </c:strRef>
          </c:tx>
          <c:spPr>
            <a:solidFill>
              <a:srgbClr val="1B5E52"/>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Party Identifiers</c:v>
                  </c:pt>
                  <c:pt idx="1">
                    <c:v>Org. Hierarchy View</c:v>
                  </c:pt>
                  <c:pt idx="2">
                    <c:v>Search Enhancements</c:v>
                  </c:pt>
                  <c:pt idx="3">
                    <c:v>Data Area Enhancements</c:v>
                  </c:pt>
                  <c:pt idx="4">
                    <c:v>Historical Data View</c:v>
                  </c:pt>
                  <c:pt idx="5">
                    <c:v>Additional Name Elems</c:v>
                  </c:pt>
                </c:lvl>
              </c:multiLvlStrCache>
            </c:multiLvlStrRef>
          </c:cat>
          <c:val>
            <c:numRef>
              <c:f>Sheet1!$B$2:$B$7</c:f>
              <c:numCache>
                <c:formatCode>General</c:formatCode>
                <c:ptCount val="6"/>
                <c:pt idx="0">
                  <c:v>3200</c:v>
                </c:pt>
                <c:pt idx="1">
                  <c:v>2800</c:v>
                </c:pt>
                <c:pt idx="2">
                  <c:v>2100</c:v>
                </c:pt>
                <c:pt idx="3">
                  <c:v>1900</c:v>
                </c:pt>
                <c:pt idx="4">
                  <c:v>1100</c:v>
                </c:pt>
                <c:pt idx="5">
                  <c:v>766</c:v>
                </c:pt>
              </c:numCache>
            </c:numRef>
          </c:val>
        </c:ser>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88888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Series</c:v>
                </c:pt>
              </c:strCache>
            </c:strRef>
          </c:tx>
          <c:spPr>
            <a:solidFill>
              <a:schemeClr val="accent1"/>
            </a:solidFill>
            <a:ln w="9525" cap="flat">
              <a:solidFill>
                <a:srgbClr val="F9F9F9"/>
              </a:solidFill>
              <a:prstDash val="solid"/>
              <a:round/>
            </a:ln>
            <a:effectLst/>
          </c:spPr>
          <c:dPt>
            <c:idx val="0"/>
            <c:bubble3D val="0"/>
            <c:spPr>
              <a:solidFill>
                <a:srgbClr val="123836"/>
              </a:solidFill>
              <a:effectLst/>
            </c:spPr>
          </c:dPt>
          <c:dPt>
            <c:idx val="1"/>
            <c:bubble3D val="0"/>
            <c:spPr>
              <a:solidFill>
                <a:srgbClr val="1B5E52"/>
              </a:solidFill>
              <a:effectLst/>
            </c:spPr>
          </c:dPt>
          <c:dPt>
            <c:idx val="2"/>
            <c:bubble3D val="0"/>
            <c:spPr>
              <a:solidFill>
                <a:srgbClr val="73AA87"/>
              </a:solidFill>
              <a:effectLst/>
            </c:spPr>
          </c:dPt>
          <c:dLbls>
            <c:dLbl>
              <c:idx val="0"/>
              <c:numFmt formatCode="0%" sourceLinked="0"/>
              <c:spPr/>
              <c:txPr>
                <a:bodyPr/>
                <a:lstStyle/>
                <a:p>
                  <a:pPr>
                    <a:defRPr sz="1200" b="0" i="0" u="none" strike="noStrike">
                      <a:solidFill>
                        <a:srgbClr val="000000"/>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000000"/>
                      </a:solidFill>
                      <a:latin typeface="Arial"/>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000000"/>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P1 – Must Have</c:v>
                </c:pt>
                <c:pt idx="1">
                  <c:v>P2 – Should Have</c:v>
                </c:pt>
                <c:pt idx="2">
                  <c:v>P3 – Nice to Have</c:v>
                </c:pt>
              </c:strCache>
            </c:strRef>
          </c:cat>
          <c:val>
            <c:numRef>
              <c:f>Sheet1!$B$2:$B$4</c:f>
              <c:numCache>
                <c:ptCount val="3"/>
                <c:pt idx="0">
                  <c:v>70</c:v>
                </c:pt>
                <c:pt idx="1">
                  <c:v>20</c:v>
                </c:pt>
                <c:pt idx="2">
                  <c:v>10</c:v>
                </c:pt>
              </c:numCache>
            </c:numRef>
          </c:val>
        </c:ser>
        <c:firstSliceAng val="0"/>
        <c:holeSize val="55"/>
      </c:doughnutChart>
      <c:spPr>
        <a:noFill/>
        <a:ln>
          <a:noFill/>
        </a:ln>
        <a:effectLst/>
      </c:spPr>
    </c:plotArea>
    <c:legend>
      <c:legendPos val="r"/>
      <c:overlay val="0"/>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Hours</c:v>
                </c:pt>
              </c:strCache>
            </c:strRef>
          </c:tx>
          <c:spPr>
            <a:solidFill>
              <a:srgbClr val="1B5E52"/>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General Ledger Core</c:v>
                  </c:pt>
                  <c:pt idx="1">
                    <c:v>Transaction Processing</c:v>
                  </c:pt>
                  <c:pt idx="2">
                    <c:v>Account Reconciliation</c:v>
                  </c:pt>
                  <c:pt idx="3">
                    <c:v>Balance Management</c:v>
                  </c:pt>
                </c:lvl>
              </c:multiLvlStrCache>
            </c:multiLvlStrRef>
          </c:cat>
          <c:val>
            <c:numRef>
              <c:f>Sheet1!$B$2:$B$5</c:f>
              <c:numCache>
                <c:formatCode>General</c:formatCode>
                <c:ptCount val="4"/>
                <c:pt idx="0">
                  <c:v>2800</c:v>
                </c:pt>
                <c:pt idx="1">
                  <c:v>2400</c:v>
                </c:pt>
                <c:pt idx="2">
                  <c:v>1664</c:v>
                </c:pt>
                <c:pt idx="3">
                  <c:v>1200</c:v>
                </c:pt>
              </c:numCache>
            </c:numRef>
          </c:val>
        </c:ser>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88888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Series</c:v>
                </c:pt>
              </c:strCache>
            </c:strRef>
          </c:tx>
          <c:spPr>
            <a:solidFill>
              <a:schemeClr val="accent1"/>
            </a:solidFill>
            <a:ln w="9525" cap="flat">
              <a:solidFill>
                <a:srgbClr val="F9F9F9"/>
              </a:solidFill>
              <a:prstDash val="solid"/>
              <a:round/>
            </a:ln>
            <a:effectLst/>
          </c:spPr>
          <c:dPt>
            <c:idx val="0"/>
            <c:bubble3D val="0"/>
            <c:spPr>
              <a:solidFill>
                <a:srgbClr val="123836"/>
              </a:solidFill>
              <a:effectLst/>
            </c:spPr>
          </c:dPt>
          <c:dPt>
            <c:idx val="1"/>
            <c:bubble3D val="0"/>
            <c:spPr>
              <a:solidFill>
                <a:srgbClr val="1B5E52"/>
              </a:solidFill>
              <a:effectLst/>
            </c:spPr>
          </c:dPt>
          <c:dLbls>
            <c:dLbl>
              <c:idx val="0"/>
              <c:numFmt formatCode="0%" sourceLinked="0"/>
              <c:spPr/>
              <c:txPr>
                <a:bodyPr/>
                <a:lstStyle/>
                <a:p>
                  <a:pPr>
                    <a:defRPr sz="1200" b="0" i="0" u="none" strike="noStrike">
                      <a:solidFill>
                        <a:srgbClr val="000000"/>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000000"/>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P1 – Must Have</c:v>
                </c:pt>
                <c:pt idx="1">
                  <c:v>P2 – Should Have</c:v>
                </c:pt>
              </c:strCache>
            </c:strRef>
          </c:cat>
          <c:val>
            <c:numRef>
              <c:f>Sheet1!$B$2:$B$3</c:f>
              <c:numCache>
                <c:ptCount val="2"/>
                <c:pt idx="0">
                  <c:v>75</c:v>
                </c:pt>
                <c:pt idx="1">
                  <c:v>25</c:v>
                </c:pt>
              </c:numCache>
            </c:numRef>
          </c:val>
        </c:ser>
        <c:firstSliceAng val="0"/>
        <c:holeSize val="55"/>
      </c:doughnutChart>
      <c:spPr>
        <a:noFill/>
        <a:ln>
          <a:noFill/>
        </a:ln>
        <a:effectLst/>
      </c:spPr>
    </c:plotArea>
    <c:legend>
      <c:legendPos val="r"/>
      <c:overlay val="0"/>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Series</c:v>
                </c:pt>
              </c:strCache>
            </c:strRef>
          </c:tx>
          <c:spPr>
            <a:solidFill>
              <a:schemeClr val="accent1"/>
            </a:solidFill>
            <a:ln w="9525" cap="flat">
              <a:solidFill>
                <a:srgbClr val="F9F9F9"/>
              </a:solidFill>
              <a:prstDash val="solid"/>
              <a:round/>
            </a:ln>
            <a:effectLst/>
          </c:spPr>
          <c:dPt>
            <c:idx val="0"/>
            <c:bubble3D val="0"/>
            <c:spPr>
              <a:solidFill>
                <a:srgbClr val="123836"/>
              </a:solidFill>
              <a:effectLst/>
            </c:spPr>
          </c:dPt>
          <c:dPt>
            <c:idx val="1"/>
            <c:bubble3D val="0"/>
            <c:spPr>
              <a:solidFill>
                <a:srgbClr val="73AA87"/>
              </a:solidFill>
              <a:effectLst/>
            </c:spPr>
          </c:dPt>
          <c:dLbls>
            <c:dLbl>
              <c:idx val="0"/>
              <c:numFmt formatCode="0%" sourceLinked="0"/>
              <c:spPr/>
              <c:txPr>
                <a:bodyPr/>
                <a:lstStyle/>
                <a:p>
                  <a:pPr>
                    <a:defRPr sz="1200" b="0" i="0" u="none" strike="noStrike">
                      <a:solidFill>
                        <a:srgbClr val="000000"/>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000000"/>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P1 – Must Have</c:v>
                </c:pt>
                <c:pt idx="1">
                  <c:v>P2 – Should Have</c:v>
                </c:pt>
              </c:strCache>
            </c:strRef>
          </c:cat>
          <c:val>
            <c:numRef>
              <c:f>Sheet1!$B$2:$B$3</c:f>
              <c:numCache>
                <c:ptCount val="2"/>
                <c:pt idx="0">
                  <c:v>67</c:v>
                </c:pt>
                <c:pt idx="1">
                  <c:v>33</c:v>
                </c:pt>
              </c:numCache>
            </c:numRef>
          </c:val>
        </c:ser>
        <c:firstSliceAng val="0"/>
        <c:holeSize val="55"/>
      </c:doughnutChart>
      <c:spPr>
        <a:noFill/>
        <a:ln>
          <a:noFill/>
        </a:ln>
        <a:effectLst/>
      </c:spPr>
    </c:plotArea>
    <c:legend>
      <c:legendPos val="r"/>
      <c:overlay val="0"/>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836"/>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F6359"/>
          </a:solidFill>
          <a:ln/>
        </p:spPr>
      </p:sp>
      <p:sp>
        <p:nvSpPr>
          <p:cNvPr id="3" name="Shape 1"/>
          <p:cNvSpPr/>
          <p:nvPr/>
        </p:nvSpPr>
        <p:spPr>
          <a:xfrm>
            <a:off x="0" y="4297680"/>
            <a:ext cx="9144000" cy="845820"/>
          </a:xfrm>
          <a:prstGeom prst="rect">
            <a:avLst/>
          </a:prstGeom>
          <a:solidFill>
            <a:srgbClr val="0A2422"/>
          </a:solidFill>
          <a:ln/>
        </p:spPr>
      </p:sp>
      <p:sp>
        <p:nvSpPr>
          <p:cNvPr id="4" name="Text 2"/>
          <p:cNvSpPr/>
          <p:nvPr/>
        </p:nvSpPr>
        <p:spPr>
          <a:xfrm>
            <a:off x="457200" y="1097280"/>
            <a:ext cx="7772400" cy="77724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Solon Tax Product Roadmap 2026</a:t>
            </a:r>
            <a:endParaRPr lang="en-US" sz="3600" dirty="0"/>
          </a:p>
        </p:txBody>
      </p:sp>
      <p:sp>
        <p:nvSpPr>
          <p:cNvPr id="5" name="Text 3"/>
          <p:cNvSpPr/>
          <p:nvPr/>
        </p:nvSpPr>
        <p:spPr>
          <a:xfrm>
            <a:off x="457200" y="1874520"/>
            <a:ext cx="7315200" cy="502920"/>
          </a:xfrm>
          <a:prstGeom prst="rect">
            <a:avLst/>
          </a:prstGeom>
          <a:noFill/>
          <a:ln/>
        </p:spPr>
        <p:txBody>
          <a:bodyPr wrap="square" rtlCol="0" anchor="ctr"/>
          <a:lstStyle/>
          <a:p>
            <a:pPr indent="0" marL="0">
              <a:buNone/>
            </a:pPr>
            <a:r>
              <a:rPr lang="en-US" sz="2200" dirty="0">
                <a:solidFill>
                  <a:srgbClr val="73AA87"/>
                </a:solidFill>
                <a:latin typeface="Calibri" pitchFamily="34" charset="0"/>
                <a:ea typeface="Calibri" pitchFamily="34" charset="-122"/>
                <a:cs typeface="Calibri" pitchFamily="34" charset="-120"/>
              </a:rPr>
              <a:t>Feature Catalog for SteerCo</a:t>
            </a:r>
            <a:endParaRPr lang="en-US" sz="2200" dirty="0"/>
          </a:p>
        </p:txBody>
      </p:sp>
      <p:sp>
        <p:nvSpPr>
          <p:cNvPr id="6" name="Text 4"/>
          <p:cNvSpPr/>
          <p:nvPr/>
        </p:nvSpPr>
        <p:spPr>
          <a:xfrm>
            <a:off x="457200" y="2423160"/>
            <a:ext cx="7315200" cy="365760"/>
          </a:xfrm>
          <a:prstGeom prst="rect">
            <a:avLst/>
          </a:prstGeom>
          <a:noFill/>
          <a:ln/>
        </p:spPr>
        <p:txBody>
          <a:bodyPr wrap="square" rtlCol="0" anchor="ctr"/>
          <a:lstStyle/>
          <a:p>
            <a:pPr indent="0" marL="0">
              <a:buNone/>
            </a:pPr>
            <a:r>
              <a:rPr lang="en-US" sz="1400" dirty="0">
                <a:solidFill>
                  <a:srgbClr val="D0D7D7"/>
                </a:solidFill>
                <a:latin typeface="Calibri" pitchFamily="34" charset="0"/>
                <a:ea typeface="Calibri" pitchFamily="34" charset="-122"/>
                <a:cs typeface="Calibri" pitchFamily="34" charset="-120"/>
              </a:rPr>
              <a:t>Executive Steering Committee | 29 April 2026</a:t>
            </a:r>
            <a:endParaRPr lang="en-US" sz="1400" dirty="0"/>
          </a:p>
        </p:txBody>
      </p:sp>
      <p:sp>
        <p:nvSpPr>
          <p:cNvPr id="7" name="Text 5"/>
          <p:cNvSpPr/>
          <p:nvPr/>
        </p:nvSpPr>
        <p:spPr>
          <a:xfrm>
            <a:off x="457200" y="2880360"/>
            <a:ext cx="7315200" cy="320040"/>
          </a:xfrm>
          <a:prstGeom prst="rect">
            <a:avLst/>
          </a:prstGeom>
          <a:noFill/>
          <a:ln/>
        </p:spPr>
        <p:txBody>
          <a:bodyPr wrap="square" rtlCol="0" anchor="ctr"/>
          <a:lstStyle/>
          <a:p>
            <a:pPr indent="0" marL="0">
              <a:buNone/>
            </a:pPr>
            <a:r>
              <a:rPr lang="en-US" sz="1200" dirty="0">
                <a:solidFill>
                  <a:srgbClr val="718886"/>
                </a:solidFill>
                <a:latin typeface="Calibri" pitchFamily="34" charset="0"/>
                <a:ea typeface="Calibri" pitchFamily="34" charset="-122"/>
                <a:cs typeface="Calibri" pitchFamily="34" charset="-120"/>
              </a:rPr>
              <a:t>Prepared by: Nikolaj</a:t>
            </a:r>
            <a:endParaRPr lang="en-US" sz="1200" dirty="0"/>
          </a:p>
        </p:txBody>
      </p:sp>
      <p:sp>
        <p:nvSpPr>
          <p:cNvPr id="8" name="Text 6"/>
          <p:cNvSpPr/>
          <p:nvPr/>
        </p:nvSpPr>
        <p:spPr>
          <a:xfrm>
            <a:off x="6400800" y="4343400"/>
            <a:ext cx="2560320" cy="365760"/>
          </a:xfrm>
          <a:prstGeom prst="rect">
            <a:avLst/>
          </a:prstGeom>
          <a:noFill/>
          <a:ln/>
        </p:spPr>
        <p:txBody>
          <a:bodyPr wrap="square" rtlCol="0" anchor="ctr"/>
          <a:lstStyle/>
          <a:p>
            <a:pPr algn="r" indent="0" marL="0">
              <a:buNone/>
            </a:pPr>
            <a:r>
              <a:rPr lang="en-US" sz="1600" b="1" dirty="0">
                <a:solidFill>
                  <a:srgbClr val="73AA87"/>
                </a:solidFill>
                <a:latin typeface="Calibri" pitchFamily="34" charset="0"/>
                <a:ea typeface="Calibri" pitchFamily="34" charset="-122"/>
                <a:cs typeface="Calibri" pitchFamily="34" charset="-120"/>
              </a:rPr>
              <a:t>Netcompany</a:t>
            </a:r>
            <a:endParaRPr lang="en-US" sz="1600" dirty="0"/>
          </a:p>
        </p:txBody>
      </p:sp>
      <p:sp>
        <p:nvSpPr>
          <p:cNvPr id="9" name="Text 7"/>
          <p:cNvSpPr/>
          <p:nvPr/>
        </p:nvSpPr>
        <p:spPr>
          <a:xfrm>
            <a:off x="6400800" y="4663440"/>
            <a:ext cx="2560320" cy="274320"/>
          </a:xfrm>
          <a:prstGeom prst="rect">
            <a:avLst/>
          </a:prstGeom>
          <a:noFill/>
          <a:ln/>
        </p:spPr>
        <p:txBody>
          <a:bodyPr wrap="square" rtlCol="0" anchor="ctr"/>
          <a:lstStyle/>
          <a:p>
            <a:pPr algn="r" indent="0" marL="0">
              <a:buNone/>
            </a:pPr>
            <a:r>
              <a:rPr lang="en-US" sz="1000" dirty="0">
                <a:solidFill>
                  <a:srgbClr val="718886"/>
                </a:solidFill>
                <a:latin typeface="Calibri" pitchFamily="34" charset="0"/>
                <a:ea typeface="Calibri" pitchFamily="34" charset="-122"/>
                <a:cs typeface="Calibri" pitchFamily="34" charset="-120"/>
              </a:rPr>
              <a:t>netcompany.com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6"/>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23836"/>
          </a:solidFill>
          <a:ln/>
        </p:spPr>
      </p:sp>
      <p:sp>
        <p:nvSpPr>
          <p:cNvPr id="3" name="Shape 1"/>
          <p:cNvSpPr/>
          <p:nvPr/>
        </p:nvSpPr>
        <p:spPr>
          <a:xfrm>
            <a:off x="0" y="0"/>
            <a:ext cx="73152" cy="960120"/>
          </a:xfrm>
          <a:prstGeom prst="rect">
            <a:avLst/>
          </a:prstGeom>
          <a:solidFill>
            <a:srgbClr val="FF6359"/>
          </a:solidFill>
          <a:ln/>
        </p:spPr>
      </p:sp>
      <p:sp>
        <p:nvSpPr>
          <p:cNvPr id="4" name="Text 2"/>
          <p:cNvSpPr/>
          <p:nvPr/>
        </p:nvSpPr>
        <p:spPr>
          <a:xfrm>
            <a:off x="182880" y="64008"/>
            <a:ext cx="6400800" cy="50292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Agenda</a:t>
            </a:r>
            <a:endParaRPr lang="en-US" sz="2000" dirty="0"/>
          </a:p>
        </p:txBody>
      </p:sp>
      <p:sp>
        <p:nvSpPr>
          <p:cNvPr id="5" name="Text 3"/>
          <p:cNvSpPr/>
          <p:nvPr/>
        </p:nvSpPr>
        <p:spPr>
          <a:xfrm>
            <a:off x="182880" y="548640"/>
            <a:ext cx="8229600" cy="347472"/>
          </a:xfrm>
          <a:prstGeom prst="rect">
            <a:avLst/>
          </a:prstGeom>
          <a:noFill/>
          <a:ln/>
        </p:spPr>
        <p:txBody>
          <a:bodyPr wrap="square" rtlCol="0" anchor="ctr"/>
          <a:lstStyle/>
          <a:p>
            <a:pPr indent="0" marL="0">
              <a:buNone/>
            </a:pPr>
            <a:r>
              <a:rPr lang="en-US" sz="1100" dirty="0">
                <a:solidFill>
                  <a:srgbClr val="73AA87"/>
                </a:solidFill>
                <a:latin typeface="Calibri" pitchFamily="34" charset="0"/>
                <a:ea typeface="Calibri" pitchFamily="34" charset="-122"/>
                <a:cs typeface="Calibri" pitchFamily="34" charset="-120"/>
              </a:rPr>
              <a:t>Solon Tax Product Roadmap 2026 — SteerCo Session</a:t>
            </a:r>
            <a:endParaRPr lang="en-US" sz="1100" dirty="0"/>
          </a:p>
        </p:txBody>
      </p:sp>
      <p:sp>
        <p:nvSpPr>
          <p:cNvPr id="6" name="Text 4"/>
          <p:cNvSpPr/>
          <p:nvPr/>
        </p:nvSpPr>
        <p:spPr>
          <a:xfrm>
            <a:off x="6858000" y="73152"/>
            <a:ext cx="2103120" cy="365760"/>
          </a:xfrm>
          <a:prstGeom prst="rect">
            <a:avLst/>
          </a:prstGeom>
          <a:noFill/>
          <a:ln/>
        </p:spPr>
        <p:txBody>
          <a:bodyPr wrap="square" rtlCol="0" anchor="ctr"/>
          <a:lstStyle/>
          <a:p>
            <a:pPr algn="r" indent="0" marL="0">
              <a:buNone/>
            </a:pPr>
            <a:r>
              <a:rPr lang="en-US" sz="1200" b="1" dirty="0">
                <a:solidFill>
                  <a:srgbClr val="73AA87"/>
                </a:solidFill>
                <a:latin typeface="Calibri" pitchFamily="34" charset="0"/>
                <a:ea typeface="Calibri" pitchFamily="34" charset="-122"/>
                <a:cs typeface="Calibri" pitchFamily="34" charset="-120"/>
              </a:rPr>
              <a:t>Netcompany</a:t>
            </a:r>
            <a:endParaRPr lang="en-US" sz="1200" dirty="0"/>
          </a:p>
        </p:txBody>
      </p:sp>
      <p:sp>
        <p:nvSpPr>
          <p:cNvPr id="7" name="Shape 5"/>
          <p:cNvSpPr/>
          <p:nvPr/>
        </p:nvSpPr>
        <p:spPr>
          <a:xfrm>
            <a:off x="228600" y="1051560"/>
            <a:ext cx="4297680" cy="1097280"/>
          </a:xfrm>
          <a:prstGeom prst="rect">
            <a:avLst/>
          </a:prstGeom>
          <a:solidFill>
            <a:srgbClr val="FFFFFF"/>
          </a:solidFill>
          <a:ln w="12700">
            <a:solidFill>
              <a:srgbClr val="D0D7D7"/>
            </a:solidFill>
            <a:prstDash val="solid"/>
          </a:ln>
          <a:effectLst>
            <a:outerShdw sx="100000" sy="100000" kx="0" ky="0" algn="bl" rotWithShape="0" blurRad="50800" dist="25400" dir="8100000">
              <a:srgbClr val="000000">
                <a:alpha val="12000"/>
              </a:srgbClr>
            </a:outerShdw>
          </a:effectLst>
        </p:spPr>
      </p:sp>
      <p:sp>
        <p:nvSpPr>
          <p:cNvPr id="8" name="Shape 6"/>
          <p:cNvSpPr/>
          <p:nvPr/>
        </p:nvSpPr>
        <p:spPr>
          <a:xfrm>
            <a:off x="228600" y="1051560"/>
            <a:ext cx="54864" cy="1097280"/>
          </a:xfrm>
          <a:prstGeom prst="rect">
            <a:avLst/>
          </a:prstGeom>
          <a:solidFill>
            <a:srgbClr val="FF6359"/>
          </a:solidFill>
          <a:ln/>
        </p:spPr>
      </p:sp>
      <p:sp>
        <p:nvSpPr>
          <p:cNvPr id="9" name="Text 7"/>
          <p:cNvSpPr/>
          <p:nvPr/>
        </p:nvSpPr>
        <p:spPr>
          <a:xfrm>
            <a:off x="338328" y="1124712"/>
            <a:ext cx="457200" cy="365760"/>
          </a:xfrm>
          <a:prstGeom prst="rect">
            <a:avLst/>
          </a:prstGeom>
          <a:noFill/>
          <a:ln/>
        </p:spPr>
        <p:txBody>
          <a:bodyPr wrap="square" rtlCol="0" anchor="ctr"/>
          <a:lstStyle/>
          <a:p>
            <a:pPr indent="0" marL="0">
              <a:buNone/>
            </a:pPr>
            <a:r>
              <a:rPr lang="en-US" sz="2000" b="1" dirty="0">
                <a:solidFill>
                  <a:srgbClr val="73AA87"/>
                </a:solidFill>
              </a:rPr>
              <a:t>01</a:t>
            </a:r>
            <a:endParaRPr lang="en-US" sz="2000" dirty="0"/>
          </a:p>
        </p:txBody>
      </p:sp>
      <p:sp>
        <p:nvSpPr>
          <p:cNvPr id="10" name="Text 8"/>
          <p:cNvSpPr/>
          <p:nvPr/>
        </p:nvSpPr>
        <p:spPr>
          <a:xfrm>
            <a:off x="338328" y="1435608"/>
            <a:ext cx="4078224" cy="347472"/>
          </a:xfrm>
          <a:prstGeom prst="rect">
            <a:avLst/>
          </a:prstGeom>
          <a:noFill/>
          <a:ln/>
        </p:spPr>
        <p:txBody>
          <a:bodyPr wrap="square" rtlCol="0" anchor="ctr"/>
          <a:lstStyle/>
          <a:p>
            <a:pPr indent="0" marL="0">
              <a:buNone/>
            </a:pPr>
            <a:r>
              <a:rPr lang="en-US" sz="1100" b="1" dirty="0">
                <a:solidFill>
                  <a:srgbClr val="123836"/>
                </a:solidFill>
              </a:rPr>
              <a:t>Core Revenue Management Capabilities</a:t>
            </a:r>
            <a:endParaRPr lang="en-US" sz="1100" dirty="0"/>
          </a:p>
        </p:txBody>
      </p:sp>
      <p:sp>
        <p:nvSpPr>
          <p:cNvPr id="11" name="Text 9"/>
          <p:cNvSpPr/>
          <p:nvPr/>
        </p:nvSpPr>
        <p:spPr>
          <a:xfrm>
            <a:off x="338328" y="1764792"/>
            <a:ext cx="4078224" cy="320040"/>
          </a:xfrm>
          <a:prstGeom prst="rect">
            <a:avLst/>
          </a:prstGeom>
          <a:noFill/>
          <a:ln/>
        </p:spPr>
        <p:txBody>
          <a:bodyPr wrap="square" rtlCol="0" anchor="ctr"/>
          <a:lstStyle/>
          <a:p>
            <a:pPr indent="0" marL="0">
              <a:buNone/>
            </a:pPr>
            <a:r>
              <a:rPr lang="en-US" sz="850" dirty="0">
                <a:solidFill>
                  <a:srgbClr val="718886"/>
                </a:solidFill>
              </a:rPr>
              <a:t>Registration · Taxpayer Accounting · Billing · Exemptions · Penalty &amp; Interest · Tax Accounts</a:t>
            </a:r>
            <a:endParaRPr lang="en-US" sz="850" dirty="0"/>
          </a:p>
        </p:txBody>
      </p:sp>
      <p:sp>
        <p:nvSpPr>
          <p:cNvPr id="12" name="Shape 10"/>
          <p:cNvSpPr/>
          <p:nvPr/>
        </p:nvSpPr>
        <p:spPr>
          <a:xfrm>
            <a:off x="5074920" y="1051560"/>
            <a:ext cx="4297680" cy="1097280"/>
          </a:xfrm>
          <a:prstGeom prst="rect">
            <a:avLst/>
          </a:prstGeom>
          <a:solidFill>
            <a:srgbClr val="FFFFFF"/>
          </a:solidFill>
          <a:ln w="12700">
            <a:solidFill>
              <a:srgbClr val="D0D7D7"/>
            </a:solidFill>
            <a:prstDash val="solid"/>
          </a:ln>
          <a:effectLst>
            <a:outerShdw sx="100000" sy="100000" kx="0" ky="0" algn="bl" rotWithShape="0" blurRad="50800" dist="25400" dir="8100000">
              <a:srgbClr val="000000">
                <a:alpha val="12000"/>
              </a:srgbClr>
            </a:outerShdw>
          </a:effectLst>
        </p:spPr>
      </p:sp>
      <p:sp>
        <p:nvSpPr>
          <p:cNvPr id="13" name="Shape 11"/>
          <p:cNvSpPr/>
          <p:nvPr/>
        </p:nvSpPr>
        <p:spPr>
          <a:xfrm>
            <a:off x="5074920" y="1051560"/>
            <a:ext cx="54864" cy="1097280"/>
          </a:xfrm>
          <a:prstGeom prst="rect">
            <a:avLst/>
          </a:prstGeom>
          <a:solidFill>
            <a:srgbClr val="FF6359"/>
          </a:solidFill>
          <a:ln/>
        </p:spPr>
      </p:sp>
      <p:sp>
        <p:nvSpPr>
          <p:cNvPr id="14" name="Text 12"/>
          <p:cNvSpPr/>
          <p:nvPr/>
        </p:nvSpPr>
        <p:spPr>
          <a:xfrm>
            <a:off x="5184648" y="1124712"/>
            <a:ext cx="457200" cy="365760"/>
          </a:xfrm>
          <a:prstGeom prst="rect">
            <a:avLst/>
          </a:prstGeom>
          <a:noFill/>
          <a:ln/>
        </p:spPr>
        <p:txBody>
          <a:bodyPr wrap="square" rtlCol="0" anchor="ctr"/>
          <a:lstStyle/>
          <a:p>
            <a:pPr indent="0" marL="0">
              <a:buNone/>
            </a:pPr>
            <a:r>
              <a:rPr lang="en-US" sz="2000" b="1" dirty="0">
                <a:solidFill>
                  <a:srgbClr val="73AA87"/>
                </a:solidFill>
              </a:rPr>
              <a:t>02</a:t>
            </a:r>
            <a:endParaRPr lang="en-US" sz="2000" dirty="0"/>
          </a:p>
        </p:txBody>
      </p:sp>
      <p:sp>
        <p:nvSpPr>
          <p:cNvPr id="15" name="Text 13"/>
          <p:cNvSpPr/>
          <p:nvPr/>
        </p:nvSpPr>
        <p:spPr>
          <a:xfrm>
            <a:off x="5184648" y="1435608"/>
            <a:ext cx="4078224" cy="347472"/>
          </a:xfrm>
          <a:prstGeom prst="rect">
            <a:avLst/>
          </a:prstGeom>
          <a:noFill/>
          <a:ln/>
        </p:spPr>
        <p:txBody>
          <a:bodyPr wrap="square" rtlCol="0" anchor="ctr"/>
          <a:lstStyle/>
          <a:p>
            <a:pPr indent="0" marL="0">
              <a:buNone/>
            </a:pPr>
            <a:r>
              <a:rPr lang="en-US" sz="1100" b="1" dirty="0">
                <a:solidFill>
                  <a:srgbClr val="123836"/>
                </a:solidFill>
              </a:rPr>
              <a:t>Core Supporting Capabilities</a:t>
            </a:r>
            <a:endParaRPr lang="en-US" sz="1100" dirty="0"/>
          </a:p>
        </p:txBody>
      </p:sp>
      <p:sp>
        <p:nvSpPr>
          <p:cNvPr id="16" name="Text 14"/>
          <p:cNvSpPr/>
          <p:nvPr/>
        </p:nvSpPr>
        <p:spPr>
          <a:xfrm>
            <a:off x="5184648" y="1764792"/>
            <a:ext cx="4078224" cy="320040"/>
          </a:xfrm>
          <a:prstGeom prst="rect">
            <a:avLst/>
          </a:prstGeom>
          <a:noFill/>
          <a:ln/>
        </p:spPr>
        <p:txBody>
          <a:bodyPr wrap="square" rtlCol="0" anchor="ctr"/>
          <a:lstStyle/>
          <a:p>
            <a:pPr indent="0" marL="0">
              <a:buNone/>
            </a:pPr>
            <a:r>
              <a:rPr lang="en-US" sz="850" dirty="0">
                <a:solidFill>
                  <a:srgbClr val="718886"/>
                </a:solidFill>
              </a:rPr>
              <a:t>Supporting functions enabling the tax administration platform</a:t>
            </a:r>
            <a:endParaRPr lang="en-US" sz="850" dirty="0"/>
          </a:p>
        </p:txBody>
      </p:sp>
      <p:sp>
        <p:nvSpPr>
          <p:cNvPr id="17" name="Shape 15"/>
          <p:cNvSpPr/>
          <p:nvPr/>
        </p:nvSpPr>
        <p:spPr>
          <a:xfrm>
            <a:off x="228600" y="2286000"/>
            <a:ext cx="4297680" cy="1097280"/>
          </a:xfrm>
          <a:prstGeom prst="rect">
            <a:avLst/>
          </a:prstGeom>
          <a:solidFill>
            <a:srgbClr val="FFFFFF"/>
          </a:solidFill>
          <a:ln w="12700">
            <a:solidFill>
              <a:srgbClr val="D0D7D7"/>
            </a:solidFill>
            <a:prstDash val="solid"/>
          </a:ln>
          <a:effectLst>
            <a:outerShdw sx="100000" sy="100000" kx="0" ky="0" algn="bl" rotWithShape="0" blurRad="50800" dist="25400" dir="8100000">
              <a:srgbClr val="000000">
                <a:alpha val="12000"/>
              </a:srgbClr>
            </a:outerShdw>
          </a:effectLst>
        </p:spPr>
      </p:sp>
      <p:sp>
        <p:nvSpPr>
          <p:cNvPr id="18" name="Shape 16"/>
          <p:cNvSpPr/>
          <p:nvPr/>
        </p:nvSpPr>
        <p:spPr>
          <a:xfrm>
            <a:off x="228600" y="2286000"/>
            <a:ext cx="54864" cy="1097280"/>
          </a:xfrm>
          <a:prstGeom prst="rect">
            <a:avLst/>
          </a:prstGeom>
          <a:solidFill>
            <a:srgbClr val="FF6359"/>
          </a:solidFill>
          <a:ln/>
        </p:spPr>
      </p:sp>
      <p:sp>
        <p:nvSpPr>
          <p:cNvPr id="19" name="Text 17"/>
          <p:cNvSpPr/>
          <p:nvPr/>
        </p:nvSpPr>
        <p:spPr>
          <a:xfrm>
            <a:off x="338328" y="2359152"/>
            <a:ext cx="457200" cy="365760"/>
          </a:xfrm>
          <a:prstGeom prst="rect">
            <a:avLst/>
          </a:prstGeom>
          <a:noFill/>
          <a:ln/>
        </p:spPr>
        <p:txBody>
          <a:bodyPr wrap="square" rtlCol="0" anchor="ctr"/>
          <a:lstStyle/>
          <a:p>
            <a:pPr indent="0" marL="0">
              <a:buNone/>
            </a:pPr>
            <a:r>
              <a:rPr lang="en-US" sz="2000" b="1" dirty="0">
                <a:solidFill>
                  <a:srgbClr val="73AA87"/>
                </a:solidFill>
              </a:rPr>
              <a:t>03</a:t>
            </a:r>
            <a:endParaRPr lang="en-US" sz="2000" dirty="0"/>
          </a:p>
        </p:txBody>
      </p:sp>
      <p:sp>
        <p:nvSpPr>
          <p:cNvPr id="20" name="Text 18"/>
          <p:cNvSpPr/>
          <p:nvPr/>
        </p:nvSpPr>
        <p:spPr>
          <a:xfrm>
            <a:off x="338328" y="2670048"/>
            <a:ext cx="4078224" cy="347472"/>
          </a:xfrm>
          <a:prstGeom prst="rect">
            <a:avLst/>
          </a:prstGeom>
          <a:noFill/>
          <a:ln/>
        </p:spPr>
        <p:txBody>
          <a:bodyPr wrap="square" rtlCol="0" anchor="ctr"/>
          <a:lstStyle/>
          <a:p>
            <a:pPr indent="0" marL="0">
              <a:buNone/>
            </a:pPr>
            <a:r>
              <a:rPr lang="en-US" sz="1100" b="1" dirty="0">
                <a:solidFill>
                  <a:srgbClr val="123836"/>
                </a:solidFill>
              </a:rPr>
              <a:t>Non-Functional Requirement Coverage</a:t>
            </a:r>
            <a:endParaRPr lang="en-US" sz="1100" dirty="0"/>
          </a:p>
        </p:txBody>
      </p:sp>
      <p:sp>
        <p:nvSpPr>
          <p:cNvPr id="21" name="Text 19"/>
          <p:cNvSpPr/>
          <p:nvPr/>
        </p:nvSpPr>
        <p:spPr>
          <a:xfrm>
            <a:off x="338328" y="2999232"/>
            <a:ext cx="4078224" cy="320040"/>
          </a:xfrm>
          <a:prstGeom prst="rect">
            <a:avLst/>
          </a:prstGeom>
          <a:noFill/>
          <a:ln/>
        </p:spPr>
        <p:txBody>
          <a:bodyPr wrap="square" rtlCol="0" anchor="ctr"/>
          <a:lstStyle/>
          <a:p>
            <a:pPr indent="0" marL="0">
              <a:buNone/>
            </a:pPr>
            <a:r>
              <a:rPr lang="en-US" sz="850" dirty="0">
                <a:solidFill>
                  <a:srgbClr val="718886"/>
                </a:solidFill>
              </a:rPr>
              <a:t>Performance, security, reliability and compliance standards</a:t>
            </a:r>
            <a:endParaRPr lang="en-US" sz="850" dirty="0"/>
          </a:p>
        </p:txBody>
      </p:sp>
      <p:sp>
        <p:nvSpPr>
          <p:cNvPr id="22" name="Shape 20"/>
          <p:cNvSpPr/>
          <p:nvPr/>
        </p:nvSpPr>
        <p:spPr>
          <a:xfrm>
            <a:off x="5074920" y="2286000"/>
            <a:ext cx="4297680" cy="1097280"/>
          </a:xfrm>
          <a:prstGeom prst="rect">
            <a:avLst/>
          </a:prstGeom>
          <a:solidFill>
            <a:srgbClr val="FFFFFF"/>
          </a:solidFill>
          <a:ln w="12700">
            <a:solidFill>
              <a:srgbClr val="D0D7D7"/>
            </a:solidFill>
            <a:prstDash val="solid"/>
          </a:ln>
          <a:effectLst>
            <a:outerShdw sx="100000" sy="100000" kx="0" ky="0" algn="bl" rotWithShape="0" blurRad="50800" dist="25400" dir="8100000">
              <a:srgbClr val="000000">
                <a:alpha val="12000"/>
              </a:srgbClr>
            </a:outerShdw>
          </a:effectLst>
        </p:spPr>
      </p:sp>
      <p:sp>
        <p:nvSpPr>
          <p:cNvPr id="23" name="Shape 21"/>
          <p:cNvSpPr/>
          <p:nvPr/>
        </p:nvSpPr>
        <p:spPr>
          <a:xfrm>
            <a:off x="5074920" y="2286000"/>
            <a:ext cx="54864" cy="1097280"/>
          </a:xfrm>
          <a:prstGeom prst="rect">
            <a:avLst/>
          </a:prstGeom>
          <a:solidFill>
            <a:srgbClr val="FF6359"/>
          </a:solidFill>
          <a:ln/>
        </p:spPr>
      </p:sp>
      <p:sp>
        <p:nvSpPr>
          <p:cNvPr id="24" name="Text 22"/>
          <p:cNvSpPr/>
          <p:nvPr/>
        </p:nvSpPr>
        <p:spPr>
          <a:xfrm>
            <a:off x="5184648" y="2359152"/>
            <a:ext cx="457200" cy="365760"/>
          </a:xfrm>
          <a:prstGeom prst="rect">
            <a:avLst/>
          </a:prstGeom>
          <a:noFill/>
          <a:ln/>
        </p:spPr>
        <p:txBody>
          <a:bodyPr wrap="square" rtlCol="0" anchor="ctr"/>
          <a:lstStyle/>
          <a:p>
            <a:pPr indent="0" marL="0">
              <a:buNone/>
            </a:pPr>
            <a:r>
              <a:rPr lang="en-US" sz="2000" b="1" dirty="0">
                <a:solidFill>
                  <a:srgbClr val="73AA87"/>
                </a:solidFill>
              </a:rPr>
              <a:t>04</a:t>
            </a:r>
            <a:endParaRPr lang="en-US" sz="2000" dirty="0"/>
          </a:p>
        </p:txBody>
      </p:sp>
      <p:sp>
        <p:nvSpPr>
          <p:cNvPr id="25" name="Text 23"/>
          <p:cNvSpPr/>
          <p:nvPr/>
        </p:nvSpPr>
        <p:spPr>
          <a:xfrm>
            <a:off x="5184648" y="2670048"/>
            <a:ext cx="4078224" cy="347472"/>
          </a:xfrm>
          <a:prstGeom prst="rect">
            <a:avLst/>
          </a:prstGeom>
          <a:noFill/>
          <a:ln/>
        </p:spPr>
        <p:txBody>
          <a:bodyPr wrap="square" rtlCol="0" anchor="ctr"/>
          <a:lstStyle/>
          <a:p>
            <a:pPr indent="0" marL="0">
              <a:buNone/>
            </a:pPr>
            <a:r>
              <a:rPr lang="en-US" sz="1100" b="1" dirty="0">
                <a:solidFill>
                  <a:srgbClr val="123836"/>
                </a:solidFill>
              </a:rPr>
              <a:t>Reference Implementations</a:t>
            </a:r>
            <a:endParaRPr lang="en-US" sz="1100" dirty="0"/>
          </a:p>
        </p:txBody>
      </p:sp>
      <p:sp>
        <p:nvSpPr>
          <p:cNvPr id="26" name="Text 24"/>
          <p:cNvSpPr/>
          <p:nvPr/>
        </p:nvSpPr>
        <p:spPr>
          <a:xfrm>
            <a:off x="5184648" y="2999232"/>
            <a:ext cx="4078224" cy="320040"/>
          </a:xfrm>
          <a:prstGeom prst="rect">
            <a:avLst/>
          </a:prstGeom>
          <a:noFill/>
          <a:ln/>
        </p:spPr>
        <p:txBody>
          <a:bodyPr wrap="square" rtlCol="0" anchor="ctr"/>
          <a:lstStyle/>
          <a:p>
            <a:pPr indent="0" marL="0">
              <a:buNone/>
            </a:pPr>
            <a:r>
              <a:rPr lang="en-US" sz="850" dirty="0">
                <a:solidFill>
                  <a:srgbClr val="718886"/>
                </a:solidFill>
              </a:rPr>
              <a:t>Baseline modules and reusable implementation patterns</a:t>
            </a:r>
            <a:endParaRPr lang="en-US" sz="850" dirty="0"/>
          </a:p>
        </p:txBody>
      </p:sp>
      <p:sp>
        <p:nvSpPr>
          <p:cNvPr id="27" name="Shape 25"/>
          <p:cNvSpPr/>
          <p:nvPr/>
        </p:nvSpPr>
        <p:spPr>
          <a:xfrm>
            <a:off x="228600" y="3520440"/>
            <a:ext cx="4297680" cy="1097280"/>
          </a:xfrm>
          <a:prstGeom prst="rect">
            <a:avLst/>
          </a:prstGeom>
          <a:solidFill>
            <a:srgbClr val="FFFFFF"/>
          </a:solidFill>
          <a:ln w="12700">
            <a:solidFill>
              <a:srgbClr val="D0D7D7"/>
            </a:solidFill>
            <a:prstDash val="solid"/>
          </a:ln>
          <a:effectLst>
            <a:outerShdw sx="100000" sy="100000" kx="0" ky="0" algn="bl" rotWithShape="0" blurRad="50800" dist="25400" dir="8100000">
              <a:srgbClr val="000000">
                <a:alpha val="12000"/>
              </a:srgbClr>
            </a:outerShdw>
          </a:effectLst>
        </p:spPr>
      </p:sp>
      <p:sp>
        <p:nvSpPr>
          <p:cNvPr id="28" name="Shape 26"/>
          <p:cNvSpPr/>
          <p:nvPr/>
        </p:nvSpPr>
        <p:spPr>
          <a:xfrm>
            <a:off x="228600" y="3520440"/>
            <a:ext cx="54864" cy="1097280"/>
          </a:xfrm>
          <a:prstGeom prst="rect">
            <a:avLst/>
          </a:prstGeom>
          <a:solidFill>
            <a:srgbClr val="FF6359"/>
          </a:solidFill>
          <a:ln/>
        </p:spPr>
      </p:sp>
      <p:sp>
        <p:nvSpPr>
          <p:cNvPr id="29" name="Text 27"/>
          <p:cNvSpPr/>
          <p:nvPr/>
        </p:nvSpPr>
        <p:spPr>
          <a:xfrm>
            <a:off x="338328" y="3593592"/>
            <a:ext cx="457200" cy="365760"/>
          </a:xfrm>
          <a:prstGeom prst="rect">
            <a:avLst/>
          </a:prstGeom>
          <a:noFill/>
          <a:ln/>
        </p:spPr>
        <p:txBody>
          <a:bodyPr wrap="square" rtlCol="0" anchor="ctr"/>
          <a:lstStyle/>
          <a:p>
            <a:pPr indent="0" marL="0">
              <a:buNone/>
            </a:pPr>
            <a:r>
              <a:rPr lang="en-US" sz="2000" b="1" dirty="0">
                <a:solidFill>
                  <a:srgbClr val="73AA87"/>
                </a:solidFill>
              </a:rPr>
              <a:t>05</a:t>
            </a:r>
            <a:endParaRPr lang="en-US" sz="2000" dirty="0"/>
          </a:p>
        </p:txBody>
      </p:sp>
      <p:sp>
        <p:nvSpPr>
          <p:cNvPr id="30" name="Text 28"/>
          <p:cNvSpPr/>
          <p:nvPr/>
        </p:nvSpPr>
        <p:spPr>
          <a:xfrm>
            <a:off x="338328" y="3904488"/>
            <a:ext cx="4078224" cy="347472"/>
          </a:xfrm>
          <a:prstGeom prst="rect">
            <a:avLst/>
          </a:prstGeom>
          <a:noFill/>
          <a:ln/>
        </p:spPr>
        <p:txBody>
          <a:bodyPr wrap="square" rtlCol="0" anchor="ctr"/>
          <a:lstStyle/>
          <a:p>
            <a:pPr indent="0" marL="0">
              <a:buNone/>
            </a:pPr>
            <a:r>
              <a:rPr lang="en-US" sz="1100" b="1" dirty="0">
                <a:solidFill>
                  <a:srgbClr val="123836"/>
                </a:solidFill>
              </a:rPr>
              <a:t>Core Self Service Capabilities</a:t>
            </a:r>
            <a:endParaRPr lang="en-US" sz="1100" dirty="0"/>
          </a:p>
        </p:txBody>
      </p:sp>
      <p:sp>
        <p:nvSpPr>
          <p:cNvPr id="31" name="Text 29"/>
          <p:cNvSpPr/>
          <p:nvPr/>
        </p:nvSpPr>
        <p:spPr>
          <a:xfrm>
            <a:off x="338328" y="4233672"/>
            <a:ext cx="4078224" cy="320040"/>
          </a:xfrm>
          <a:prstGeom prst="rect">
            <a:avLst/>
          </a:prstGeom>
          <a:noFill/>
          <a:ln/>
        </p:spPr>
        <p:txBody>
          <a:bodyPr wrap="square" rtlCol="0" anchor="ctr"/>
          <a:lstStyle/>
          <a:p>
            <a:pPr indent="0" marL="0">
              <a:buNone/>
            </a:pPr>
            <a:r>
              <a:rPr lang="en-US" sz="850" dirty="0">
                <a:solidFill>
                  <a:srgbClr val="718886"/>
                </a:solidFill>
              </a:rPr>
              <a:t>Taxpayer-facing portal and self-service functionality</a:t>
            </a:r>
            <a:endParaRPr lang="en-US" sz="850" dirty="0"/>
          </a:p>
        </p:txBody>
      </p:sp>
      <p:sp>
        <p:nvSpPr>
          <p:cNvPr id="32" name="Shape 30"/>
          <p:cNvSpPr/>
          <p:nvPr/>
        </p:nvSpPr>
        <p:spPr>
          <a:xfrm>
            <a:off x="5074920" y="3520440"/>
            <a:ext cx="4297680" cy="1097280"/>
          </a:xfrm>
          <a:prstGeom prst="rect">
            <a:avLst/>
          </a:prstGeom>
          <a:solidFill>
            <a:srgbClr val="FFFFFF"/>
          </a:solidFill>
          <a:ln w="12700">
            <a:solidFill>
              <a:srgbClr val="D0D7D7"/>
            </a:solidFill>
            <a:prstDash val="solid"/>
          </a:ln>
          <a:effectLst>
            <a:outerShdw sx="100000" sy="100000" kx="0" ky="0" algn="bl" rotWithShape="0" blurRad="50800" dist="25400" dir="8100000">
              <a:srgbClr val="000000">
                <a:alpha val="12000"/>
              </a:srgbClr>
            </a:outerShdw>
          </a:effectLst>
        </p:spPr>
      </p:sp>
      <p:sp>
        <p:nvSpPr>
          <p:cNvPr id="33" name="Shape 31"/>
          <p:cNvSpPr/>
          <p:nvPr/>
        </p:nvSpPr>
        <p:spPr>
          <a:xfrm>
            <a:off x="5074920" y="3520440"/>
            <a:ext cx="54864" cy="1097280"/>
          </a:xfrm>
          <a:prstGeom prst="rect">
            <a:avLst/>
          </a:prstGeom>
          <a:solidFill>
            <a:srgbClr val="FF6359"/>
          </a:solidFill>
          <a:ln/>
        </p:spPr>
      </p:sp>
      <p:sp>
        <p:nvSpPr>
          <p:cNvPr id="34" name="Text 32"/>
          <p:cNvSpPr/>
          <p:nvPr/>
        </p:nvSpPr>
        <p:spPr>
          <a:xfrm>
            <a:off x="5184648" y="3593592"/>
            <a:ext cx="457200" cy="365760"/>
          </a:xfrm>
          <a:prstGeom prst="rect">
            <a:avLst/>
          </a:prstGeom>
          <a:noFill/>
          <a:ln/>
        </p:spPr>
        <p:txBody>
          <a:bodyPr wrap="square" rtlCol="0" anchor="ctr"/>
          <a:lstStyle/>
          <a:p>
            <a:pPr indent="0" marL="0">
              <a:buNone/>
            </a:pPr>
            <a:r>
              <a:rPr lang="en-US" sz="2000" b="1" dirty="0">
                <a:solidFill>
                  <a:srgbClr val="73AA87"/>
                </a:solidFill>
              </a:rPr>
              <a:t>06</a:t>
            </a:r>
            <a:endParaRPr lang="en-US" sz="2000" dirty="0"/>
          </a:p>
        </p:txBody>
      </p:sp>
      <p:sp>
        <p:nvSpPr>
          <p:cNvPr id="35" name="Text 33"/>
          <p:cNvSpPr/>
          <p:nvPr/>
        </p:nvSpPr>
        <p:spPr>
          <a:xfrm>
            <a:off x="5184648" y="3904488"/>
            <a:ext cx="4078224" cy="347472"/>
          </a:xfrm>
          <a:prstGeom prst="rect">
            <a:avLst/>
          </a:prstGeom>
          <a:noFill/>
          <a:ln/>
        </p:spPr>
        <p:txBody>
          <a:bodyPr wrap="square" rtlCol="0" anchor="ctr"/>
          <a:lstStyle/>
          <a:p>
            <a:pPr indent="0" marL="0">
              <a:buNone/>
            </a:pPr>
            <a:r>
              <a:rPr lang="en-US" sz="1100" b="1" dirty="0">
                <a:solidFill>
                  <a:srgbClr val="123836"/>
                </a:solidFill>
              </a:rPr>
              <a:t>Core Data Hub Capabilities</a:t>
            </a:r>
            <a:endParaRPr lang="en-US" sz="1100" dirty="0"/>
          </a:p>
        </p:txBody>
      </p:sp>
      <p:sp>
        <p:nvSpPr>
          <p:cNvPr id="36" name="Text 34"/>
          <p:cNvSpPr/>
          <p:nvPr/>
        </p:nvSpPr>
        <p:spPr>
          <a:xfrm>
            <a:off x="5184648" y="4233672"/>
            <a:ext cx="4078224" cy="320040"/>
          </a:xfrm>
          <a:prstGeom prst="rect">
            <a:avLst/>
          </a:prstGeom>
          <a:noFill/>
          <a:ln/>
        </p:spPr>
        <p:txBody>
          <a:bodyPr wrap="square" rtlCol="0" anchor="ctr"/>
          <a:lstStyle/>
          <a:p>
            <a:pPr indent="0" marL="0">
              <a:buNone/>
            </a:pPr>
            <a:r>
              <a:rPr lang="en-US" sz="850" dirty="0">
                <a:solidFill>
                  <a:srgbClr val="718886"/>
                </a:solidFill>
              </a:rPr>
              <a:t>Data integration, analytics and reporting infrastructure</a:t>
            </a:r>
            <a:endParaRPr lang="en-US" sz="850" dirty="0"/>
          </a:p>
        </p:txBody>
      </p:sp>
      <p:sp>
        <p:nvSpPr>
          <p:cNvPr id="37" name="Shape 35"/>
          <p:cNvSpPr/>
          <p:nvPr/>
        </p:nvSpPr>
        <p:spPr>
          <a:xfrm>
            <a:off x="0" y="4983480"/>
            <a:ext cx="9144000" cy="160020"/>
          </a:xfrm>
          <a:prstGeom prst="rect">
            <a:avLst/>
          </a:prstGeom>
          <a:solidFill>
            <a:srgbClr val="123836"/>
          </a:solidFill>
          <a:ln/>
        </p:spPr>
      </p:sp>
      <p:sp>
        <p:nvSpPr>
          <p:cNvPr id="38" name="Text 36"/>
          <p:cNvSpPr/>
          <p:nvPr/>
        </p:nvSpPr>
        <p:spPr>
          <a:xfrm>
            <a:off x="137160" y="4974336"/>
            <a:ext cx="6400800" cy="164592"/>
          </a:xfrm>
          <a:prstGeom prst="rect">
            <a:avLst/>
          </a:prstGeom>
          <a:noFill/>
          <a:ln/>
        </p:spPr>
        <p:txBody>
          <a:bodyPr wrap="square" rtlCol="0" anchor="ctr"/>
          <a:lstStyle/>
          <a:p>
            <a:pPr indent="0" marL="0">
              <a:buNone/>
            </a:pPr>
            <a:r>
              <a:rPr lang="en-US" sz="800" dirty="0">
                <a:solidFill>
                  <a:srgbClr val="D0D7D7"/>
                </a:solidFill>
                <a:latin typeface="Calibri" pitchFamily="34" charset="0"/>
                <a:ea typeface="Calibri" pitchFamily="34" charset="-122"/>
                <a:cs typeface="Calibri" pitchFamily="34" charset="-120"/>
              </a:rPr>
              <a:t>Solon Tax Product Roadmap 2026 | SteerCo</a:t>
            </a:r>
            <a:endParaRPr lang="en-US" sz="800" dirty="0"/>
          </a:p>
        </p:txBody>
      </p:sp>
      <p:sp>
        <p:nvSpPr>
          <p:cNvPr id="39" name="Text 37"/>
          <p:cNvSpPr/>
          <p:nvPr/>
        </p:nvSpPr>
        <p:spPr>
          <a:xfrm>
            <a:off x="8686800" y="4974336"/>
            <a:ext cx="365760" cy="164592"/>
          </a:xfrm>
          <a:prstGeom prst="rect">
            <a:avLst/>
          </a:prstGeom>
          <a:noFill/>
          <a:ln/>
        </p:spPr>
        <p:txBody>
          <a:bodyPr wrap="square" rtlCol="0" anchor="ctr"/>
          <a:lstStyle/>
          <a:p>
            <a:pPr algn="r" indent="0" marL="0">
              <a:buNone/>
            </a:pPr>
            <a:r>
              <a:rPr lang="en-US" sz="800" dirty="0">
                <a:solidFill>
                  <a:srgbClr val="D0D7D7"/>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6"/>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23836"/>
          </a:solidFill>
          <a:ln/>
        </p:spPr>
      </p:sp>
      <p:sp>
        <p:nvSpPr>
          <p:cNvPr id="3" name="Shape 1"/>
          <p:cNvSpPr/>
          <p:nvPr/>
        </p:nvSpPr>
        <p:spPr>
          <a:xfrm>
            <a:off x="0" y="0"/>
            <a:ext cx="73152" cy="960120"/>
          </a:xfrm>
          <a:prstGeom prst="rect">
            <a:avLst/>
          </a:prstGeom>
          <a:solidFill>
            <a:srgbClr val="FF6359"/>
          </a:solidFill>
          <a:ln/>
        </p:spPr>
      </p:sp>
      <p:sp>
        <p:nvSpPr>
          <p:cNvPr id="4" name="Text 2"/>
          <p:cNvSpPr/>
          <p:nvPr/>
        </p:nvSpPr>
        <p:spPr>
          <a:xfrm>
            <a:off x="182880" y="64008"/>
            <a:ext cx="6400800" cy="50292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Core Revenue Management Capabilities</a:t>
            </a:r>
            <a:endParaRPr lang="en-US" sz="2000" dirty="0"/>
          </a:p>
        </p:txBody>
      </p:sp>
      <p:sp>
        <p:nvSpPr>
          <p:cNvPr id="5" name="Text 3"/>
          <p:cNvSpPr/>
          <p:nvPr/>
        </p:nvSpPr>
        <p:spPr>
          <a:xfrm>
            <a:off x="182880" y="548640"/>
            <a:ext cx="8229600" cy="347472"/>
          </a:xfrm>
          <a:prstGeom prst="rect">
            <a:avLst/>
          </a:prstGeom>
          <a:noFill/>
          <a:ln/>
        </p:spPr>
        <p:txBody>
          <a:bodyPr wrap="square" rtlCol="0" anchor="ctr"/>
          <a:lstStyle/>
          <a:p>
            <a:pPr indent="0" marL="0">
              <a:buNone/>
            </a:pPr>
            <a:r>
              <a:rPr lang="en-US" sz="1100" dirty="0">
                <a:solidFill>
                  <a:srgbClr val="73AA87"/>
                </a:solidFill>
                <a:latin typeface="Calibri" pitchFamily="34" charset="0"/>
                <a:ea typeface="Calibri" pitchFamily="34" charset="-122"/>
                <a:cs typeface="Calibri" pitchFamily="34" charset="-120"/>
              </a:rPr>
              <a:t>Group Summary | Roadmap Initiative Overview</a:t>
            </a:r>
            <a:endParaRPr lang="en-US" sz="1100" dirty="0"/>
          </a:p>
        </p:txBody>
      </p:sp>
      <p:sp>
        <p:nvSpPr>
          <p:cNvPr id="6" name="Text 4"/>
          <p:cNvSpPr/>
          <p:nvPr/>
        </p:nvSpPr>
        <p:spPr>
          <a:xfrm>
            <a:off x="6858000" y="73152"/>
            <a:ext cx="2103120" cy="365760"/>
          </a:xfrm>
          <a:prstGeom prst="rect">
            <a:avLst/>
          </a:prstGeom>
          <a:noFill/>
          <a:ln/>
        </p:spPr>
        <p:txBody>
          <a:bodyPr wrap="square" rtlCol="0" anchor="ctr"/>
          <a:lstStyle/>
          <a:p>
            <a:pPr algn="r" indent="0" marL="0">
              <a:buNone/>
            </a:pPr>
            <a:r>
              <a:rPr lang="en-US" sz="1200" b="1" dirty="0">
                <a:solidFill>
                  <a:srgbClr val="73AA87"/>
                </a:solidFill>
                <a:latin typeface="Calibri" pitchFamily="34" charset="0"/>
                <a:ea typeface="Calibri" pitchFamily="34" charset="-122"/>
                <a:cs typeface="Calibri" pitchFamily="34" charset="-120"/>
              </a:rPr>
              <a:t>Netcompany</a:t>
            </a:r>
            <a:endParaRPr lang="en-US" sz="1200" dirty="0"/>
          </a:p>
        </p:txBody>
      </p:sp>
      <p:sp>
        <p:nvSpPr>
          <p:cNvPr id="7" name="Shape 5"/>
          <p:cNvSpPr/>
          <p:nvPr/>
        </p:nvSpPr>
        <p:spPr>
          <a:xfrm>
            <a:off x="228600" y="1005840"/>
            <a:ext cx="2011680" cy="96012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8" name="Shape 6"/>
          <p:cNvSpPr/>
          <p:nvPr/>
        </p:nvSpPr>
        <p:spPr>
          <a:xfrm>
            <a:off x="228600" y="1005840"/>
            <a:ext cx="54864" cy="960120"/>
          </a:xfrm>
          <a:prstGeom prst="rect">
            <a:avLst/>
          </a:prstGeom>
          <a:solidFill>
            <a:srgbClr val="FF6359"/>
          </a:solidFill>
          <a:ln/>
        </p:spPr>
      </p:sp>
      <p:sp>
        <p:nvSpPr>
          <p:cNvPr id="9" name="Text 7"/>
          <p:cNvSpPr/>
          <p:nvPr/>
        </p:nvSpPr>
        <p:spPr>
          <a:xfrm>
            <a:off x="320040" y="1097280"/>
            <a:ext cx="1828800" cy="460858"/>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~23,200</a:t>
            </a:r>
            <a:endParaRPr lang="en-US" sz="2200" dirty="0"/>
          </a:p>
        </p:txBody>
      </p:sp>
      <p:sp>
        <p:nvSpPr>
          <p:cNvPr id="10" name="Text 8"/>
          <p:cNvSpPr/>
          <p:nvPr/>
        </p:nvSpPr>
        <p:spPr>
          <a:xfrm>
            <a:off x="320040" y="1505102"/>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Hours</a:t>
            </a:r>
            <a:endParaRPr lang="en-US" sz="900" dirty="0"/>
          </a:p>
        </p:txBody>
      </p:sp>
      <p:sp>
        <p:nvSpPr>
          <p:cNvPr id="11" name="Text 9"/>
          <p:cNvSpPr/>
          <p:nvPr/>
        </p:nvSpPr>
        <p:spPr>
          <a:xfrm>
            <a:off x="274320" y="165872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Total Estimated Effort</a:t>
            </a:r>
            <a:endParaRPr lang="en-US" sz="900" dirty="0"/>
          </a:p>
        </p:txBody>
      </p:sp>
      <p:sp>
        <p:nvSpPr>
          <p:cNvPr id="12" name="Shape 10"/>
          <p:cNvSpPr/>
          <p:nvPr/>
        </p:nvSpPr>
        <p:spPr>
          <a:xfrm>
            <a:off x="2414016" y="1005840"/>
            <a:ext cx="2011680" cy="96012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13" name="Shape 11"/>
          <p:cNvSpPr/>
          <p:nvPr/>
        </p:nvSpPr>
        <p:spPr>
          <a:xfrm>
            <a:off x="2414016" y="1005840"/>
            <a:ext cx="54864" cy="960120"/>
          </a:xfrm>
          <a:prstGeom prst="rect">
            <a:avLst/>
          </a:prstGeom>
          <a:solidFill>
            <a:srgbClr val="FF6359"/>
          </a:solidFill>
          <a:ln/>
        </p:spPr>
      </p:sp>
      <p:sp>
        <p:nvSpPr>
          <p:cNvPr id="14" name="Text 12"/>
          <p:cNvSpPr/>
          <p:nvPr/>
        </p:nvSpPr>
        <p:spPr>
          <a:xfrm>
            <a:off x="2505456" y="1097280"/>
            <a:ext cx="1828800" cy="460858"/>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15" name="Text 13"/>
          <p:cNvSpPr/>
          <p:nvPr/>
        </p:nvSpPr>
        <p:spPr>
          <a:xfrm>
            <a:off x="2505456" y="1505102"/>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Count</a:t>
            </a:r>
            <a:endParaRPr lang="en-US" sz="900" dirty="0"/>
          </a:p>
        </p:txBody>
      </p:sp>
      <p:sp>
        <p:nvSpPr>
          <p:cNvPr id="16" name="Text 14"/>
          <p:cNvSpPr/>
          <p:nvPr/>
        </p:nvSpPr>
        <p:spPr>
          <a:xfrm>
            <a:off x="2459736" y="165872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Roadmap Initiatives</a:t>
            </a:r>
            <a:endParaRPr lang="en-US" sz="900" dirty="0"/>
          </a:p>
        </p:txBody>
      </p:sp>
      <p:sp>
        <p:nvSpPr>
          <p:cNvPr id="17" name="Shape 15"/>
          <p:cNvSpPr/>
          <p:nvPr/>
        </p:nvSpPr>
        <p:spPr>
          <a:xfrm>
            <a:off x="4599432" y="1005840"/>
            <a:ext cx="2011680" cy="96012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18" name="Shape 16"/>
          <p:cNvSpPr/>
          <p:nvPr/>
        </p:nvSpPr>
        <p:spPr>
          <a:xfrm>
            <a:off x="4599432" y="1005840"/>
            <a:ext cx="54864" cy="960120"/>
          </a:xfrm>
          <a:prstGeom prst="rect">
            <a:avLst/>
          </a:prstGeom>
          <a:solidFill>
            <a:srgbClr val="FF6359"/>
          </a:solidFill>
          <a:ln/>
        </p:spPr>
      </p:sp>
      <p:sp>
        <p:nvSpPr>
          <p:cNvPr id="19" name="Text 17"/>
          <p:cNvSpPr/>
          <p:nvPr/>
        </p:nvSpPr>
        <p:spPr>
          <a:xfrm>
            <a:off x="4690872" y="1097280"/>
            <a:ext cx="1828800" cy="460858"/>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15</a:t>
            </a:r>
            <a:endParaRPr lang="en-US" sz="2200" dirty="0"/>
          </a:p>
        </p:txBody>
      </p:sp>
      <p:sp>
        <p:nvSpPr>
          <p:cNvPr id="20" name="Text 18"/>
          <p:cNvSpPr/>
          <p:nvPr/>
        </p:nvSpPr>
        <p:spPr>
          <a:xfrm>
            <a:off x="4690872" y="1505102"/>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Count</a:t>
            </a:r>
            <a:endParaRPr lang="en-US" sz="900" dirty="0"/>
          </a:p>
        </p:txBody>
      </p:sp>
      <p:sp>
        <p:nvSpPr>
          <p:cNvPr id="21" name="Text 19"/>
          <p:cNvSpPr/>
          <p:nvPr/>
        </p:nvSpPr>
        <p:spPr>
          <a:xfrm>
            <a:off x="4645152" y="165872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Features in Scope</a:t>
            </a:r>
            <a:endParaRPr lang="en-US" sz="900" dirty="0"/>
          </a:p>
        </p:txBody>
      </p:sp>
      <p:sp>
        <p:nvSpPr>
          <p:cNvPr id="22" name="Shape 20"/>
          <p:cNvSpPr/>
          <p:nvPr/>
        </p:nvSpPr>
        <p:spPr>
          <a:xfrm>
            <a:off x="6784848" y="1005840"/>
            <a:ext cx="2011680" cy="96012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23" name="Shape 21"/>
          <p:cNvSpPr/>
          <p:nvPr/>
        </p:nvSpPr>
        <p:spPr>
          <a:xfrm>
            <a:off x="6784848" y="1005840"/>
            <a:ext cx="54864" cy="960120"/>
          </a:xfrm>
          <a:prstGeom prst="rect">
            <a:avLst/>
          </a:prstGeom>
          <a:solidFill>
            <a:srgbClr val="FF6359"/>
          </a:solidFill>
          <a:ln/>
        </p:spPr>
      </p:sp>
      <p:sp>
        <p:nvSpPr>
          <p:cNvPr id="24" name="Text 22"/>
          <p:cNvSpPr/>
          <p:nvPr/>
        </p:nvSpPr>
        <p:spPr>
          <a:xfrm>
            <a:off x="6876288" y="1097280"/>
            <a:ext cx="1828800" cy="460858"/>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PI28</a:t>
            </a:r>
            <a:endParaRPr lang="en-US" sz="2200" dirty="0"/>
          </a:p>
        </p:txBody>
      </p:sp>
      <p:sp>
        <p:nvSpPr>
          <p:cNvPr id="25" name="Text 23"/>
          <p:cNvSpPr/>
          <p:nvPr/>
        </p:nvSpPr>
        <p:spPr>
          <a:xfrm>
            <a:off x="6876288" y="1505102"/>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Program Increment</a:t>
            </a:r>
            <a:endParaRPr lang="en-US" sz="900" dirty="0"/>
          </a:p>
        </p:txBody>
      </p:sp>
      <p:sp>
        <p:nvSpPr>
          <p:cNvPr id="26" name="Text 24"/>
          <p:cNvSpPr/>
          <p:nvPr/>
        </p:nvSpPr>
        <p:spPr>
          <a:xfrm>
            <a:off x="6830568" y="165872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Primary PI Window</a:t>
            </a:r>
            <a:endParaRPr lang="en-US" sz="900" dirty="0"/>
          </a:p>
        </p:txBody>
      </p:sp>
      <p:sp>
        <p:nvSpPr>
          <p:cNvPr id="27" name="Text 25"/>
          <p:cNvSpPr/>
          <p:nvPr/>
        </p:nvSpPr>
        <p:spPr>
          <a:xfrm>
            <a:off x="228600" y="2103120"/>
            <a:ext cx="3291840" cy="777240"/>
          </a:xfrm>
          <a:prstGeom prst="rect">
            <a:avLst/>
          </a:prstGeom>
          <a:noFill/>
          <a:ln/>
        </p:spPr>
        <p:txBody>
          <a:bodyPr wrap="square" rtlCol="0" anchor="ctr"/>
          <a:lstStyle/>
          <a:p>
            <a:pPr indent="0" marL="0">
              <a:buNone/>
            </a:pPr>
            <a:r>
              <a:rPr lang="en-US" sz="1000" dirty="0">
                <a:solidFill>
                  <a:srgbClr val="141E1E"/>
                </a:solidFill>
                <a:latin typeface="Calibri" pitchFamily="34" charset="0"/>
                <a:ea typeface="Calibri" pitchFamily="34" charset="-122"/>
                <a:cs typeface="Calibri" pitchFamily="34" charset="-120"/>
              </a:rPr>
              <a:t>Covers the foundational tax administration functions enabling tax authorities to manage the full lifecycle of taxpayer obligations — from registration and filing through billing, assessment, accounting, and penalty management.</a:t>
            </a:r>
            <a:endParaRPr lang="en-US" sz="1000" dirty="0"/>
          </a:p>
        </p:txBody>
      </p:sp>
      <p:sp>
        <p:nvSpPr>
          <p:cNvPr id="28" name="Text 26"/>
          <p:cNvSpPr/>
          <p:nvPr/>
        </p:nvSpPr>
        <p:spPr>
          <a:xfrm>
            <a:off x="228600" y="2103120"/>
            <a:ext cx="3291840" cy="256032"/>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Business Scope</a:t>
            </a:r>
            <a:endParaRPr lang="en-US" sz="1000" dirty="0"/>
          </a:p>
        </p:txBody>
      </p:sp>
      <p:sp>
        <p:nvSpPr>
          <p:cNvPr id="29" name="Text 27"/>
          <p:cNvSpPr/>
          <p:nvPr/>
        </p:nvSpPr>
        <p:spPr>
          <a:xfrm>
            <a:off x="228600" y="3200400"/>
            <a:ext cx="3291840" cy="256032"/>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Market Needs &amp; Investment Benefits</a:t>
            </a:r>
            <a:endParaRPr lang="en-US" sz="1000" dirty="0"/>
          </a:p>
        </p:txBody>
      </p:sp>
      <p:sp>
        <p:nvSpPr>
          <p:cNvPr id="30" name="Text 28"/>
          <p:cNvSpPr/>
          <p:nvPr/>
        </p:nvSpPr>
        <p:spPr>
          <a:xfrm>
            <a:off x="228600" y="3493008"/>
            <a:ext cx="3291840" cy="1417320"/>
          </a:xfrm>
          <a:prstGeom prst="rect">
            <a:avLst/>
          </a:prstGeom>
          <a:noFill/>
          <a:ln/>
        </p:spPr>
        <p:txBody>
          <a:bodyPr wrap="square" rtlCol="0" anchor="ctr"/>
          <a:lstStyle/>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End-to-end taxpayer lifecycle management reduces administrative burden and manual errors</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Automated penalty and interest calculations improve collection rates and reduce revenue leakage</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Modular capability design allows onboarding of new tax types with minimal reconfiguration</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Streamlined registration and billing processes reduce case handling time for tax officers</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Supports regulatory compliance including audit trails and operational reporting</a:t>
            </a:r>
            <a:endParaRPr lang="en-US" sz="900" dirty="0"/>
          </a:p>
        </p:txBody>
      </p:sp>
      <p:sp>
        <p:nvSpPr>
          <p:cNvPr id="31" name="Text 29"/>
          <p:cNvSpPr/>
          <p:nvPr/>
        </p:nvSpPr>
        <p:spPr>
          <a:xfrm>
            <a:off x="3611880" y="2103120"/>
            <a:ext cx="4937760" cy="256032"/>
          </a:xfrm>
          <a:prstGeom prst="rect">
            <a:avLst/>
          </a:prstGeom>
          <a:noFill/>
          <a:ln/>
        </p:spPr>
        <p:txBody>
          <a:bodyPr wrap="square" rtlCol="0" anchor="ctr"/>
          <a:lstStyle/>
          <a:p>
            <a:pPr indent="0" marL="0">
              <a:buNone/>
            </a:pPr>
            <a:r>
              <a:rPr lang="en-US" sz="900" b="1" dirty="0">
                <a:solidFill>
                  <a:srgbClr val="FF6359"/>
                </a:solidFill>
                <a:latin typeface="Calibri" pitchFamily="34" charset="0"/>
                <a:ea typeface="Calibri" pitchFamily="34" charset="-122"/>
                <a:cs typeface="Calibri" pitchFamily="34" charset="-120"/>
              </a:rPr>
              <a:t>Roadmap Initiatives at a Glance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11880" y="2395728"/>
          <a:ext cx="4937760" cy="2386584"/>
        </p:xfrm>
        <a:graphic>
          <a:graphicData uri="http://schemas.openxmlformats.org/drawingml/2006/table">
            <a:tbl>
              <a:tblPr/>
              <a:tblGrid>
                <a:gridCol w="2057400"/>
                <a:gridCol w="1020470"/>
                <a:gridCol w="625450"/>
                <a:gridCol w="691286"/>
                <a:gridCol w="543154"/>
              </a:tblGrid>
              <a:tr h="340941">
                <a:tc>
                  <a:txBody>
                    <a:bodyPr/>
                    <a:lstStyle/>
                    <a:p>
                      <a:pPr algn="l" indent="0" marL="0">
                        <a:buNone/>
                      </a:pPr>
                      <a:r>
                        <a:rPr lang="en-US" sz="900" b="1" dirty="0">
                          <a:solidFill>
                            <a:srgbClr val="FFFFFF"/>
                          </a:solidFill>
                        </a:rPr>
                        <a:t>Initiative</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solidFill>
                      <a:srgbClr val="123836"/>
                    </a:solidFill>
                  </a:tcPr>
                </a:tc>
                <a:tc>
                  <a:txBody>
                    <a:bodyPr/>
                    <a:lstStyle/>
                    <a:p>
                      <a:pPr algn="ctr" indent="0" marL="0">
                        <a:buNone/>
                      </a:pPr>
                      <a:r>
                        <a:rPr lang="en-US" sz="900" b="1" dirty="0">
                          <a:solidFill>
                            <a:srgbClr val="FFFFFF"/>
                          </a:solidFill>
                        </a:rPr>
                        <a:t>Effort (H)</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solidFill>
                      <a:srgbClr val="123836"/>
                    </a:solidFill>
                  </a:tcPr>
                </a:tc>
                <a:tc>
                  <a:txBody>
                    <a:bodyPr/>
                    <a:lstStyle/>
                    <a:p>
                      <a:pPr algn="ctr" indent="0" marL="0">
                        <a:buNone/>
                      </a:pPr>
                      <a:r>
                        <a:rPr lang="en-US" sz="900" b="1" dirty="0">
                          <a:solidFill>
                            <a:srgbClr val="FFFFFF"/>
                          </a:solidFill>
                        </a:rPr>
                        <a:t>Feats</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solidFill>
                      <a:srgbClr val="123836"/>
                    </a:solidFill>
                  </a:tcPr>
                </a:tc>
                <a:tc>
                  <a:txBody>
                    <a:bodyPr/>
                    <a:lstStyle/>
                    <a:p>
                      <a:pPr algn="ctr" indent="0" marL="0">
                        <a:buNone/>
                      </a:pPr>
                      <a:r>
                        <a:rPr lang="en-US" sz="900" b="1" dirty="0">
                          <a:solidFill>
                            <a:srgbClr val="FFFFFF"/>
                          </a:solidFill>
                        </a:rPr>
                        <a:t>PI</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solidFill>
                      <a:srgbClr val="123836"/>
                    </a:solidFill>
                  </a:tcPr>
                </a:tc>
                <a:tc>
                  <a:txBody>
                    <a:bodyPr/>
                    <a:lstStyle/>
                    <a:p>
                      <a:pPr algn="ctr" indent="0" marL="0">
                        <a:buNone/>
                      </a:pPr>
                      <a:r>
                        <a:rPr lang="en-US" sz="900" b="1" dirty="0">
                          <a:solidFill>
                            <a:srgbClr val="FFFFFF"/>
                          </a:solidFill>
                        </a:rPr>
                        <a:t>Prio</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solidFill>
                      <a:srgbClr val="123836"/>
                    </a:solidFill>
                  </a:tcPr>
                </a:tc>
              </a:tr>
              <a:tr h="340941">
                <a:tc>
                  <a:txBody>
                    <a:bodyPr/>
                    <a:lstStyle/>
                    <a:p>
                      <a:pPr algn="l" indent="0" marL="0">
                        <a:buNone/>
                      </a:pPr>
                      <a:r>
                        <a:rPr lang="en-US" sz="900" dirty="0">
                          <a:solidFill>
                            <a:srgbClr val="000000"/>
                          </a:solidFill>
                        </a:rPr>
                        <a:t>Registration</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11,866</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6</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PI27-29</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P1</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r>
              <a:tr h="340941">
                <a:tc>
                  <a:txBody>
                    <a:bodyPr/>
                    <a:lstStyle/>
                    <a:p>
                      <a:pPr algn="l" indent="0" marL="0">
                        <a:buNone/>
                      </a:pPr>
                      <a:r>
                        <a:rPr lang="en-US" sz="900" dirty="0">
                          <a:solidFill>
                            <a:srgbClr val="000000"/>
                          </a:solidFill>
                        </a:rPr>
                        <a:t>Taxpayer Accounting</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8,064</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4</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PI28-29</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P1</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r>
              <a:tr h="340941">
                <a:tc>
                  <a:txBody>
                    <a:bodyPr/>
                    <a:lstStyle/>
                    <a:p>
                      <a:pPr algn="l" indent="0" marL="0">
                        <a:buNone/>
                      </a:pPr>
                      <a:r>
                        <a:rPr lang="en-US" sz="900" dirty="0">
                          <a:solidFill>
                            <a:srgbClr val="000000"/>
                          </a:solidFill>
                        </a:rPr>
                        <a:t>Billing &amp; Assessments</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2,880</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3</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PI28-29</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P1-2</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r>
              <a:tr h="340941">
                <a:tc>
                  <a:txBody>
                    <a:bodyPr/>
                    <a:lstStyle/>
                    <a:p>
                      <a:pPr algn="l" indent="0" marL="0">
                        <a:buNone/>
                      </a:pPr>
                      <a:r>
                        <a:rPr lang="en-US" sz="900" dirty="0">
                          <a:solidFill>
                            <a:srgbClr val="000000"/>
                          </a:solidFill>
                        </a:rPr>
                        <a:t>Exemptions</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390</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1</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PI28</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P2</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r>
              <a:tr h="340941">
                <a:tc>
                  <a:txBody>
                    <a:bodyPr/>
                    <a:lstStyle/>
                    <a:p>
                      <a:pPr algn="l" indent="0" marL="0">
                        <a:buNone/>
                      </a:pPr>
                      <a:r>
                        <a:rPr lang="en-US" sz="900" dirty="0">
                          <a:solidFill>
                            <a:srgbClr val="000000"/>
                          </a:solidFill>
                        </a:rPr>
                        <a:t>Penalty &amp; Interest</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TBD</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1</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PI28-29</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P2</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r>
              <a:tr h="340941">
                <a:tc>
                  <a:txBody>
                    <a:bodyPr/>
                    <a:lstStyle/>
                    <a:p>
                      <a:pPr algn="l" indent="0" marL="0">
                        <a:buNone/>
                      </a:pPr>
                      <a:r>
                        <a:rPr lang="en-US" sz="900" dirty="0">
                          <a:solidFill>
                            <a:srgbClr val="000000"/>
                          </a:solidFill>
                        </a:rPr>
                        <a:t>Tax Accounts</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TBD</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1</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PI28-29</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c>
                  <a:txBody>
                    <a:bodyPr/>
                    <a:lstStyle/>
                    <a:p>
                      <a:pPr algn="ctr" indent="0" marL="0">
                        <a:buNone/>
                      </a:pPr>
                      <a:r>
                        <a:rPr lang="en-US" sz="900" dirty="0">
                          <a:solidFill>
                            <a:srgbClr val="000000"/>
                          </a:solidFill>
                        </a:rPr>
                        <a:t>P1</a:t>
                      </a:r>
                      <a:endParaRPr lang="en-US" sz="900" dirty="0"/>
                    </a:p>
                  </a:txBody>
                  <a:tcPr marL="91440" marR="91440" marT="45720" marB="45720">
                    <a:lnL w="6350" cap="flat" cmpd="sng" algn="ctr">
                      <a:solidFill>
                        <a:srgbClr val="D0D7D7"/>
                      </a:solidFill>
                      <a:prstDash val="solid"/>
                      <a:round/>
                      <a:headEnd type="none" w="med" len="med"/>
                      <a:tailEnd type="none" w="med" len="med"/>
                    </a:lnL>
                    <a:lnR w="6350" cap="flat" cmpd="sng" algn="ctr">
                      <a:solidFill>
                        <a:srgbClr val="D0D7D7"/>
                      </a:solidFill>
                      <a:prstDash val="solid"/>
                      <a:round/>
                      <a:headEnd type="none" w="med" len="med"/>
                      <a:tailEnd type="none" w="med" len="med"/>
                    </a:lnR>
                    <a:lnT w="6350" cap="flat" cmpd="sng" algn="ctr">
                      <a:solidFill>
                        <a:srgbClr val="D0D7D7"/>
                      </a:solidFill>
                      <a:prstDash val="solid"/>
                      <a:round/>
                      <a:headEnd type="none" w="med" len="med"/>
                      <a:tailEnd type="none" w="med" len="med"/>
                    </a:lnT>
                    <a:lnB w="6350" cap="flat" cmpd="sng" algn="ctr">
                      <a:solidFill>
                        <a:srgbClr val="D0D7D7"/>
                      </a:solidFill>
                      <a:prstDash val="solid"/>
                      <a:round/>
                      <a:headEnd type="none" w="med" len="med"/>
                      <a:tailEnd type="none" w="med" len="med"/>
                    </a:lnB>
                  </a:tcPr>
                </a:tc>
              </a:tr>
            </a:tbl>
          </a:graphicData>
        </a:graphic>
      </p:graphicFrame>
      <p:sp>
        <p:nvSpPr>
          <p:cNvPr id="33" name="Shape 30"/>
          <p:cNvSpPr/>
          <p:nvPr/>
        </p:nvSpPr>
        <p:spPr>
          <a:xfrm>
            <a:off x="0" y="4983480"/>
            <a:ext cx="9144000" cy="160020"/>
          </a:xfrm>
          <a:prstGeom prst="rect">
            <a:avLst/>
          </a:prstGeom>
          <a:solidFill>
            <a:srgbClr val="123836"/>
          </a:solidFill>
          <a:ln/>
        </p:spPr>
      </p:sp>
      <p:sp>
        <p:nvSpPr>
          <p:cNvPr id="34" name="Text 31"/>
          <p:cNvSpPr/>
          <p:nvPr/>
        </p:nvSpPr>
        <p:spPr>
          <a:xfrm>
            <a:off x="137160" y="4974336"/>
            <a:ext cx="6400800" cy="164592"/>
          </a:xfrm>
          <a:prstGeom prst="rect">
            <a:avLst/>
          </a:prstGeom>
          <a:noFill/>
          <a:ln/>
        </p:spPr>
        <p:txBody>
          <a:bodyPr wrap="square" rtlCol="0" anchor="ctr"/>
          <a:lstStyle/>
          <a:p>
            <a:pPr indent="0" marL="0">
              <a:buNone/>
            </a:pPr>
            <a:r>
              <a:rPr lang="en-US" sz="800" dirty="0">
                <a:solidFill>
                  <a:srgbClr val="D0D7D7"/>
                </a:solidFill>
                <a:latin typeface="Calibri" pitchFamily="34" charset="0"/>
                <a:ea typeface="Calibri" pitchFamily="34" charset="-122"/>
                <a:cs typeface="Calibri" pitchFamily="34" charset="-120"/>
              </a:rPr>
              <a:t>Solon Tax Product Roadmap 2026 | SteerCo</a:t>
            </a:r>
            <a:endParaRPr lang="en-US" sz="800" dirty="0"/>
          </a:p>
        </p:txBody>
      </p:sp>
      <p:sp>
        <p:nvSpPr>
          <p:cNvPr id="35" name="Text 32"/>
          <p:cNvSpPr/>
          <p:nvPr/>
        </p:nvSpPr>
        <p:spPr>
          <a:xfrm>
            <a:off x="8686800" y="4974336"/>
            <a:ext cx="365760" cy="164592"/>
          </a:xfrm>
          <a:prstGeom prst="rect">
            <a:avLst/>
          </a:prstGeom>
          <a:noFill/>
          <a:ln/>
        </p:spPr>
        <p:txBody>
          <a:bodyPr wrap="square" rtlCol="0" anchor="ctr"/>
          <a:lstStyle/>
          <a:p>
            <a:pPr algn="r" indent="0" marL="0">
              <a:buNone/>
            </a:pPr>
            <a:r>
              <a:rPr lang="en-US" sz="800" dirty="0">
                <a:solidFill>
                  <a:srgbClr val="D0D7D7"/>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6"/>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23836"/>
          </a:solidFill>
          <a:ln/>
        </p:spPr>
      </p:sp>
      <p:sp>
        <p:nvSpPr>
          <p:cNvPr id="3" name="Shape 1"/>
          <p:cNvSpPr/>
          <p:nvPr/>
        </p:nvSpPr>
        <p:spPr>
          <a:xfrm>
            <a:off x="0" y="0"/>
            <a:ext cx="73152" cy="960120"/>
          </a:xfrm>
          <a:prstGeom prst="rect">
            <a:avLst/>
          </a:prstGeom>
          <a:solidFill>
            <a:srgbClr val="FF6359"/>
          </a:solidFill>
          <a:ln/>
        </p:spPr>
      </p:sp>
      <p:sp>
        <p:nvSpPr>
          <p:cNvPr id="4" name="Text 2"/>
          <p:cNvSpPr/>
          <p:nvPr/>
        </p:nvSpPr>
        <p:spPr>
          <a:xfrm>
            <a:off x="182880" y="64008"/>
            <a:ext cx="6400800" cy="50292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Registration</a:t>
            </a:r>
            <a:endParaRPr lang="en-US" sz="2000" dirty="0"/>
          </a:p>
        </p:txBody>
      </p:sp>
      <p:sp>
        <p:nvSpPr>
          <p:cNvPr id="5" name="Text 3"/>
          <p:cNvSpPr/>
          <p:nvPr/>
        </p:nvSpPr>
        <p:spPr>
          <a:xfrm>
            <a:off x="182880" y="548640"/>
            <a:ext cx="8229600" cy="347472"/>
          </a:xfrm>
          <a:prstGeom prst="rect">
            <a:avLst/>
          </a:prstGeom>
          <a:noFill/>
          <a:ln/>
        </p:spPr>
        <p:txBody>
          <a:bodyPr wrap="square" rtlCol="0" anchor="ctr"/>
          <a:lstStyle/>
          <a:p>
            <a:pPr indent="0" marL="0">
              <a:buNone/>
            </a:pPr>
            <a:r>
              <a:rPr lang="en-US" sz="1100" dirty="0">
                <a:solidFill>
                  <a:srgbClr val="73AA87"/>
                </a:solidFill>
                <a:latin typeface="Calibri" pitchFamily="34" charset="0"/>
                <a:ea typeface="Calibri" pitchFamily="34" charset="-122"/>
                <a:cs typeface="Calibri" pitchFamily="34" charset="-120"/>
              </a:rPr>
              <a:t>Core Revenue Management Capabilities | Initiative Detail</a:t>
            </a:r>
            <a:endParaRPr lang="en-US" sz="1100" dirty="0"/>
          </a:p>
        </p:txBody>
      </p:sp>
      <p:sp>
        <p:nvSpPr>
          <p:cNvPr id="6" name="Text 4"/>
          <p:cNvSpPr/>
          <p:nvPr/>
        </p:nvSpPr>
        <p:spPr>
          <a:xfrm>
            <a:off x="6858000" y="73152"/>
            <a:ext cx="2103120" cy="365760"/>
          </a:xfrm>
          <a:prstGeom prst="rect">
            <a:avLst/>
          </a:prstGeom>
          <a:noFill/>
          <a:ln/>
        </p:spPr>
        <p:txBody>
          <a:bodyPr wrap="square" rtlCol="0" anchor="ctr"/>
          <a:lstStyle/>
          <a:p>
            <a:pPr algn="r" indent="0" marL="0">
              <a:buNone/>
            </a:pPr>
            <a:r>
              <a:rPr lang="en-US" sz="1200" b="1" dirty="0">
                <a:solidFill>
                  <a:srgbClr val="73AA87"/>
                </a:solidFill>
                <a:latin typeface="Calibri" pitchFamily="34" charset="0"/>
                <a:ea typeface="Calibri" pitchFamily="34" charset="-122"/>
                <a:cs typeface="Calibri" pitchFamily="34" charset="-120"/>
              </a:rPr>
              <a:t>Netcompany</a:t>
            </a:r>
            <a:endParaRPr lang="en-US" sz="1200" dirty="0"/>
          </a:p>
        </p:txBody>
      </p:sp>
      <p:sp>
        <p:nvSpPr>
          <p:cNvPr id="7" name="Shape 5"/>
          <p:cNvSpPr/>
          <p:nvPr/>
        </p:nvSpPr>
        <p:spPr>
          <a:xfrm>
            <a:off x="228600"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8" name="Shape 6"/>
          <p:cNvSpPr/>
          <p:nvPr/>
        </p:nvSpPr>
        <p:spPr>
          <a:xfrm>
            <a:off x="228600" y="1005840"/>
            <a:ext cx="54864" cy="914400"/>
          </a:xfrm>
          <a:prstGeom prst="rect">
            <a:avLst/>
          </a:prstGeom>
          <a:solidFill>
            <a:srgbClr val="FF6359"/>
          </a:solidFill>
          <a:ln/>
        </p:spPr>
      </p:sp>
      <p:sp>
        <p:nvSpPr>
          <p:cNvPr id="9" name="Text 7"/>
          <p:cNvSpPr/>
          <p:nvPr/>
        </p:nvSpPr>
        <p:spPr>
          <a:xfrm>
            <a:off x="320040"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~11,900</a:t>
            </a:r>
            <a:endParaRPr lang="en-US" sz="2200" dirty="0"/>
          </a:p>
        </p:txBody>
      </p:sp>
      <p:sp>
        <p:nvSpPr>
          <p:cNvPr id="10" name="Text 8"/>
          <p:cNvSpPr/>
          <p:nvPr/>
        </p:nvSpPr>
        <p:spPr>
          <a:xfrm>
            <a:off x="320040"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Hours</a:t>
            </a:r>
            <a:endParaRPr lang="en-US" sz="900" dirty="0"/>
          </a:p>
        </p:txBody>
      </p:sp>
      <p:sp>
        <p:nvSpPr>
          <p:cNvPr id="11" name="Text 9"/>
          <p:cNvSpPr/>
          <p:nvPr/>
        </p:nvSpPr>
        <p:spPr>
          <a:xfrm>
            <a:off x="274320"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Total Estimated Effort</a:t>
            </a:r>
            <a:endParaRPr lang="en-US" sz="900" dirty="0"/>
          </a:p>
        </p:txBody>
      </p:sp>
      <p:sp>
        <p:nvSpPr>
          <p:cNvPr id="12" name="Shape 10"/>
          <p:cNvSpPr/>
          <p:nvPr/>
        </p:nvSpPr>
        <p:spPr>
          <a:xfrm>
            <a:off x="2414016"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13" name="Shape 11"/>
          <p:cNvSpPr/>
          <p:nvPr/>
        </p:nvSpPr>
        <p:spPr>
          <a:xfrm>
            <a:off x="2414016" y="1005840"/>
            <a:ext cx="54864" cy="914400"/>
          </a:xfrm>
          <a:prstGeom prst="rect">
            <a:avLst/>
          </a:prstGeom>
          <a:solidFill>
            <a:srgbClr val="FF6359"/>
          </a:solidFill>
          <a:ln/>
        </p:spPr>
      </p:sp>
      <p:sp>
        <p:nvSpPr>
          <p:cNvPr id="14" name="Text 12"/>
          <p:cNvSpPr/>
          <p:nvPr/>
        </p:nvSpPr>
        <p:spPr>
          <a:xfrm>
            <a:off x="2505456"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15" name="Text 13"/>
          <p:cNvSpPr/>
          <p:nvPr/>
        </p:nvSpPr>
        <p:spPr>
          <a:xfrm>
            <a:off x="2505456"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Count</a:t>
            </a:r>
            <a:endParaRPr lang="en-US" sz="900" dirty="0"/>
          </a:p>
        </p:txBody>
      </p:sp>
      <p:sp>
        <p:nvSpPr>
          <p:cNvPr id="16" name="Text 14"/>
          <p:cNvSpPr/>
          <p:nvPr/>
        </p:nvSpPr>
        <p:spPr>
          <a:xfrm>
            <a:off x="2459736"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Features in Scope</a:t>
            </a:r>
            <a:endParaRPr lang="en-US" sz="900" dirty="0"/>
          </a:p>
        </p:txBody>
      </p:sp>
      <p:sp>
        <p:nvSpPr>
          <p:cNvPr id="17" name="Shape 15"/>
          <p:cNvSpPr/>
          <p:nvPr/>
        </p:nvSpPr>
        <p:spPr>
          <a:xfrm>
            <a:off x="4599432"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18" name="Shape 16"/>
          <p:cNvSpPr/>
          <p:nvPr/>
        </p:nvSpPr>
        <p:spPr>
          <a:xfrm>
            <a:off x="4599432" y="1005840"/>
            <a:ext cx="54864" cy="914400"/>
          </a:xfrm>
          <a:prstGeom prst="rect">
            <a:avLst/>
          </a:prstGeom>
          <a:solidFill>
            <a:srgbClr val="FF6359"/>
          </a:solidFill>
          <a:ln/>
        </p:spPr>
      </p:sp>
      <p:sp>
        <p:nvSpPr>
          <p:cNvPr id="19" name="Text 17"/>
          <p:cNvSpPr/>
          <p:nvPr/>
        </p:nvSpPr>
        <p:spPr>
          <a:xfrm>
            <a:off x="4690872"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P1</a:t>
            </a:r>
            <a:endParaRPr lang="en-US" sz="2200" dirty="0"/>
          </a:p>
        </p:txBody>
      </p:sp>
      <p:sp>
        <p:nvSpPr>
          <p:cNvPr id="20" name="Text 18"/>
          <p:cNvSpPr/>
          <p:nvPr/>
        </p:nvSpPr>
        <p:spPr>
          <a:xfrm>
            <a:off x="4690872"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Must Have</a:t>
            </a:r>
            <a:endParaRPr lang="en-US" sz="900" dirty="0"/>
          </a:p>
        </p:txBody>
      </p:sp>
      <p:sp>
        <p:nvSpPr>
          <p:cNvPr id="21" name="Text 19"/>
          <p:cNvSpPr/>
          <p:nvPr/>
        </p:nvSpPr>
        <p:spPr>
          <a:xfrm>
            <a:off x="4645152"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Primary Priority</a:t>
            </a:r>
            <a:endParaRPr lang="en-US" sz="900" dirty="0"/>
          </a:p>
        </p:txBody>
      </p:sp>
      <p:sp>
        <p:nvSpPr>
          <p:cNvPr id="22" name="Shape 20"/>
          <p:cNvSpPr/>
          <p:nvPr/>
        </p:nvSpPr>
        <p:spPr>
          <a:xfrm>
            <a:off x="6784848"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23" name="Shape 21"/>
          <p:cNvSpPr/>
          <p:nvPr/>
        </p:nvSpPr>
        <p:spPr>
          <a:xfrm>
            <a:off x="6784848" y="1005840"/>
            <a:ext cx="54864" cy="914400"/>
          </a:xfrm>
          <a:prstGeom prst="rect">
            <a:avLst/>
          </a:prstGeom>
          <a:solidFill>
            <a:srgbClr val="FF6359"/>
          </a:solidFill>
          <a:ln/>
        </p:spPr>
      </p:sp>
      <p:sp>
        <p:nvSpPr>
          <p:cNvPr id="24" name="Text 22"/>
          <p:cNvSpPr/>
          <p:nvPr/>
        </p:nvSpPr>
        <p:spPr>
          <a:xfrm>
            <a:off x="6876288"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PI27–PI29</a:t>
            </a:r>
            <a:endParaRPr lang="en-US" sz="2200" dirty="0"/>
          </a:p>
        </p:txBody>
      </p:sp>
      <p:sp>
        <p:nvSpPr>
          <p:cNvPr id="25" name="Text 23"/>
          <p:cNvSpPr/>
          <p:nvPr/>
        </p:nvSpPr>
        <p:spPr>
          <a:xfrm>
            <a:off x="6876288"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Program Increments</a:t>
            </a:r>
            <a:endParaRPr lang="en-US" sz="900" dirty="0"/>
          </a:p>
        </p:txBody>
      </p:sp>
      <p:sp>
        <p:nvSpPr>
          <p:cNvPr id="26" name="Text 24"/>
          <p:cNvSpPr/>
          <p:nvPr/>
        </p:nvSpPr>
        <p:spPr>
          <a:xfrm>
            <a:off x="6830568"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Planned PI Window</a:t>
            </a:r>
            <a:endParaRPr lang="en-US" sz="900" dirty="0"/>
          </a:p>
        </p:txBody>
      </p:sp>
      <p:sp>
        <p:nvSpPr>
          <p:cNvPr id="27" name="Text 25"/>
          <p:cNvSpPr/>
          <p:nvPr/>
        </p:nvSpPr>
        <p:spPr>
          <a:xfrm>
            <a:off x="228600" y="1965960"/>
            <a:ext cx="274320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Business Scope</a:t>
            </a:r>
            <a:endParaRPr lang="en-US" sz="1000" dirty="0"/>
          </a:p>
        </p:txBody>
      </p:sp>
      <p:sp>
        <p:nvSpPr>
          <p:cNvPr id="28" name="Text 26"/>
          <p:cNvSpPr/>
          <p:nvPr/>
        </p:nvSpPr>
        <p:spPr>
          <a:xfrm>
            <a:off x="228600" y="2212848"/>
            <a:ext cx="2743200" cy="685800"/>
          </a:xfrm>
          <a:prstGeom prst="rect">
            <a:avLst/>
          </a:prstGeom>
          <a:noFill/>
          <a:ln/>
        </p:spPr>
        <p:txBody>
          <a:bodyPr wrap="square" rtlCol="0" anchor="ctr"/>
          <a:lstStyle/>
          <a:p>
            <a:pPr indent="0" marL="0">
              <a:buNone/>
            </a:pPr>
            <a:r>
              <a:rPr lang="en-US" sz="900" dirty="0">
                <a:solidFill>
                  <a:srgbClr val="141E1E"/>
                </a:solidFill>
                <a:latin typeface="Calibri" pitchFamily="34" charset="0"/>
                <a:ea typeface="Calibri" pitchFamily="34" charset="-122"/>
                <a:cs typeface="Calibri" pitchFamily="34" charset="-120"/>
              </a:rPr>
              <a:t>Enables tax authorities to manage the complete registration lifecycle — including party creation, identifier management, historical data tracking, and organisational hierarchy. Supports natural persons and legal entities with full audit traceability.</a:t>
            </a:r>
            <a:endParaRPr lang="en-US" sz="900" dirty="0"/>
          </a:p>
        </p:txBody>
      </p:sp>
      <p:sp>
        <p:nvSpPr>
          <p:cNvPr id="29" name="Text 27"/>
          <p:cNvSpPr/>
          <p:nvPr/>
        </p:nvSpPr>
        <p:spPr>
          <a:xfrm>
            <a:off x="228600" y="2990088"/>
            <a:ext cx="2743200" cy="201168"/>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Key Investment Benefits</a:t>
            </a:r>
            <a:endParaRPr lang="en-US" sz="1000" dirty="0"/>
          </a:p>
        </p:txBody>
      </p:sp>
      <p:sp>
        <p:nvSpPr>
          <p:cNvPr id="30" name="Text 28"/>
          <p:cNvSpPr/>
          <p:nvPr/>
        </p:nvSpPr>
        <p:spPr>
          <a:xfrm>
            <a:off x="228600" y="3218688"/>
            <a:ext cx="2743200" cy="749808"/>
          </a:xfrm>
          <a:prstGeom prst="rect">
            <a:avLst/>
          </a:prstGeom>
          <a:noFill/>
          <a:ln/>
        </p:spPr>
        <p:txBody>
          <a:bodyPr wrap="square" rtlCol="0" anchor="ctr"/>
          <a:lstStyle/>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Faster taxpayer onboarding reduces overhead and improves service delivery</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Flexible party model supports VAT, CIT, and PAYE with full audit traceability</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Structured identifiers and validation rules improve data quality across tax types</a:t>
            </a:r>
            <a:endParaRPr lang="en-US" sz="900" dirty="0"/>
          </a:p>
        </p:txBody>
      </p:sp>
      <p:sp>
        <p:nvSpPr>
          <p:cNvPr id="31" name="Text 29"/>
          <p:cNvSpPr/>
          <p:nvPr/>
        </p:nvSpPr>
        <p:spPr>
          <a:xfrm>
            <a:off x="3108960" y="1965960"/>
            <a:ext cx="301752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Estimated Effort by Feature Area</a:t>
            </a:r>
            <a:endParaRPr lang="en-US" sz="1000" dirty="0"/>
          </a:p>
        </p:txBody>
      </p:sp>
      <p:graphicFrame>
        <p:nvGraphicFramePr>
          <p:cNvPr id="32" name="Chart 0" descr=""/>
          <p:cNvGraphicFramePr/>
          <p:nvPr/>
        </p:nvGraphicFramePr>
        <p:xfrm>
          <a:off x="3108960" y="2212848"/>
          <a:ext cx="3017520" cy="1828800"/>
        </p:xfrm>
        <a:graphic xmlns:a="http://schemas.openxmlformats.org/drawingml/2006/main">
          <a:graphicData uri="http://schemas.openxmlformats.org/drawingml/2006/chart">
            <c:chart xmlns:c="http://schemas.openxmlformats.org/drawingml/2006/chart" r:id="rId1"/>
          </a:graphicData>
        </a:graphic>
      </p:graphicFrame>
      <p:sp>
        <p:nvSpPr>
          <p:cNvPr id="33" name="Text 30"/>
          <p:cNvSpPr/>
          <p:nvPr/>
        </p:nvSpPr>
        <p:spPr>
          <a:xfrm>
            <a:off x="6263640" y="1965960"/>
            <a:ext cx="265176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Priority Distribution</a:t>
            </a:r>
            <a:endParaRPr lang="en-US" sz="1000" dirty="0"/>
          </a:p>
        </p:txBody>
      </p:sp>
      <p:graphicFrame>
        <p:nvGraphicFramePr>
          <p:cNvPr id="34" name="Chart 1" descr=""/>
          <p:cNvGraphicFramePr/>
          <p:nvPr/>
        </p:nvGraphicFramePr>
        <p:xfrm>
          <a:off x="6263640" y="2212848"/>
          <a:ext cx="2651760" cy="914400"/>
        </p:xfrm>
        <a:graphic xmlns:a="http://schemas.openxmlformats.org/drawingml/2006/main">
          <a:graphicData uri="http://schemas.openxmlformats.org/drawingml/2006/chart">
            <c:chart xmlns:c="http://schemas.openxmlformats.org/drawingml/2006/chart" r:id="rId2"/>
          </a:graphicData>
        </a:graphic>
      </p:graphicFrame>
      <p:sp>
        <p:nvSpPr>
          <p:cNvPr id="35" name="Text 31"/>
          <p:cNvSpPr/>
          <p:nvPr/>
        </p:nvSpPr>
        <p:spPr>
          <a:xfrm>
            <a:off x="3108960" y="3931920"/>
            <a:ext cx="301752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Talking Points</a:t>
            </a:r>
            <a:endParaRPr lang="en-US" sz="1000" dirty="0"/>
          </a:p>
        </p:txBody>
      </p:sp>
      <p:sp>
        <p:nvSpPr>
          <p:cNvPr id="36" name="Text 32"/>
          <p:cNvSpPr/>
          <p:nvPr/>
        </p:nvSpPr>
        <p:spPr>
          <a:xfrm>
            <a:off x="228600" y="3886200"/>
            <a:ext cx="8686800" cy="201168"/>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PI Planning</a:t>
            </a:r>
            <a:endParaRPr lang="en-US" sz="1000" dirty="0"/>
          </a:p>
        </p:txBody>
      </p:sp>
      <p:sp>
        <p:nvSpPr>
          <p:cNvPr id="37" name="Shape 33"/>
          <p:cNvSpPr/>
          <p:nvPr/>
        </p:nvSpPr>
        <p:spPr>
          <a:xfrm>
            <a:off x="228600" y="4114800"/>
            <a:ext cx="2898648" cy="658368"/>
          </a:xfrm>
          <a:prstGeom prst="rect">
            <a:avLst/>
          </a:prstGeom>
          <a:solidFill>
            <a:srgbClr val="123836"/>
          </a:solidFill>
          <a:ln/>
        </p:spPr>
      </p:sp>
      <p:sp>
        <p:nvSpPr>
          <p:cNvPr id="38" name="Text 34"/>
          <p:cNvSpPr/>
          <p:nvPr/>
        </p:nvSpPr>
        <p:spPr>
          <a:xfrm>
            <a:off x="320040" y="4142232"/>
            <a:ext cx="502920" cy="201168"/>
          </a:xfrm>
          <a:prstGeom prst="rect">
            <a:avLst/>
          </a:prstGeom>
          <a:noFill/>
          <a:ln/>
        </p:spPr>
        <p:txBody>
          <a:bodyPr wrap="square" rtlCol="0" anchor="ctr"/>
          <a:lstStyle/>
          <a:p>
            <a:pPr indent="0" marL="0">
              <a:buNone/>
            </a:pPr>
            <a:r>
              <a:rPr lang="en-US" sz="1000" b="1" dirty="0">
                <a:solidFill>
                  <a:srgbClr val="FFD282"/>
                </a:solidFill>
                <a:latin typeface="Calibri" pitchFamily="34" charset="0"/>
                <a:ea typeface="Calibri" pitchFamily="34" charset="-122"/>
                <a:cs typeface="Calibri" pitchFamily="34" charset="-120"/>
              </a:rPr>
              <a:t>PI27</a:t>
            </a:r>
            <a:endParaRPr lang="en-US" sz="1000" dirty="0"/>
          </a:p>
        </p:txBody>
      </p:sp>
      <p:sp>
        <p:nvSpPr>
          <p:cNvPr id="39" name="Text 35"/>
          <p:cNvSpPr/>
          <p:nvPr/>
        </p:nvSpPr>
        <p:spPr>
          <a:xfrm>
            <a:off x="850392" y="4133088"/>
            <a:ext cx="2276856" cy="40233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Party Identifiers · Historical Data View · Additional Name Elements (3 features)</a:t>
            </a:r>
            <a:endParaRPr lang="en-US" sz="800" dirty="0"/>
          </a:p>
        </p:txBody>
      </p:sp>
      <p:sp>
        <p:nvSpPr>
          <p:cNvPr id="40" name="Shape 36"/>
          <p:cNvSpPr/>
          <p:nvPr/>
        </p:nvSpPr>
        <p:spPr>
          <a:xfrm>
            <a:off x="3127248" y="4114800"/>
            <a:ext cx="2898648" cy="658368"/>
          </a:xfrm>
          <a:prstGeom prst="rect">
            <a:avLst/>
          </a:prstGeom>
          <a:solidFill>
            <a:srgbClr val="1B5E52"/>
          </a:solidFill>
          <a:ln/>
        </p:spPr>
      </p:sp>
      <p:sp>
        <p:nvSpPr>
          <p:cNvPr id="41" name="Text 37"/>
          <p:cNvSpPr/>
          <p:nvPr/>
        </p:nvSpPr>
        <p:spPr>
          <a:xfrm>
            <a:off x="3218688" y="4142232"/>
            <a:ext cx="502920" cy="201168"/>
          </a:xfrm>
          <a:prstGeom prst="rect">
            <a:avLst/>
          </a:prstGeom>
          <a:noFill/>
          <a:ln/>
        </p:spPr>
        <p:txBody>
          <a:bodyPr wrap="square" rtlCol="0" anchor="ctr"/>
          <a:lstStyle/>
          <a:p>
            <a:pPr indent="0" marL="0">
              <a:buNone/>
            </a:pPr>
            <a:r>
              <a:rPr lang="en-US" sz="1000" b="1" dirty="0">
                <a:solidFill>
                  <a:srgbClr val="FFD282"/>
                </a:solidFill>
                <a:latin typeface="Calibri" pitchFamily="34" charset="0"/>
                <a:ea typeface="Calibri" pitchFamily="34" charset="-122"/>
                <a:cs typeface="Calibri" pitchFamily="34" charset="-120"/>
              </a:rPr>
              <a:t>PI28</a:t>
            </a:r>
            <a:endParaRPr lang="en-US" sz="1000" dirty="0"/>
          </a:p>
        </p:txBody>
      </p:sp>
      <p:sp>
        <p:nvSpPr>
          <p:cNvPr id="42" name="Text 38"/>
          <p:cNvSpPr/>
          <p:nvPr/>
        </p:nvSpPr>
        <p:spPr>
          <a:xfrm>
            <a:off x="3749040" y="4133088"/>
            <a:ext cx="2276856" cy="40233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Data Area Enhancements · Search Enhancements (2 features) — confirm capacity now</a:t>
            </a:r>
            <a:endParaRPr lang="en-US" sz="800" dirty="0"/>
          </a:p>
        </p:txBody>
      </p:sp>
      <p:sp>
        <p:nvSpPr>
          <p:cNvPr id="43" name="Shape 39"/>
          <p:cNvSpPr/>
          <p:nvPr/>
        </p:nvSpPr>
        <p:spPr>
          <a:xfrm>
            <a:off x="6025896" y="4114800"/>
            <a:ext cx="2898648" cy="658368"/>
          </a:xfrm>
          <a:prstGeom prst="rect">
            <a:avLst/>
          </a:prstGeom>
          <a:solidFill>
            <a:srgbClr val="718886"/>
          </a:solidFill>
          <a:ln/>
        </p:spPr>
      </p:sp>
      <p:sp>
        <p:nvSpPr>
          <p:cNvPr id="44" name="Text 40"/>
          <p:cNvSpPr/>
          <p:nvPr/>
        </p:nvSpPr>
        <p:spPr>
          <a:xfrm>
            <a:off x="6117336" y="4142232"/>
            <a:ext cx="502920" cy="201168"/>
          </a:xfrm>
          <a:prstGeom prst="rect">
            <a:avLst/>
          </a:prstGeom>
          <a:noFill/>
          <a:ln/>
        </p:spPr>
        <p:txBody>
          <a:bodyPr wrap="square" rtlCol="0" anchor="ctr"/>
          <a:lstStyle/>
          <a:p>
            <a:pPr indent="0" marL="0">
              <a:buNone/>
            </a:pPr>
            <a:r>
              <a:rPr lang="en-US" sz="1000" b="1" dirty="0">
                <a:solidFill>
                  <a:srgbClr val="FFD282"/>
                </a:solidFill>
                <a:latin typeface="Calibri" pitchFamily="34" charset="0"/>
                <a:ea typeface="Calibri" pitchFamily="34" charset="-122"/>
                <a:cs typeface="Calibri" pitchFamily="34" charset="-120"/>
              </a:rPr>
              <a:t>PI29</a:t>
            </a:r>
            <a:endParaRPr lang="en-US" sz="1000" dirty="0"/>
          </a:p>
        </p:txBody>
      </p:sp>
      <p:sp>
        <p:nvSpPr>
          <p:cNvPr id="45" name="Text 41"/>
          <p:cNvSpPr/>
          <p:nvPr/>
        </p:nvSpPr>
        <p:spPr>
          <a:xfrm>
            <a:off x="6647688" y="4133088"/>
            <a:ext cx="2276856" cy="40233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Organisational Hierarchy View — GRC team alignment required before scoping</a:t>
            </a:r>
            <a:endParaRPr lang="en-US" sz="800" dirty="0"/>
          </a:p>
        </p:txBody>
      </p:sp>
      <p:sp>
        <p:nvSpPr>
          <p:cNvPr id="46" name="Shape 42"/>
          <p:cNvSpPr/>
          <p:nvPr/>
        </p:nvSpPr>
        <p:spPr>
          <a:xfrm>
            <a:off x="0" y="4983480"/>
            <a:ext cx="9144000" cy="160020"/>
          </a:xfrm>
          <a:prstGeom prst="rect">
            <a:avLst/>
          </a:prstGeom>
          <a:solidFill>
            <a:srgbClr val="123836"/>
          </a:solidFill>
          <a:ln/>
        </p:spPr>
      </p:sp>
      <p:sp>
        <p:nvSpPr>
          <p:cNvPr id="47" name="Text 43"/>
          <p:cNvSpPr/>
          <p:nvPr/>
        </p:nvSpPr>
        <p:spPr>
          <a:xfrm>
            <a:off x="137160" y="4974336"/>
            <a:ext cx="6400800" cy="164592"/>
          </a:xfrm>
          <a:prstGeom prst="rect">
            <a:avLst/>
          </a:prstGeom>
          <a:noFill/>
          <a:ln/>
        </p:spPr>
        <p:txBody>
          <a:bodyPr wrap="square" rtlCol="0" anchor="ctr"/>
          <a:lstStyle/>
          <a:p>
            <a:pPr indent="0" marL="0">
              <a:buNone/>
            </a:pPr>
            <a:r>
              <a:rPr lang="en-US" sz="800" dirty="0">
                <a:solidFill>
                  <a:srgbClr val="D0D7D7"/>
                </a:solidFill>
                <a:latin typeface="Calibri" pitchFamily="34" charset="0"/>
                <a:ea typeface="Calibri" pitchFamily="34" charset="-122"/>
                <a:cs typeface="Calibri" pitchFamily="34" charset="-120"/>
              </a:rPr>
              <a:t>Solon Tax Product Roadmap 2026 | SteerCo</a:t>
            </a:r>
            <a:endParaRPr lang="en-US" sz="800" dirty="0"/>
          </a:p>
        </p:txBody>
      </p:sp>
      <p:sp>
        <p:nvSpPr>
          <p:cNvPr id="48" name="Text 44"/>
          <p:cNvSpPr/>
          <p:nvPr/>
        </p:nvSpPr>
        <p:spPr>
          <a:xfrm>
            <a:off x="8686800" y="4974336"/>
            <a:ext cx="365760" cy="164592"/>
          </a:xfrm>
          <a:prstGeom prst="rect">
            <a:avLst/>
          </a:prstGeom>
          <a:noFill/>
          <a:ln/>
        </p:spPr>
        <p:txBody>
          <a:bodyPr wrap="square" rtlCol="0" anchor="ctr"/>
          <a:lstStyle/>
          <a:p>
            <a:pPr algn="r" indent="0" marL="0">
              <a:buNone/>
            </a:pPr>
            <a:r>
              <a:rPr lang="en-US" sz="800" dirty="0">
                <a:solidFill>
                  <a:srgbClr val="D0D7D7"/>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6"/>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23836"/>
          </a:solidFill>
          <a:ln/>
        </p:spPr>
      </p:sp>
      <p:sp>
        <p:nvSpPr>
          <p:cNvPr id="3" name="Shape 1"/>
          <p:cNvSpPr/>
          <p:nvPr/>
        </p:nvSpPr>
        <p:spPr>
          <a:xfrm>
            <a:off x="0" y="0"/>
            <a:ext cx="73152" cy="960120"/>
          </a:xfrm>
          <a:prstGeom prst="rect">
            <a:avLst/>
          </a:prstGeom>
          <a:solidFill>
            <a:srgbClr val="FF6359"/>
          </a:solidFill>
          <a:ln/>
        </p:spPr>
      </p:sp>
      <p:sp>
        <p:nvSpPr>
          <p:cNvPr id="4" name="Text 2"/>
          <p:cNvSpPr/>
          <p:nvPr/>
        </p:nvSpPr>
        <p:spPr>
          <a:xfrm>
            <a:off x="182880" y="64008"/>
            <a:ext cx="6400800" cy="50292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Taxpayer Accounting</a:t>
            </a:r>
            <a:endParaRPr lang="en-US" sz="2000" dirty="0"/>
          </a:p>
        </p:txBody>
      </p:sp>
      <p:sp>
        <p:nvSpPr>
          <p:cNvPr id="5" name="Text 3"/>
          <p:cNvSpPr/>
          <p:nvPr/>
        </p:nvSpPr>
        <p:spPr>
          <a:xfrm>
            <a:off x="182880" y="548640"/>
            <a:ext cx="8229600" cy="347472"/>
          </a:xfrm>
          <a:prstGeom prst="rect">
            <a:avLst/>
          </a:prstGeom>
          <a:noFill/>
          <a:ln/>
        </p:spPr>
        <p:txBody>
          <a:bodyPr wrap="square" rtlCol="0" anchor="ctr"/>
          <a:lstStyle/>
          <a:p>
            <a:pPr indent="0" marL="0">
              <a:buNone/>
            </a:pPr>
            <a:r>
              <a:rPr lang="en-US" sz="1100" dirty="0">
                <a:solidFill>
                  <a:srgbClr val="73AA87"/>
                </a:solidFill>
                <a:latin typeface="Calibri" pitchFamily="34" charset="0"/>
                <a:ea typeface="Calibri" pitchFamily="34" charset="-122"/>
                <a:cs typeface="Calibri" pitchFamily="34" charset="-120"/>
              </a:rPr>
              <a:t>Core Revenue Management Capabilities | Initiative Detail</a:t>
            </a:r>
            <a:endParaRPr lang="en-US" sz="1100" dirty="0"/>
          </a:p>
        </p:txBody>
      </p:sp>
      <p:sp>
        <p:nvSpPr>
          <p:cNvPr id="6" name="Text 4"/>
          <p:cNvSpPr/>
          <p:nvPr/>
        </p:nvSpPr>
        <p:spPr>
          <a:xfrm>
            <a:off x="6858000" y="73152"/>
            <a:ext cx="2103120" cy="365760"/>
          </a:xfrm>
          <a:prstGeom prst="rect">
            <a:avLst/>
          </a:prstGeom>
          <a:noFill/>
          <a:ln/>
        </p:spPr>
        <p:txBody>
          <a:bodyPr wrap="square" rtlCol="0" anchor="ctr"/>
          <a:lstStyle/>
          <a:p>
            <a:pPr algn="r" indent="0" marL="0">
              <a:buNone/>
            </a:pPr>
            <a:r>
              <a:rPr lang="en-US" sz="1200" b="1" dirty="0">
                <a:solidFill>
                  <a:srgbClr val="73AA87"/>
                </a:solidFill>
                <a:latin typeface="Calibri" pitchFamily="34" charset="0"/>
                <a:ea typeface="Calibri" pitchFamily="34" charset="-122"/>
                <a:cs typeface="Calibri" pitchFamily="34" charset="-120"/>
              </a:rPr>
              <a:t>Netcompany</a:t>
            </a:r>
            <a:endParaRPr lang="en-US" sz="1200" dirty="0"/>
          </a:p>
        </p:txBody>
      </p:sp>
      <p:sp>
        <p:nvSpPr>
          <p:cNvPr id="7" name="Shape 5"/>
          <p:cNvSpPr/>
          <p:nvPr/>
        </p:nvSpPr>
        <p:spPr>
          <a:xfrm>
            <a:off x="228600"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8" name="Shape 6"/>
          <p:cNvSpPr/>
          <p:nvPr/>
        </p:nvSpPr>
        <p:spPr>
          <a:xfrm>
            <a:off x="228600" y="1005840"/>
            <a:ext cx="54864" cy="914400"/>
          </a:xfrm>
          <a:prstGeom prst="rect">
            <a:avLst/>
          </a:prstGeom>
          <a:solidFill>
            <a:srgbClr val="FF6359"/>
          </a:solidFill>
          <a:ln/>
        </p:spPr>
      </p:sp>
      <p:sp>
        <p:nvSpPr>
          <p:cNvPr id="9" name="Text 7"/>
          <p:cNvSpPr/>
          <p:nvPr/>
        </p:nvSpPr>
        <p:spPr>
          <a:xfrm>
            <a:off x="320040"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~8,064</a:t>
            </a:r>
            <a:endParaRPr lang="en-US" sz="2200" dirty="0"/>
          </a:p>
        </p:txBody>
      </p:sp>
      <p:sp>
        <p:nvSpPr>
          <p:cNvPr id="10" name="Text 8"/>
          <p:cNvSpPr/>
          <p:nvPr/>
        </p:nvSpPr>
        <p:spPr>
          <a:xfrm>
            <a:off x="320040"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Hours</a:t>
            </a:r>
            <a:endParaRPr lang="en-US" sz="900" dirty="0"/>
          </a:p>
        </p:txBody>
      </p:sp>
      <p:sp>
        <p:nvSpPr>
          <p:cNvPr id="11" name="Text 9"/>
          <p:cNvSpPr/>
          <p:nvPr/>
        </p:nvSpPr>
        <p:spPr>
          <a:xfrm>
            <a:off x="274320"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Total Estimated Effort</a:t>
            </a:r>
            <a:endParaRPr lang="en-US" sz="900" dirty="0"/>
          </a:p>
        </p:txBody>
      </p:sp>
      <p:sp>
        <p:nvSpPr>
          <p:cNvPr id="12" name="Shape 10"/>
          <p:cNvSpPr/>
          <p:nvPr/>
        </p:nvSpPr>
        <p:spPr>
          <a:xfrm>
            <a:off x="2414016"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13" name="Shape 11"/>
          <p:cNvSpPr/>
          <p:nvPr/>
        </p:nvSpPr>
        <p:spPr>
          <a:xfrm>
            <a:off x="2414016" y="1005840"/>
            <a:ext cx="54864" cy="914400"/>
          </a:xfrm>
          <a:prstGeom prst="rect">
            <a:avLst/>
          </a:prstGeom>
          <a:solidFill>
            <a:srgbClr val="FF6359"/>
          </a:solidFill>
          <a:ln/>
        </p:spPr>
      </p:sp>
      <p:sp>
        <p:nvSpPr>
          <p:cNvPr id="14" name="Text 12"/>
          <p:cNvSpPr/>
          <p:nvPr/>
        </p:nvSpPr>
        <p:spPr>
          <a:xfrm>
            <a:off x="2505456"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15" name="Text 13"/>
          <p:cNvSpPr/>
          <p:nvPr/>
        </p:nvSpPr>
        <p:spPr>
          <a:xfrm>
            <a:off x="2505456"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Count</a:t>
            </a:r>
            <a:endParaRPr lang="en-US" sz="900" dirty="0"/>
          </a:p>
        </p:txBody>
      </p:sp>
      <p:sp>
        <p:nvSpPr>
          <p:cNvPr id="16" name="Text 14"/>
          <p:cNvSpPr/>
          <p:nvPr/>
        </p:nvSpPr>
        <p:spPr>
          <a:xfrm>
            <a:off x="2459736"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Features in Scope</a:t>
            </a:r>
            <a:endParaRPr lang="en-US" sz="900" dirty="0"/>
          </a:p>
        </p:txBody>
      </p:sp>
      <p:sp>
        <p:nvSpPr>
          <p:cNvPr id="17" name="Shape 15"/>
          <p:cNvSpPr/>
          <p:nvPr/>
        </p:nvSpPr>
        <p:spPr>
          <a:xfrm>
            <a:off x="4599432"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18" name="Shape 16"/>
          <p:cNvSpPr/>
          <p:nvPr/>
        </p:nvSpPr>
        <p:spPr>
          <a:xfrm>
            <a:off x="4599432" y="1005840"/>
            <a:ext cx="54864" cy="914400"/>
          </a:xfrm>
          <a:prstGeom prst="rect">
            <a:avLst/>
          </a:prstGeom>
          <a:solidFill>
            <a:srgbClr val="FF6359"/>
          </a:solidFill>
          <a:ln/>
        </p:spPr>
      </p:sp>
      <p:sp>
        <p:nvSpPr>
          <p:cNvPr id="19" name="Text 17"/>
          <p:cNvSpPr/>
          <p:nvPr/>
        </p:nvSpPr>
        <p:spPr>
          <a:xfrm>
            <a:off x="4690872"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P1</a:t>
            </a:r>
            <a:endParaRPr lang="en-US" sz="2200" dirty="0"/>
          </a:p>
        </p:txBody>
      </p:sp>
      <p:sp>
        <p:nvSpPr>
          <p:cNvPr id="20" name="Text 18"/>
          <p:cNvSpPr/>
          <p:nvPr/>
        </p:nvSpPr>
        <p:spPr>
          <a:xfrm>
            <a:off x="4690872"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Must Have</a:t>
            </a:r>
            <a:endParaRPr lang="en-US" sz="900" dirty="0"/>
          </a:p>
        </p:txBody>
      </p:sp>
      <p:sp>
        <p:nvSpPr>
          <p:cNvPr id="21" name="Text 19"/>
          <p:cNvSpPr/>
          <p:nvPr/>
        </p:nvSpPr>
        <p:spPr>
          <a:xfrm>
            <a:off x="4645152"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Primary Priority</a:t>
            </a:r>
            <a:endParaRPr lang="en-US" sz="900" dirty="0"/>
          </a:p>
        </p:txBody>
      </p:sp>
      <p:sp>
        <p:nvSpPr>
          <p:cNvPr id="22" name="Shape 20"/>
          <p:cNvSpPr/>
          <p:nvPr/>
        </p:nvSpPr>
        <p:spPr>
          <a:xfrm>
            <a:off x="6784848"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23" name="Shape 21"/>
          <p:cNvSpPr/>
          <p:nvPr/>
        </p:nvSpPr>
        <p:spPr>
          <a:xfrm>
            <a:off x="6784848" y="1005840"/>
            <a:ext cx="54864" cy="914400"/>
          </a:xfrm>
          <a:prstGeom prst="rect">
            <a:avLst/>
          </a:prstGeom>
          <a:solidFill>
            <a:srgbClr val="FF6359"/>
          </a:solidFill>
          <a:ln/>
        </p:spPr>
      </p:sp>
      <p:sp>
        <p:nvSpPr>
          <p:cNvPr id="24" name="Text 22"/>
          <p:cNvSpPr/>
          <p:nvPr/>
        </p:nvSpPr>
        <p:spPr>
          <a:xfrm>
            <a:off x="6876288"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PI28–PI29</a:t>
            </a:r>
            <a:endParaRPr lang="en-US" sz="2200" dirty="0"/>
          </a:p>
        </p:txBody>
      </p:sp>
      <p:sp>
        <p:nvSpPr>
          <p:cNvPr id="25" name="Text 23"/>
          <p:cNvSpPr/>
          <p:nvPr/>
        </p:nvSpPr>
        <p:spPr>
          <a:xfrm>
            <a:off x="6876288"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Program Increments</a:t>
            </a:r>
            <a:endParaRPr lang="en-US" sz="900" dirty="0"/>
          </a:p>
        </p:txBody>
      </p:sp>
      <p:sp>
        <p:nvSpPr>
          <p:cNvPr id="26" name="Text 24"/>
          <p:cNvSpPr/>
          <p:nvPr/>
        </p:nvSpPr>
        <p:spPr>
          <a:xfrm>
            <a:off x="6830568"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Planned PI Window</a:t>
            </a:r>
            <a:endParaRPr lang="en-US" sz="900" dirty="0"/>
          </a:p>
        </p:txBody>
      </p:sp>
      <p:sp>
        <p:nvSpPr>
          <p:cNvPr id="27" name="Text 25"/>
          <p:cNvSpPr/>
          <p:nvPr/>
        </p:nvSpPr>
        <p:spPr>
          <a:xfrm>
            <a:off x="228600" y="1965960"/>
            <a:ext cx="274320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Business Scope</a:t>
            </a:r>
            <a:endParaRPr lang="en-US" sz="1000" dirty="0"/>
          </a:p>
        </p:txBody>
      </p:sp>
      <p:sp>
        <p:nvSpPr>
          <p:cNvPr id="28" name="Text 26"/>
          <p:cNvSpPr/>
          <p:nvPr/>
        </p:nvSpPr>
        <p:spPr>
          <a:xfrm>
            <a:off x="228600" y="2212848"/>
            <a:ext cx="2743200" cy="685800"/>
          </a:xfrm>
          <a:prstGeom prst="rect">
            <a:avLst/>
          </a:prstGeom>
          <a:noFill/>
          <a:ln/>
        </p:spPr>
        <p:txBody>
          <a:bodyPr wrap="square" rtlCol="0" anchor="ctr"/>
          <a:lstStyle/>
          <a:p>
            <a:pPr indent="0" marL="0">
              <a:buNone/>
            </a:pPr>
            <a:r>
              <a:rPr lang="en-US" sz="900" dirty="0">
                <a:solidFill>
                  <a:srgbClr val="141E1E"/>
                </a:solidFill>
                <a:latin typeface="Calibri" pitchFamily="34" charset="0"/>
                <a:ea typeface="Calibri" pitchFamily="34" charset="-122"/>
                <a:cs typeface="Calibri" pitchFamily="34" charset="-120"/>
              </a:rPr>
              <a:t>Provides tax authorities with a unified financial ledger for each taxpayer, recording all transactions including payments, credits, adjustments, and write-offs. Ensures accurate account balances and supports reconciliation across all tax types.</a:t>
            </a:r>
            <a:endParaRPr lang="en-US" sz="900" dirty="0"/>
          </a:p>
        </p:txBody>
      </p:sp>
      <p:sp>
        <p:nvSpPr>
          <p:cNvPr id="29" name="Text 27"/>
          <p:cNvSpPr/>
          <p:nvPr/>
        </p:nvSpPr>
        <p:spPr>
          <a:xfrm>
            <a:off x="228600" y="2990088"/>
            <a:ext cx="2743200" cy="201168"/>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Key Investment Benefits</a:t>
            </a:r>
            <a:endParaRPr lang="en-US" sz="1000" dirty="0"/>
          </a:p>
        </p:txBody>
      </p:sp>
      <p:sp>
        <p:nvSpPr>
          <p:cNvPr id="30" name="Text 28"/>
          <p:cNvSpPr/>
          <p:nvPr/>
        </p:nvSpPr>
        <p:spPr>
          <a:xfrm>
            <a:off x="228600" y="3218688"/>
            <a:ext cx="2743200" cy="749808"/>
          </a:xfrm>
          <a:prstGeom prst="rect">
            <a:avLst/>
          </a:prstGeom>
          <a:noFill/>
          <a:ln/>
        </p:spPr>
        <p:txBody>
          <a:bodyPr wrap="square" rtlCol="0" anchor="ctr"/>
          <a:lstStyle/>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Real-time balance visibility reduces disputes and improves taxpayer trust</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Automated reconciliation eliminates manual posting errors</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Single ledger supports multi-tax-type accounting for all periods</a:t>
            </a:r>
            <a:endParaRPr lang="en-US" sz="900" dirty="0"/>
          </a:p>
        </p:txBody>
      </p:sp>
      <p:sp>
        <p:nvSpPr>
          <p:cNvPr id="31" name="Text 29"/>
          <p:cNvSpPr/>
          <p:nvPr/>
        </p:nvSpPr>
        <p:spPr>
          <a:xfrm>
            <a:off x="3108960" y="1965960"/>
            <a:ext cx="301752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Estimated Effort by Feature Area</a:t>
            </a:r>
            <a:endParaRPr lang="en-US" sz="1000" dirty="0"/>
          </a:p>
        </p:txBody>
      </p:sp>
      <p:graphicFrame>
        <p:nvGraphicFramePr>
          <p:cNvPr id="32" name="Chart 0" descr=""/>
          <p:cNvGraphicFramePr/>
          <p:nvPr/>
        </p:nvGraphicFramePr>
        <p:xfrm>
          <a:off x="3108960" y="2212848"/>
          <a:ext cx="3017520" cy="1828800"/>
        </p:xfrm>
        <a:graphic xmlns:a="http://schemas.openxmlformats.org/drawingml/2006/main">
          <a:graphicData uri="http://schemas.openxmlformats.org/drawingml/2006/chart">
            <c:chart xmlns:c="http://schemas.openxmlformats.org/drawingml/2006/chart" r:id="rId1"/>
          </a:graphicData>
        </a:graphic>
      </p:graphicFrame>
      <p:sp>
        <p:nvSpPr>
          <p:cNvPr id="33" name="Text 30"/>
          <p:cNvSpPr/>
          <p:nvPr/>
        </p:nvSpPr>
        <p:spPr>
          <a:xfrm>
            <a:off x="6263640" y="1965960"/>
            <a:ext cx="265176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Priority Distribution</a:t>
            </a:r>
            <a:endParaRPr lang="en-US" sz="1000" dirty="0"/>
          </a:p>
        </p:txBody>
      </p:sp>
      <p:graphicFrame>
        <p:nvGraphicFramePr>
          <p:cNvPr id="34" name="Chart 1" descr=""/>
          <p:cNvGraphicFramePr/>
          <p:nvPr/>
        </p:nvGraphicFramePr>
        <p:xfrm>
          <a:off x="6263640" y="2212848"/>
          <a:ext cx="2651760" cy="914400"/>
        </p:xfrm>
        <a:graphic xmlns:a="http://schemas.openxmlformats.org/drawingml/2006/main">
          <a:graphicData uri="http://schemas.openxmlformats.org/drawingml/2006/chart">
            <c:chart xmlns:c="http://schemas.openxmlformats.org/drawingml/2006/chart" r:id="rId2"/>
          </a:graphicData>
        </a:graphic>
      </p:graphicFrame>
      <p:sp>
        <p:nvSpPr>
          <p:cNvPr id="35" name="Text 31"/>
          <p:cNvSpPr/>
          <p:nvPr/>
        </p:nvSpPr>
        <p:spPr>
          <a:xfrm>
            <a:off x="3108960" y="3931920"/>
            <a:ext cx="301752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Talking Points</a:t>
            </a:r>
            <a:endParaRPr lang="en-US" sz="1000" dirty="0"/>
          </a:p>
        </p:txBody>
      </p:sp>
      <p:sp>
        <p:nvSpPr>
          <p:cNvPr id="36" name="Text 32"/>
          <p:cNvSpPr/>
          <p:nvPr/>
        </p:nvSpPr>
        <p:spPr>
          <a:xfrm>
            <a:off x="3108960" y="4160520"/>
            <a:ext cx="3017520" cy="640080"/>
          </a:xfrm>
          <a:prstGeom prst="rect">
            <a:avLst/>
          </a:prstGeom>
          <a:noFill/>
          <a:ln/>
        </p:spPr>
        <p:txBody>
          <a:bodyPr wrap="square" rtlCol="0" anchor="ctr"/>
          <a:lstStyle/>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Second-largest investment — foundational to revenue assurance</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PI28 delivery critical — capacity must be confirmed now</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All P1/P2 — no descoping without revenue risk</a:t>
            </a:r>
            <a:endParaRPr lang="en-US" sz="900" dirty="0"/>
          </a:p>
        </p:txBody>
      </p:sp>
      <p:sp>
        <p:nvSpPr>
          <p:cNvPr id="37" name="Text 33"/>
          <p:cNvSpPr/>
          <p:nvPr/>
        </p:nvSpPr>
        <p:spPr>
          <a:xfrm>
            <a:off x="228600" y="3886200"/>
            <a:ext cx="8686800" cy="201168"/>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PI Planning</a:t>
            </a:r>
            <a:endParaRPr lang="en-US" sz="1000" dirty="0"/>
          </a:p>
        </p:txBody>
      </p:sp>
      <p:sp>
        <p:nvSpPr>
          <p:cNvPr id="38" name="Shape 34"/>
          <p:cNvSpPr/>
          <p:nvPr/>
        </p:nvSpPr>
        <p:spPr>
          <a:xfrm>
            <a:off x="228600" y="4114800"/>
            <a:ext cx="2898648" cy="658368"/>
          </a:xfrm>
          <a:prstGeom prst="rect">
            <a:avLst/>
          </a:prstGeom>
          <a:solidFill>
            <a:srgbClr val="D0D7D7"/>
          </a:solidFill>
          <a:ln/>
        </p:spPr>
      </p:sp>
      <p:sp>
        <p:nvSpPr>
          <p:cNvPr id="39" name="Text 35"/>
          <p:cNvSpPr/>
          <p:nvPr/>
        </p:nvSpPr>
        <p:spPr>
          <a:xfrm>
            <a:off x="320040" y="4142232"/>
            <a:ext cx="502920" cy="201168"/>
          </a:xfrm>
          <a:prstGeom prst="rect">
            <a:avLst/>
          </a:prstGeom>
          <a:noFill/>
          <a:ln/>
        </p:spPr>
        <p:txBody>
          <a:bodyPr wrap="square" rtlCol="0" anchor="ctr"/>
          <a:lstStyle/>
          <a:p>
            <a:pPr indent="0" marL="0">
              <a:buNone/>
            </a:pPr>
            <a:r>
              <a:rPr lang="en-US" sz="1000" b="1" dirty="0">
                <a:solidFill>
                  <a:srgbClr val="FFD282"/>
                </a:solidFill>
                <a:latin typeface="Calibri" pitchFamily="34" charset="0"/>
                <a:ea typeface="Calibri" pitchFamily="34" charset="-122"/>
                <a:cs typeface="Calibri" pitchFamily="34" charset="-120"/>
              </a:rPr>
              <a:t>PI27</a:t>
            </a:r>
            <a:endParaRPr lang="en-US" sz="1000" dirty="0"/>
          </a:p>
        </p:txBody>
      </p:sp>
      <p:sp>
        <p:nvSpPr>
          <p:cNvPr id="40" name="Text 36"/>
          <p:cNvSpPr/>
          <p:nvPr/>
        </p:nvSpPr>
        <p:spPr>
          <a:xfrm>
            <a:off x="850392" y="4133088"/>
            <a:ext cx="2276856" cy="40233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No features</a:t>
            </a:r>
            <a:endParaRPr lang="en-US" sz="800" dirty="0"/>
          </a:p>
        </p:txBody>
      </p:sp>
      <p:sp>
        <p:nvSpPr>
          <p:cNvPr id="41" name="Shape 37"/>
          <p:cNvSpPr/>
          <p:nvPr/>
        </p:nvSpPr>
        <p:spPr>
          <a:xfrm>
            <a:off x="3127248" y="4114800"/>
            <a:ext cx="2898648" cy="658368"/>
          </a:xfrm>
          <a:prstGeom prst="rect">
            <a:avLst/>
          </a:prstGeom>
          <a:solidFill>
            <a:srgbClr val="123836"/>
          </a:solidFill>
          <a:ln/>
        </p:spPr>
      </p:sp>
      <p:sp>
        <p:nvSpPr>
          <p:cNvPr id="42" name="Text 38"/>
          <p:cNvSpPr/>
          <p:nvPr/>
        </p:nvSpPr>
        <p:spPr>
          <a:xfrm>
            <a:off x="3218688" y="4142232"/>
            <a:ext cx="502920" cy="201168"/>
          </a:xfrm>
          <a:prstGeom prst="rect">
            <a:avLst/>
          </a:prstGeom>
          <a:noFill/>
          <a:ln/>
        </p:spPr>
        <p:txBody>
          <a:bodyPr wrap="square" rtlCol="0" anchor="ctr"/>
          <a:lstStyle/>
          <a:p>
            <a:pPr indent="0" marL="0">
              <a:buNone/>
            </a:pPr>
            <a:r>
              <a:rPr lang="en-US" sz="1000" b="1" dirty="0">
                <a:solidFill>
                  <a:srgbClr val="FFD282"/>
                </a:solidFill>
                <a:latin typeface="Calibri" pitchFamily="34" charset="0"/>
                <a:ea typeface="Calibri" pitchFamily="34" charset="-122"/>
                <a:cs typeface="Calibri" pitchFamily="34" charset="-120"/>
              </a:rPr>
              <a:t>PI28</a:t>
            </a:r>
            <a:endParaRPr lang="en-US" sz="1000" dirty="0"/>
          </a:p>
        </p:txBody>
      </p:sp>
      <p:sp>
        <p:nvSpPr>
          <p:cNvPr id="43" name="Text 39"/>
          <p:cNvSpPr/>
          <p:nvPr/>
        </p:nvSpPr>
        <p:spPr>
          <a:xfrm>
            <a:off x="3749040" y="4133088"/>
            <a:ext cx="2276856" cy="40233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General Ledger Core · Transaction Processing</a:t>
            </a:r>
            <a:endParaRPr lang="en-US" sz="800" dirty="0"/>
          </a:p>
        </p:txBody>
      </p:sp>
      <p:sp>
        <p:nvSpPr>
          <p:cNvPr id="44" name="Shape 40"/>
          <p:cNvSpPr/>
          <p:nvPr/>
        </p:nvSpPr>
        <p:spPr>
          <a:xfrm>
            <a:off x="6025896" y="4114800"/>
            <a:ext cx="2898648" cy="658368"/>
          </a:xfrm>
          <a:prstGeom prst="rect">
            <a:avLst/>
          </a:prstGeom>
          <a:solidFill>
            <a:srgbClr val="1B5E52"/>
          </a:solidFill>
          <a:ln/>
        </p:spPr>
      </p:sp>
      <p:sp>
        <p:nvSpPr>
          <p:cNvPr id="45" name="Text 41"/>
          <p:cNvSpPr/>
          <p:nvPr/>
        </p:nvSpPr>
        <p:spPr>
          <a:xfrm>
            <a:off x="6117336" y="4142232"/>
            <a:ext cx="502920" cy="201168"/>
          </a:xfrm>
          <a:prstGeom prst="rect">
            <a:avLst/>
          </a:prstGeom>
          <a:noFill/>
          <a:ln/>
        </p:spPr>
        <p:txBody>
          <a:bodyPr wrap="square" rtlCol="0" anchor="ctr"/>
          <a:lstStyle/>
          <a:p>
            <a:pPr indent="0" marL="0">
              <a:buNone/>
            </a:pPr>
            <a:r>
              <a:rPr lang="en-US" sz="1000" b="1" dirty="0">
                <a:solidFill>
                  <a:srgbClr val="FFD282"/>
                </a:solidFill>
                <a:latin typeface="Calibri" pitchFamily="34" charset="0"/>
                <a:ea typeface="Calibri" pitchFamily="34" charset="-122"/>
                <a:cs typeface="Calibri" pitchFamily="34" charset="-120"/>
              </a:rPr>
              <a:t>PI29</a:t>
            </a:r>
            <a:endParaRPr lang="en-US" sz="1000" dirty="0"/>
          </a:p>
        </p:txBody>
      </p:sp>
      <p:sp>
        <p:nvSpPr>
          <p:cNvPr id="46" name="Text 42"/>
          <p:cNvSpPr/>
          <p:nvPr/>
        </p:nvSpPr>
        <p:spPr>
          <a:xfrm>
            <a:off x="6647688" y="4133088"/>
            <a:ext cx="2276856" cy="40233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Account Reconciliation · Balance Management</a:t>
            </a:r>
            <a:endParaRPr lang="en-US" sz="800" dirty="0"/>
          </a:p>
        </p:txBody>
      </p:sp>
      <p:sp>
        <p:nvSpPr>
          <p:cNvPr id="47" name="Shape 43"/>
          <p:cNvSpPr/>
          <p:nvPr/>
        </p:nvSpPr>
        <p:spPr>
          <a:xfrm>
            <a:off x="0" y="4617720"/>
            <a:ext cx="9144000" cy="347472"/>
          </a:xfrm>
          <a:prstGeom prst="rect">
            <a:avLst/>
          </a:prstGeom>
          <a:solidFill>
            <a:srgbClr val="123836"/>
          </a:solidFill>
          <a:ln/>
        </p:spPr>
      </p:sp>
      <p:sp>
        <p:nvSpPr>
          <p:cNvPr id="48" name="Shape 44"/>
          <p:cNvSpPr/>
          <p:nvPr/>
        </p:nvSpPr>
        <p:spPr>
          <a:xfrm>
            <a:off x="0" y="4617720"/>
            <a:ext cx="73152" cy="347472"/>
          </a:xfrm>
          <a:prstGeom prst="rect">
            <a:avLst/>
          </a:prstGeom>
          <a:solidFill>
            <a:srgbClr val="FFD282"/>
          </a:solidFill>
          <a:ln/>
        </p:spPr>
      </p:sp>
      <p:sp>
        <p:nvSpPr>
          <p:cNvPr id="49" name="Text 45"/>
          <p:cNvSpPr/>
          <p:nvPr/>
        </p:nvSpPr>
        <p:spPr>
          <a:xfrm>
            <a:off x="137160" y="4617720"/>
            <a:ext cx="8915400" cy="347472"/>
          </a:xfrm>
          <a:prstGeom prst="rect">
            <a:avLst/>
          </a:prstGeom>
          <a:noFill/>
          <a:ln/>
        </p:spPr>
        <p:txBody>
          <a:bodyPr wrap="square" rtlCol="0" anchor="ctr"/>
          <a:lstStyle/>
          <a:p>
            <a:pPr indent="0" marL="0">
              <a:buNone/>
            </a:pPr>
            <a:r>
              <a:rPr lang="en-US" sz="750" dirty="0">
                <a:solidFill>
                  <a:srgbClr val="D0D7D7"/>
                </a:solidFill>
                <a:latin typeface="Calibri" pitchFamily="34" charset="0"/>
                <a:ea typeface="Calibri" pitchFamily="34" charset="-122"/>
                <a:cs typeface="Calibri" pitchFamily="34" charset="-120"/>
              </a:rPr>
              <a:t>Second-largest investment — foundational to revenue assurance   ·   PI28 delivery must be confirmed   ·   All features P1/P2 — no descoping without revenue risk</a:t>
            </a:r>
            <a:endParaRPr lang="en-US" sz="750" dirty="0"/>
          </a:p>
        </p:txBody>
      </p:sp>
      <p:sp>
        <p:nvSpPr>
          <p:cNvPr id="50" name="Shape 46"/>
          <p:cNvSpPr/>
          <p:nvPr/>
        </p:nvSpPr>
        <p:spPr>
          <a:xfrm>
            <a:off x="0" y="4983480"/>
            <a:ext cx="9144000" cy="160020"/>
          </a:xfrm>
          <a:prstGeom prst="rect">
            <a:avLst/>
          </a:prstGeom>
          <a:solidFill>
            <a:srgbClr val="123836"/>
          </a:solidFill>
          <a:ln/>
        </p:spPr>
      </p:sp>
      <p:sp>
        <p:nvSpPr>
          <p:cNvPr id="51" name="Text 47"/>
          <p:cNvSpPr/>
          <p:nvPr/>
        </p:nvSpPr>
        <p:spPr>
          <a:xfrm>
            <a:off x="137160" y="4974336"/>
            <a:ext cx="6400800" cy="164592"/>
          </a:xfrm>
          <a:prstGeom prst="rect">
            <a:avLst/>
          </a:prstGeom>
          <a:noFill/>
          <a:ln/>
        </p:spPr>
        <p:txBody>
          <a:bodyPr wrap="square" rtlCol="0" anchor="ctr"/>
          <a:lstStyle/>
          <a:p>
            <a:pPr indent="0" marL="0">
              <a:buNone/>
            </a:pPr>
            <a:r>
              <a:rPr lang="en-US" sz="800" dirty="0">
                <a:solidFill>
                  <a:srgbClr val="D0D7D7"/>
                </a:solidFill>
                <a:latin typeface="Calibri" pitchFamily="34" charset="0"/>
                <a:ea typeface="Calibri" pitchFamily="34" charset="-122"/>
                <a:cs typeface="Calibri" pitchFamily="34" charset="-120"/>
              </a:rPr>
              <a:t>Solon Tax Product Roadmap 2026 | SteerCo</a:t>
            </a:r>
            <a:endParaRPr lang="en-US" sz="800" dirty="0"/>
          </a:p>
        </p:txBody>
      </p:sp>
      <p:sp>
        <p:nvSpPr>
          <p:cNvPr id="52" name="Text 48"/>
          <p:cNvSpPr/>
          <p:nvPr/>
        </p:nvSpPr>
        <p:spPr>
          <a:xfrm>
            <a:off x="8686800" y="4974336"/>
            <a:ext cx="365760" cy="164592"/>
          </a:xfrm>
          <a:prstGeom prst="rect">
            <a:avLst/>
          </a:prstGeom>
          <a:noFill/>
          <a:ln/>
        </p:spPr>
        <p:txBody>
          <a:bodyPr wrap="square" rtlCol="0" anchor="ctr"/>
          <a:lstStyle/>
          <a:p>
            <a:pPr algn="r" indent="0" marL="0">
              <a:buNone/>
            </a:pPr>
            <a:r>
              <a:rPr lang="en-US" sz="800" dirty="0">
                <a:solidFill>
                  <a:srgbClr val="D0D7D7"/>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6"/>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23836"/>
          </a:solidFill>
          <a:ln/>
        </p:spPr>
      </p:sp>
      <p:sp>
        <p:nvSpPr>
          <p:cNvPr id="3" name="Shape 1"/>
          <p:cNvSpPr/>
          <p:nvPr/>
        </p:nvSpPr>
        <p:spPr>
          <a:xfrm>
            <a:off x="0" y="0"/>
            <a:ext cx="73152" cy="960120"/>
          </a:xfrm>
          <a:prstGeom prst="rect">
            <a:avLst/>
          </a:prstGeom>
          <a:solidFill>
            <a:srgbClr val="FF6359"/>
          </a:solidFill>
          <a:ln/>
        </p:spPr>
      </p:sp>
      <p:sp>
        <p:nvSpPr>
          <p:cNvPr id="4" name="Text 2"/>
          <p:cNvSpPr/>
          <p:nvPr/>
        </p:nvSpPr>
        <p:spPr>
          <a:xfrm>
            <a:off x="182880" y="64008"/>
            <a:ext cx="6400800" cy="50292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Billing, Assessments &amp; Installments</a:t>
            </a:r>
            <a:endParaRPr lang="en-US" sz="2000" dirty="0"/>
          </a:p>
        </p:txBody>
      </p:sp>
      <p:sp>
        <p:nvSpPr>
          <p:cNvPr id="5" name="Text 3"/>
          <p:cNvSpPr/>
          <p:nvPr/>
        </p:nvSpPr>
        <p:spPr>
          <a:xfrm>
            <a:off x="182880" y="548640"/>
            <a:ext cx="8229600" cy="347472"/>
          </a:xfrm>
          <a:prstGeom prst="rect">
            <a:avLst/>
          </a:prstGeom>
          <a:noFill/>
          <a:ln/>
        </p:spPr>
        <p:txBody>
          <a:bodyPr wrap="square" rtlCol="0" anchor="ctr"/>
          <a:lstStyle/>
          <a:p>
            <a:pPr indent="0" marL="0">
              <a:buNone/>
            </a:pPr>
            <a:r>
              <a:rPr lang="en-US" sz="1100" dirty="0">
                <a:solidFill>
                  <a:srgbClr val="73AA87"/>
                </a:solidFill>
                <a:latin typeface="Calibri" pitchFamily="34" charset="0"/>
                <a:ea typeface="Calibri" pitchFamily="34" charset="-122"/>
                <a:cs typeface="Calibri" pitchFamily="34" charset="-120"/>
              </a:rPr>
              <a:t>Core Revenue Management Capabilities | Initiative Detail</a:t>
            </a:r>
            <a:endParaRPr lang="en-US" sz="1100" dirty="0"/>
          </a:p>
        </p:txBody>
      </p:sp>
      <p:sp>
        <p:nvSpPr>
          <p:cNvPr id="6" name="Text 4"/>
          <p:cNvSpPr/>
          <p:nvPr/>
        </p:nvSpPr>
        <p:spPr>
          <a:xfrm>
            <a:off x="6858000" y="73152"/>
            <a:ext cx="2103120" cy="365760"/>
          </a:xfrm>
          <a:prstGeom prst="rect">
            <a:avLst/>
          </a:prstGeom>
          <a:noFill/>
          <a:ln/>
        </p:spPr>
        <p:txBody>
          <a:bodyPr wrap="square" rtlCol="0" anchor="ctr"/>
          <a:lstStyle/>
          <a:p>
            <a:pPr algn="r" indent="0" marL="0">
              <a:buNone/>
            </a:pPr>
            <a:r>
              <a:rPr lang="en-US" sz="1200" b="1" dirty="0">
                <a:solidFill>
                  <a:srgbClr val="73AA87"/>
                </a:solidFill>
                <a:latin typeface="Calibri" pitchFamily="34" charset="0"/>
                <a:ea typeface="Calibri" pitchFamily="34" charset="-122"/>
                <a:cs typeface="Calibri" pitchFamily="34" charset="-120"/>
              </a:rPr>
              <a:t>Netcompany</a:t>
            </a:r>
            <a:endParaRPr lang="en-US" sz="1200" dirty="0"/>
          </a:p>
        </p:txBody>
      </p:sp>
      <p:sp>
        <p:nvSpPr>
          <p:cNvPr id="7" name="Shape 5"/>
          <p:cNvSpPr/>
          <p:nvPr/>
        </p:nvSpPr>
        <p:spPr>
          <a:xfrm>
            <a:off x="228600"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8" name="Shape 6"/>
          <p:cNvSpPr/>
          <p:nvPr/>
        </p:nvSpPr>
        <p:spPr>
          <a:xfrm>
            <a:off x="228600" y="1005840"/>
            <a:ext cx="54864" cy="914400"/>
          </a:xfrm>
          <a:prstGeom prst="rect">
            <a:avLst/>
          </a:prstGeom>
          <a:solidFill>
            <a:srgbClr val="FF6359"/>
          </a:solidFill>
          <a:ln/>
        </p:spPr>
      </p:sp>
      <p:sp>
        <p:nvSpPr>
          <p:cNvPr id="9" name="Text 7"/>
          <p:cNvSpPr/>
          <p:nvPr/>
        </p:nvSpPr>
        <p:spPr>
          <a:xfrm>
            <a:off x="320040"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~2,880</a:t>
            </a:r>
            <a:endParaRPr lang="en-US" sz="2200" dirty="0"/>
          </a:p>
        </p:txBody>
      </p:sp>
      <p:sp>
        <p:nvSpPr>
          <p:cNvPr id="10" name="Text 8"/>
          <p:cNvSpPr/>
          <p:nvPr/>
        </p:nvSpPr>
        <p:spPr>
          <a:xfrm>
            <a:off x="320040"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Hours</a:t>
            </a:r>
            <a:endParaRPr lang="en-US" sz="900" dirty="0"/>
          </a:p>
        </p:txBody>
      </p:sp>
      <p:sp>
        <p:nvSpPr>
          <p:cNvPr id="11" name="Text 9"/>
          <p:cNvSpPr/>
          <p:nvPr/>
        </p:nvSpPr>
        <p:spPr>
          <a:xfrm>
            <a:off x="274320"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Total Estimated Effort</a:t>
            </a:r>
            <a:endParaRPr lang="en-US" sz="900" dirty="0"/>
          </a:p>
        </p:txBody>
      </p:sp>
      <p:sp>
        <p:nvSpPr>
          <p:cNvPr id="12" name="Shape 10"/>
          <p:cNvSpPr/>
          <p:nvPr/>
        </p:nvSpPr>
        <p:spPr>
          <a:xfrm>
            <a:off x="2414016"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13" name="Shape 11"/>
          <p:cNvSpPr/>
          <p:nvPr/>
        </p:nvSpPr>
        <p:spPr>
          <a:xfrm>
            <a:off x="2414016" y="1005840"/>
            <a:ext cx="54864" cy="914400"/>
          </a:xfrm>
          <a:prstGeom prst="rect">
            <a:avLst/>
          </a:prstGeom>
          <a:solidFill>
            <a:srgbClr val="FF6359"/>
          </a:solidFill>
          <a:ln/>
        </p:spPr>
      </p:sp>
      <p:sp>
        <p:nvSpPr>
          <p:cNvPr id="14" name="Text 12"/>
          <p:cNvSpPr/>
          <p:nvPr/>
        </p:nvSpPr>
        <p:spPr>
          <a:xfrm>
            <a:off x="2505456"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5" name="Text 13"/>
          <p:cNvSpPr/>
          <p:nvPr/>
        </p:nvSpPr>
        <p:spPr>
          <a:xfrm>
            <a:off x="2505456"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Count</a:t>
            </a:r>
            <a:endParaRPr lang="en-US" sz="900" dirty="0"/>
          </a:p>
        </p:txBody>
      </p:sp>
      <p:sp>
        <p:nvSpPr>
          <p:cNvPr id="16" name="Text 14"/>
          <p:cNvSpPr/>
          <p:nvPr/>
        </p:nvSpPr>
        <p:spPr>
          <a:xfrm>
            <a:off x="2459736"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Features in Scope</a:t>
            </a:r>
            <a:endParaRPr lang="en-US" sz="900" dirty="0"/>
          </a:p>
        </p:txBody>
      </p:sp>
      <p:sp>
        <p:nvSpPr>
          <p:cNvPr id="17" name="Shape 15"/>
          <p:cNvSpPr/>
          <p:nvPr/>
        </p:nvSpPr>
        <p:spPr>
          <a:xfrm>
            <a:off x="4599432"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18" name="Shape 16"/>
          <p:cNvSpPr/>
          <p:nvPr/>
        </p:nvSpPr>
        <p:spPr>
          <a:xfrm>
            <a:off x="4599432" y="1005840"/>
            <a:ext cx="54864" cy="914400"/>
          </a:xfrm>
          <a:prstGeom prst="rect">
            <a:avLst/>
          </a:prstGeom>
          <a:solidFill>
            <a:srgbClr val="FF6359"/>
          </a:solidFill>
          <a:ln/>
        </p:spPr>
      </p:sp>
      <p:sp>
        <p:nvSpPr>
          <p:cNvPr id="19" name="Text 17"/>
          <p:cNvSpPr/>
          <p:nvPr/>
        </p:nvSpPr>
        <p:spPr>
          <a:xfrm>
            <a:off x="4690872"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P1–P2</a:t>
            </a:r>
            <a:endParaRPr lang="en-US" sz="2200" dirty="0"/>
          </a:p>
        </p:txBody>
      </p:sp>
      <p:sp>
        <p:nvSpPr>
          <p:cNvPr id="20" name="Text 18"/>
          <p:cNvSpPr/>
          <p:nvPr/>
        </p:nvSpPr>
        <p:spPr>
          <a:xfrm>
            <a:off x="4690872"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Must/Should Have</a:t>
            </a:r>
            <a:endParaRPr lang="en-US" sz="900" dirty="0"/>
          </a:p>
        </p:txBody>
      </p:sp>
      <p:sp>
        <p:nvSpPr>
          <p:cNvPr id="21" name="Text 19"/>
          <p:cNvSpPr/>
          <p:nvPr/>
        </p:nvSpPr>
        <p:spPr>
          <a:xfrm>
            <a:off x="4645152"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Primary Priority</a:t>
            </a:r>
            <a:endParaRPr lang="en-US" sz="900" dirty="0"/>
          </a:p>
        </p:txBody>
      </p:sp>
      <p:sp>
        <p:nvSpPr>
          <p:cNvPr id="22" name="Shape 20"/>
          <p:cNvSpPr/>
          <p:nvPr/>
        </p:nvSpPr>
        <p:spPr>
          <a:xfrm>
            <a:off x="6784848" y="1005840"/>
            <a:ext cx="2011680" cy="914400"/>
          </a:xfrm>
          <a:prstGeom prst="rect">
            <a:avLst/>
          </a:prstGeom>
          <a:solidFill>
            <a:srgbClr val="123836"/>
          </a:solidFill>
          <a:ln w="12700">
            <a:solidFill>
              <a:srgbClr val="1B5E52"/>
            </a:solidFill>
            <a:prstDash val="solid"/>
          </a:ln>
          <a:effectLst>
            <a:outerShdw sx="100000" sy="100000" kx="0" ky="0" algn="bl" rotWithShape="0" blurRad="50800" dist="25400" dir="8100000">
              <a:srgbClr val="000000">
                <a:alpha val="12000"/>
              </a:srgbClr>
            </a:outerShdw>
          </a:effectLst>
        </p:spPr>
      </p:sp>
      <p:sp>
        <p:nvSpPr>
          <p:cNvPr id="23" name="Shape 21"/>
          <p:cNvSpPr/>
          <p:nvPr/>
        </p:nvSpPr>
        <p:spPr>
          <a:xfrm>
            <a:off x="6784848" y="1005840"/>
            <a:ext cx="54864" cy="914400"/>
          </a:xfrm>
          <a:prstGeom prst="rect">
            <a:avLst/>
          </a:prstGeom>
          <a:solidFill>
            <a:srgbClr val="FF6359"/>
          </a:solidFill>
          <a:ln/>
        </p:spPr>
      </p:sp>
      <p:sp>
        <p:nvSpPr>
          <p:cNvPr id="24" name="Text 22"/>
          <p:cNvSpPr/>
          <p:nvPr/>
        </p:nvSpPr>
        <p:spPr>
          <a:xfrm>
            <a:off x="6876288" y="1097280"/>
            <a:ext cx="1828800" cy="438912"/>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PI28–PI29</a:t>
            </a:r>
            <a:endParaRPr lang="en-US" sz="2200" dirty="0"/>
          </a:p>
        </p:txBody>
      </p:sp>
      <p:sp>
        <p:nvSpPr>
          <p:cNvPr id="25" name="Text 23"/>
          <p:cNvSpPr/>
          <p:nvPr/>
        </p:nvSpPr>
        <p:spPr>
          <a:xfrm>
            <a:off x="6876288" y="1481328"/>
            <a:ext cx="1828800" cy="201168"/>
          </a:xfrm>
          <a:prstGeom prst="rect">
            <a:avLst/>
          </a:prstGeom>
          <a:noFill/>
          <a:ln/>
        </p:spPr>
        <p:txBody>
          <a:bodyPr wrap="square" rtlCol="0" anchor="ctr"/>
          <a:lstStyle/>
          <a:p>
            <a:pPr algn="ctr" indent="0" marL="0">
              <a:buNone/>
            </a:pPr>
            <a:r>
              <a:rPr lang="en-US" sz="900" dirty="0">
                <a:solidFill>
                  <a:srgbClr val="FFD282"/>
                </a:solidFill>
                <a:latin typeface="Calibri" pitchFamily="34" charset="0"/>
                <a:ea typeface="Calibri" pitchFamily="34" charset="-122"/>
                <a:cs typeface="Calibri" pitchFamily="34" charset="-120"/>
              </a:rPr>
              <a:t>Program Increments</a:t>
            </a:r>
            <a:endParaRPr lang="en-US" sz="900" dirty="0"/>
          </a:p>
        </p:txBody>
      </p:sp>
      <p:sp>
        <p:nvSpPr>
          <p:cNvPr id="26" name="Text 24"/>
          <p:cNvSpPr/>
          <p:nvPr/>
        </p:nvSpPr>
        <p:spPr>
          <a:xfrm>
            <a:off x="6830568" y="1627632"/>
            <a:ext cx="1920240" cy="329184"/>
          </a:xfrm>
          <a:prstGeom prst="rect">
            <a:avLst/>
          </a:prstGeom>
          <a:noFill/>
          <a:ln/>
        </p:spPr>
        <p:txBody>
          <a:bodyPr wrap="square" rtlCol="0" anchor="ctr"/>
          <a:lstStyle/>
          <a:p>
            <a:pPr algn="ctr" indent="0" marL="0">
              <a:buNone/>
            </a:pPr>
            <a:r>
              <a:rPr lang="en-US" sz="900" dirty="0">
                <a:solidFill>
                  <a:srgbClr val="D0D7D7"/>
                </a:solidFill>
                <a:latin typeface="Calibri" pitchFamily="34" charset="0"/>
                <a:ea typeface="Calibri" pitchFamily="34" charset="-122"/>
                <a:cs typeface="Calibri" pitchFamily="34" charset="-120"/>
              </a:rPr>
              <a:t>Planned PI Window</a:t>
            </a:r>
            <a:endParaRPr lang="en-US" sz="900" dirty="0"/>
          </a:p>
        </p:txBody>
      </p:sp>
      <p:sp>
        <p:nvSpPr>
          <p:cNvPr id="27" name="Text 25"/>
          <p:cNvSpPr/>
          <p:nvPr/>
        </p:nvSpPr>
        <p:spPr>
          <a:xfrm>
            <a:off x="228600" y="1965960"/>
            <a:ext cx="274320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Business Scope</a:t>
            </a:r>
            <a:endParaRPr lang="en-US" sz="1000" dirty="0"/>
          </a:p>
        </p:txBody>
      </p:sp>
      <p:sp>
        <p:nvSpPr>
          <p:cNvPr id="28" name="Text 26"/>
          <p:cNvSpPr/>
          <p:nvPr/>
        </p:nvSpPr>
        <p:spPr>
          <a:xfrm>
            <a:off x="228600" y="2212848"/>
            <a:ext cx="2743200" cy="685800"/>
          </a:xfrm>
          <a:prstGeom prst="rect">
            <a:avLst/>
          </a:prstGeom>
          <a:noFill/>
          <a:ln/>
        </p:spPr>
        <p:txBody>
          <a:bodyPr wrap="square" rtlCol="0" anchor="ctr"/>
          <a:lstStyle/>
          <a:p>
            <a:pPr indent="0" marL="0">
              <a:buNone/>
            </a:pPr>
            <a:r>
              <a:rPr lang="en-US" sz="900" dirty="0">
                <a:solidFill>
                  <a:srgbClr val="141E1E"/>
                </a:solidFill>
                <a:latin typeface="Calibri" pitchFamily="34" charset="0"/>
                <a:ea typeface="Calibri" pitchFamily="34" charset="-122"/>
                <a:cs typeface="Calibri" pitchFamily="34" charset="-120"/>
              </a:rPr>
              <a:t>Manages the generation, issuance, and tracking of tax bills and formal assessments, alongside configurable installment plan management. Enables revenue authorities to systematically collect outstanding liabilities while offering structured repayment arrangements to taxpayers.</a:t>
            </a:r>
            <a:endParaRPr lang="en-US" sz="900" dirty="0"/>
          </a:p>
        </p:txBody>
      </p:sp>
      <p:sp>
        <p:nvSpPr>
          <p:cNvPr id="29" name="Text 27"/>
          <p:cNvSpPr/>
          <p:nvPr/>
        </p:nvSpPr>
        <p:spPr>
          <a:xfrm>
            <a:off x="228600" y="2990088"/>
            <a:ext cx="2743200" cy="201168"/>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Key Investment Benefits</a:t>
            </a:r>
            <a:endParaRPr lang="en-US" sz="1000" dirty="0"/>
          </a:p>
        </p:txBody>
      </p:sp>
      <p:sp>
        <p:nvSpPr>
          <p:cNvPr id="30" name="Text 28"/>
          <p:cNvSpPr/>
          <p:nvPr/>
        </p:nvSpPr>
        <p:spPr>
          <a:xfrm>
            <a:off x="228600" y="3218688"/>
            <a:ext cx="2743200" cy="749808"/>
          </a:xfrm>
          <a:prstGeom prst="rect">
            <a:avLst/>
          </a:prstGeom>
          <a:noFill/>
          <a:ln/>
        </p:spPr>
        <p:txBody>
          <a:bodyPr wrap="square" rtlCol="0" anchor="ctr"/>
          <a:lstStyle/>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Automated billing reduces manual officer workload and accelerates revenue collection cycles</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Structured installment plans increase voluntary compliance and recovery rates</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Formal assessment workflows create enforceable legal liability records</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Reduces revenue leakage by ensuring all liabilities are captured and tracked</a:t>
            </a:r>
            <a:endParaRPr lang="en-US" sz="900" dirty="0"/>
          </a:p>
        </p:txBody>
      </p:sp>
      <p:sp>
        <p:nvSpPr>
          <p:cNvPr id="31" name="Text 29"/>
          <p:cNvSpPr/>
          <p:nvPr/>
        </p:nvSpPr>
        <p:spPr>
          <a:xfrm>
            <a:off x="6263640" y="1965960"/>
            <a:ext cx="265176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Priority Distribution</a:t>
            </a:r>
            <a:endParaRPr lang="en-US" sz="1000" dirty="0"/>
          </a:p>
        </p:txBody>
      </p:sp>
      <p:graphicFrame>
        <p:nvGraphicFramePr>
          <p:cNvPr id="32" name="Chart 0" descr=""/>
          <p:cNvGraphicFramePr/>
          <p:nvPr/>
        </p:nvGraphicFramePr>
        <p:xfrm>
          <a:off x="6263640" y="2212848"/>
          <a:ext cx="2651760" cy="914400"/>
        </p:xfrm>
        <a:graphic xmlns:a="http://schemas.openxmlformats.org/drawingml/2006/main">
          <a:graphicData uri="http://schemas.openxmlformats.org/drawingml/2006/chart">
            <c:chart xmlns:c="http://schemas.openxmlformats.org/drawingml/2006/chart" r:id="rId1"/>
          </a:graphicData>
        </a:graphic>
      </p:graphicFrame>
      <p:sp>
        <p:nvSpPr>
          <p:cNvPr id="33" name="Text 30"/>
          <p:cNvSpPr/>
          <p:nvPr/>
        </p:nvSpPr>
        <p:spPr>
          <a:xfrm>
            <a:off x="3108960" y="3931920"/>
            <a:ext cx="3017520" cy="228600"/>
          </a:xfrm>
          <a:prstGeom prst="rect">
            <a:avLst/>
          </a:prstGeom>
          <a:noFill/>
          <a:ln/>
        </p:spPr>
        <p:txBody>
          <a:bodyPr wrap="square" rtlCol="0" anchor="ctr"/>
          <a:lstStyle/>
          <a:p>
            <a:pPr indent="0" marL="0">
              <a:buNone/>
            </a:pPr>
            <a:r>
              <a:rPr lang="en-US" sz="1000" b="1" dirty="0">
                <a:solidFill>
                  <a:srgbClr val="FF6359"/>
                </a:solidFill>
                <a:latin typeface="Calibri" pitchFamily="34" charset="0"/>
                <a:ea typeface="Calibri" pitchFamily="34" charset="-122"/>
                <a:cs typeface="Calibri" pitchFamily="34" charset="-120"/>
              </a:rPr>
              <a:t>Talking Points</a:t>
            </a:r>
            <a:endParaRPr lang="en-US" sz="1000" dirty="0"/>
          </a:p>
        </p:txBody>
      </p:sp>
      <p:sp>
        <p:nvSpPr>
          <p:cNvPr id="34" name="Text 31"/>
          <p:cNvSpPr/>
          <p:nvPr/>
        </p:nvSpPr>
        <p:spPr>
          <a:xfrm>
            <a:off x="3108960" y="4160520"/>
            <a:ext cx="3017520" cy="640080"/>
          </a:xfrm>
          <a:prstGeom prst="rect">
            <a:avLst/>
          </a:prstGeom>
          <a:noFill/>
          <a:ln/>
        </p:spPr>
        <p:txBody>
          <a:bodyPr wrap="square" rtlCol="0" anchor="ctr"/>
          <a:lstStyle/>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Billing and assessments are prerequisites for collections — sequence with Registration PI delivery</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Installment plan scope is small and can provide quick win value in PI29</a:t>
            </a:r>
            <a:endParaRPr lang="en-US" sz="900" dirty="0"/>
          </a:p>
          <a:p>
            <a:pPr marL="342900" indent="-342900">
              <a:buSzPct val="100000"/>
              <a:buChar char="•"/>
            </a:pPr>
            <a:r>
              <a:rPr lang="en-US" sz="900" dirty="0">
                <a:solidFill>
                  <a:srgbClr val="4A5C5A"/>
                </a:solidFill>
                <a:latin typeface="Calibri" pitchFamily="34" charset="0"/>
                <a:ea typeface="Calibri" pitchFamily="34" charset="-122"/>
                <a:cs typeface="Calibri" pitchFamily="34" charset="-120"/>
              </a:rPr>
              <a:t>No features currently started — PI28 kickoff planning required immediately</a:t>
            </a:r>
            <a:endParaRPr lang="en-US" sz="900" dirty="0"/>
          </a:p>
        </p:txBody>
      </p:sp>
      <p:sp>
        <p:nvSpPr>
          <p:cNvPr id="35" name="Shape 32"/>
          <p:cNvSpPr/>
          <p:nvPr/>
        </p:nvSpPr>
        <p:spPr>
          <a:xfrm>
            <a:off x="0" y="4617720"/>
            <a:ext cx="9144000" cy="347472"/>
          </a:xfrm>
          <a:prstGeom prst="rect">
            <a:avLst/>
          </a:prstGeom>
          <a:solidFill>
            <a:srgbClr val="123836"/>
          </a:solidFill>
          <a:ln/>
        </p:spPr>
      </p:sp>
      <p:sp>
        <p:nvSpPr>
          <p:cNvPr id="36" name="Shape 33"/>
          <p:cNvSpPr/>
          <p:nvPr/>
        </p:nvSpPr>
        <p:spPr>
          <a:xfrm>
            <a:off x="0" y="4617720"/>
            <a:ext cx="73152" cy="347472"/>
          </a:xfrm>
          <a:prstGeom prst="rect">
            <a:avLst/>
          </a:prstGeom>
          <a:solidFill>
            <a:srgbClr val="FFD282"/>
          </a:solidFill>
          <a:ln/>
        </p:spPr>
      </p:sp>
      <p:sp>
        <p:nvSpPr>
          <p:cNvPr id="37" name="Text 34"/>
          <p:cNvSpPr/>
          <p:nvPr/>
        </p:nvSpPr>
        <p:spPr>
          <a:xfrm>
            <a:off x="137160" y="4617720"/>
            <a:ext cx="8915400" cy="347472"/>
          </a:xfrm>
          <a:prstGeom prst="rect">
            <a:avLst/>
          </a:prstGeom>
          <a:noFill/>
          <a:ln/>
        </p:spPr>
        <p:txBody>
          <a:bodyPr wrap="square" rtlCol="0" anchor="ctr"/>
          <a:lstStyle/>
          <a:p>
            <a:pPr indent="0" marL="0">
              <a:buNone/>
            </a:pPr>
            <a:r>
              <a:rPr lang="en-US" sz="750" dirty="0">
                <a:solidFill>
                  <a:srgbClr val="D0D7D7"/>
                </a:solidFill>
                <a:latin typeface="Calibri" pitchFamily="34" charset="0"/>
                <a:ea typeface="Calibri" pitchFamily="34" charset="-122"/>
                <a:cs typeface="Calibri" pitchFamily="34" charset="-120"/>
              </a:rPr>
              <a:t>Prerequisite for collections — sequence with Registration   ·   Installment plans = quick win in PI29   ·   No work started — PI28 kickoff required now</a:t>
            </a:r>
            <a:endParaRPr lang="en-US" sz="750" dirty="0"/>
          </a:p>
        </p:txBody>
      </p:sp>
      <p:sp>
        <p:nvSpPr>
          <p:cNvPr id="38" name="Shape 35"/>
          <p:cNvSpPr/>
          <p:nvPr/>
        </p:nvSpPr>
        <p:spPr>
          <a:xfrm>
            <a:off x="0" y="4983480"/>
            <a:ext cx="9144000" cy="160020"/>
          </a:xfrm>
          <a:prstGeom prst="rect">
            <a:avLst/>
          </a:prstGeom>
          <a:solidFill>
            <a:srgbClr val="123836"/>
          </a:solidFill>
          <a:ln/>
        </p:spPr>
      </p:sp>
      <p:sp>
        <p:nvSpPr>
          <p:cNvPr id="39" name="Text 36"/>
          <p:cNvSpPr/>
          <p:nvPr/>
        </p:nvSpPr>
        <p:spPr>
          <a:xfrm>
            <a:off x="137160" y="4974336"/>
            <a:ext cx="6400800" cy="164592"/>
          </a:xfrm>
          <a:prstGeom prst="rect">
            <a:avLst/>
          </a:prstGeom>
          <a:noFill/>
          <a:ln/>
        </p:spPr>
        <p:txBody>
          <a:bodyPr wrap="square" rtlCol="0" anchor="ctr"/>
          <a:lstStyle/>
          <a:p>
            <a:pPr indent="0" marL="0">
              <a:buNone/>
            </a:pPr>
            <a:r>
              <a:rPr lang="en-US" sz="800" dirty="0">
                <a:solidFill>
                  <a:srgbClr val="D0D7D7"/>
                </a:solidFill>
                <a:latin typeface="Calibri" pitchFamily="34" charset="0"/>
                <a:ea typeface="Calibri" pitchFamily="34" charset="-122"/>
                <a:cs typeface="Calibri" pitchFamily="34" charset="-120"/>
              </a:rPr>
              <a:t>Solon Tax Product Roadmap 2026 | SteerCo</a:t>
            </a:r>
            <a:endParaRPr lang="en-US" sz="800" dirty="0"/>
          </a:p>
        </p:txBody>
      </p:sp>
      <p:sp>
        <p:nvSpPr>
          <p:cNvPr id="40" name="Text 37"/>
          <p:cNvSpPr/>
          <p:nvPr/>
        </p:nvSpPr>
        <p:spPr>
          <a:xfrm>
            <a:off x="8686800" y="4974336"/>
            <a:ext cx="365760" cy="164592"/>
          </a:xfrm>
          <a:prstGeom prst="rect">
            <a:avLst/>
          </a:prstGeom>
          <a:noFill/>
          <a:ln/>
        </p:spPr>
        <p:txBody>
          <a:bodyPr wrap="square" rtlCol="0" anchor="ctr"/>
          <a:lstStyle/>
          <a:p>
            <a:pPr algn="r" indent="0" marL="0">
              <a:buNone/>
            </a:pPr>
            <a:r>
              <a:rPr lang="en-US" sz="800" dirty="0">
                <a:solidFill>
                  <a:srgbClr val="D0D7D7"/>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3836"/>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F6359"/>
          </a:solidFill>
          <a:ln/>
        </p:spPr>
      </p:sp>
      <p:sp>
        <p:nvSpPr>
          <p:cNvPr id="3" name="Shape 1"/>
          <p:cNvSpPr/>
          <p:nvPr/>
        </p:nvSpPr>
        <p:spPr>
          <a:xfrm>
            <a:off x="0" y="4434840"/>
            <a:ext cx="9144000" cy="708660"/>
          </a:xfrm>
          <a:prstGeom prst="rect">
            <a:avLst/>
          </a:prstGeom>
          <a:solidFill>
            <a:srgbClr val="0A2422"/>
          </a:solidFill>
          <a:ln/>
        </p:spPr>
      </p:sp>
      <p:sp>
        <p:nvSpPr>
          <p:cNvPr id="4" name="Text 2"/>
          <p:cNvSpPr/>
          <p:nvPr/>
        </p:nvSpPr>
        <p:spPr>
          <a:xfrm>
            <a:off x="320040" y="274320"/>
            <a:ext cx="8503920" cy="594360"/>
          </a:xfrm>
          <a:prstGeom prst="rect">
            <a:avLst/>
          </a:prstGeom>
          <a:noFill/>
          <a:ln/>
        </p:spPr>
        <p:txBody>
          <a:bodyPr wrap="square"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Next Steps &amp; Decision Points</a:t>
            </a:r>
            <a:endParaRPr lang="en-US" sz="2800" dirty="0"/>
          </a:p>
        </p:txBody>
      </p:sp>
      <p:sp>
        <p:nvSpPr>
          <p:cNvPr id="5" name="Text 3"/>
          <p:cNvSpPr/>
          <p:nvPr/>
        </p:nvSpPr>
        <p:spPr>
          <a:xfrm>
            <a:off x="320040" y="868680"/>
            <a:ext cx="8503920" cy="320040"/>
          </a:xfrm>
          <a:prstGeom prst="rect">
            <a:avLst/>
          </a:prstGeom>
          <a:noFill/>
          <a:ln/>
        </p:spPr>
        <p:txBody>
          <a:bodyPr wrap="square" rtlCol="0" anchor="ctr"/>
          <a:lstStyle/>
          <a:p>
            <a:pPr indent="0" marL="0">
              <a:buNone/>
            </a:pPr>
            <a:r>
              <a:rPr lang="en-US" sz="1300" dirty="0">
                <a:solidFill>
                  <a:srgbClr val="73AA87"/>
                </a:solidFill>
                <a:latin typeface="Calibri" pitchFamily="34" charset="0"/>
                <a:ea typeface="Calibri" pitchFamily="34" charset="-122"/>
                <a:cs typeface="Calibri" pitchFamily="34" charset="-120"/>
              </a:rPr>
              <a:t>Solon Tax Product Roadmap 2026 | SteerCo Session — 29 April 2026</a:t>
            </a:r>
            <a:endParaRPr lang="en-US" sz="1300" dirty="0"/>
          </a:p>
        </p:txBody>
      </p:sp>
      <p:sp>
        <p:nvSpPr>
          <p:cNvPr id="6" name="Shape 4"/>
          <p:cNvSpPr/>
          <p:nvPr/>
        </p:nvSpPr>
        <p:spPr>
          <a:xfrm>
            <a:off x="320040" y="1325880"/>
            <a:ext cx="8503920" cy="658368"/>
          </a:xfrm>
          <a:prstGeom prst="rect">
            <a:avLst/>
          </a:prstGeom>
          <a:solidFill>
            <a:srgbClr val="1B5E52"/>
          </a:solidFill>
          <a:ln/>
        </p:spPr>
      </p:sp>
      <p:sp>
        <p:nvSpPr>
          <p:cNvPr id="7" name="Shape 5"/>
          <p:cNvSpPr/>
          <p:nvPr/>
        </p:nvSpPr>
        <p:spPr>
          <a:xfrm>
            <a:off x="320040" y="1325880"/>
            <a:ext cx="54864" cy="658368"/>
          </a:xfrm>
          <a:prstGeom prst="rect">
            <a:avLst/>
          </a:prstGeom>
          <a:solidFill>
            <a:srgbClr val="FFD282"/>
          </a:solidFill>
          <a:ln/>
        </p:spPr>
      </p:sp>
      <p:sp>
        <p:nvSpPr>
          <p:cNvPr id="8" name="Text 6"/>
          <p:cNvSpPr/>
          <p:nvPr/>
        </p:nvSpPr>
        <p:spPr>
          <a:xfrm>
            <a:off x="411480" y="1399032"/>
            <a:ext cx="365760" cy="457200"/>
          </a:xfrm>
          <a:prstGeom prst="rect">
            <a:avLst/>
          </a:prstGeom>
          <a:noFill/>
          <a:ln/>
        </p:spPr>
        <p:txBody>
          <a:bodyPr wrap="square" rtlCol="0" anchor="ctr"/>
          <a:lstStyle/>
          <a:p>
            <a:pPr indent="0" marL="0">
              <a:buNone/>
            </a:pPr>
            <a:r>
              <a:rPr lang="en-US" sz="1800" b="1" dirty="0">
                <a:solidFill>
                  <a:srgbClr val="FFD282"/>
                </a:solidFill>
              </a:rPr>
              <a:t>01</a:t>
            </a:r>
            <a:endParaRPr lang="en-US" sz="1800" dirty="0"/>
          </a:p>
        </p:txBody>
      </p:sp>
      <p:sp>
        <p:nvSpPr>
          <p:cNvPr id="9" name="Text 7"/>
          <p:cNvSpPr/>
          <p:nvPr/>
        </p:nvSpPr>
        <p:spPr>
          <a:xfrm>
            <a:off x="822960" y="1417320"/>
            <a:ext cx="7955280" cy="256032"/>
          </a:xfrm>
          <a:prstGeom prst="rect">
            <a:avLst/>
          </a:prstGeom>
          <a:noFill/>
          <a:ln/>
        </p:spPr>
        <p:txBody>
          <a:bodyPr wrap="square" rtlCol="0" anchor="ctr"/>
          <a:lstStyle/>
          <a:p>
            <a:pPr indent="0" marL="0">
              <a:buNone/>
            </a:pPr>
            <a:r>
              <a:rPr lang="en-US" sz="1100" b="1" dirty="0">
                <a:solidFill>
                  <a:srgbClr val="FFFFFF"/>
                </a:solidFill>
              </a:rPr>
              <a:t>Confirm PI28 Capacity</a:t>
            </a:r>
            <a:endParaRPr lang="en-US" sz="1100" dirty="0"/>
          </a:p>
        </p:txBody>
      </p:sp>
      <p:sp>
        <p:nvSpPr>
          <p:cNvPr id="10" name="Text 8"/>
          <p:cNvSpPr/>
          <p:nvPr/>
        </p:nvSpPr>
        <p:spPr>
          <a:xfrm>
            <a:off x="822960" y="1691640"/>
            <a:ext cx="7955280" cy="256032"/>
          </a:xfrm>
          <a:prstGeom prst="rect">
            <a:avLst/>
          </a:prstGeom>
          <a:noFill/>
          <a:ln/>
        </p:spPr>
        <p:txBody>
          <a:bodyPr wrap="square" rtlCol="0" anchor="ctr"/>
          <a:lstStyle/>
          <a:p>
            <a:pPr indent="0" marL="0">
              <a:buNone/>
            </a:pPr>
            <a:r>
              <a:rPr lang="en-US" sz="900" dirty="0">
                <a:solidFill>
                  <a:srgbClr val="D0D7D7"/>
                </a:solidFill>
              </a:rPr>
              <a:t>Validate delivery team capacity for Registration, Taxpayer Accounting, and Billing features planned in PI28. Flag any resource constraints to product leadership.</a:t>
            </a:r>
            <a:endParaRPr lang="en-US" sz="900" dirty="0"/>
          </a:p>
        </p:txBody>
      </p:sp>
      <p:sp>
        <p:nvSpPr>
          <p:cNvPr id="11" name="Shape 9"/>
          <p:cNvSpPr/>
          <p:nvPr/>
        </p:nvSpPr>
        <p:spPr>
          <a:xfrm>
            <a:off x="320040" y="2075688"/>
            <a:ext cx="8503920" cy="658368"/>
          </a:xfrm>
          <a:prstGeom prst="rect">
            <a:avLst/>
          </a:prstGeom>
          <a:solidFill>
            <a:srgbClr val="1B5E52"/>
          </a:solidFill>
          <a:ln/>
        </p:spPr>
      </p:sp>
      <p:sp>
        <p:nvSpPr>
          <p:cNvPr id="12" name="Shape 10"/>
          <p:cNvSpPr/>
          <p:nvPr/>
        </p:nvSpPr>
        <p:spPr>
          <a:xfrm>
            <a:off x="320040" y="2075688"/>
            <a:ext cx="54864" cy="658368"/>
          </a:xfrm>
          <a:prstGeom prst="rect">
            <a:avLst/>
          </a:prstGeom>
          <a:solidFill>
            <a:srgbClr val="FFD282"/>
          </a:solidFill>
          <a:ln/>
        </p:spPr>
      </p:sp>
      <p:sp>
        <p:nvSpPr>
          <p:cNvPr id="13" name="Text 11"/>
          <p:cNvSpPr/>
          <p:nvPr/>
        </p:nvSpPr>
        <p:spPr>
          <a:xfrm>
            <a:off x="411480" y="2148840"/>
            <a:ext cx="365760" cy="457200"/>
          </a:xfrm>
          <a:prstGeom prst="rect">
            <a:avLst/>
          </a:prstGeom>
          <a:noFill/>
          <a:ln/>
        </p:spPr>
        <p:txBody>
          <a:bodyPr wrap="square" rtlCol="0" anchor="ctr"/>
          <a:lstStyle/>
          <a:p>
            <a:pPr indent="0" marL="0">
              <a:buNone/>
            </a:pPr>
            <a:r>
              <a:rPr lang="en-US" sz="1800" b="1" dirty="0">
                <a:solidFill>
                  <a:srgbClr val="FFD282"/>
                </a:solidFill>
              </a:rPr>
              <a:t>02</a:t>
            </a:r>
            <a:endParaRPr lang="en-US" sz="1800" dirty="0"/>
          </a:p>
        </p:txBody>
      </p:sp>
      <p:sp>
        <p:nvSpPr>
          <p:cNvPr id="14" name="Text 12"/>
          <p:cNvSpPr/>
          <p:nvPr/>
        </p:nvSpPr>
        <p:spPr>
          <a:xfrm>
            <a:off x="822960" y="2167128"/>
            <a:ext cx="7955280" cy="256032"/>
          </a:xfrm>
          <a:prstGeom prst="rect">
            <a:avLst/>
          </a:prstGeom>
          <a:noFill/>
          <a:ln/>
        </p:spPr>
        <p:txBody>
          <a:bodyPr wrap="square" rtlCol="0" anchor="ctr"/>
          <a:lstStyle/>
          <a:p>
            <a:pPr indent="0" marL="0">
              <a:buNone/>
            </a:pPr>
            <a:r>
              <a:rPr lang="en-US" sz="1100" b="1" dirty="0">
                <a:solidFill>
                  <a:srgbClr val="FFFFFF"/>
                </a:solidFill>
              </a:rPr>
              <a:t>Estimate Penalty &amp; Interest + Tax Accounts</a:t>
            </a:r>
            <a:endParaRPr lang="en-US" sz="1100" dirty="0"/>
          </a:p>
        </p:txBody>
      </p:sp>
      <p:sp>
        <p:nvSpPr>
          <p:cNvPr id="15" name="Text 13"/>
          <p:cNvSpPr/>
          <p:nvPr/>
        </p:nvSpPr>
        <p:spPr>
          <a:xfrm>
            <a:off x="822960" y="2441448"/>
            <a:ext cx="7955280" cy="256032"/>
          </a:xfrm>
          <a:prstGeom prst="rect">
            <a:avLst/>
          </a:prstGeom>
          <a:noFill/>
          <a:ln/>
        </p:spPr>
        <p:txBody>
          <a:bodyPr wrap="square" rtlCol="0" anchor="ctr"/>
          <a:lstStyle/>
          <a:p>
            <a:pPr indent="0" marL="0">
              <a:buNone/>
            </a:pPr>
            <a:r>
              <a:rPr lang="en-US" sz="900" dirty="0">
                <a:solidFill>
                  <a:srgbClr val="D0D7D7"/>
                </a:solidFill>
              </a:rPr>
              <a:t>Both initiatives are P1/P2 with TBD effort estimates. Scope clarification sessions must be scheduled before PI28 planning begins.</a:t>
            </a:r>
            <a:endParaRPr lang="en-US" sz="900" dirty="0"/>
          </a:p>
        </p:txBody>
      </p:sp>
      <p:sp>
        <p:nvSpPr>
          <p:cNvPr id="16" name="Shape 14"/>
          <p:cNvSpPr/>
          <p:nvPr/>
        </p:nvSpPr>
        <p:spPr>
          <a:xfrm>
            <a:off x="320040" y="2825496"/>
            <a:ext cx="8503920" cy="658368"/>
          </a:xfrm>
          <a:prstGeom prst="rect">
            <a:avLst/>
          </a:prstGeom>
          <a:solidFill>
            <a:srgbClr val="1B5E52"/>
          </a:solidFill>
          <a:ln/>
        </p:spPr>
      </p:sp>
      <p:sp>
        <p:nvSpPr>
          <p:cNvPr id="17" name="Shape 15"/>
          <p:cNvSpPr/>
          <p:nvPr/>
        </p:nvSpPr>
        <p:spPr>
          <a:xfrm>
            <a:off x="320040" y="2825496"/>
            <a:ext cx="54864" cy="658368"/>
          </a:xfrm>
          <a:prstGeom prst="rect">
            <a:avLst/>
          </a:prstGeom>
          <a:solidFill>
            <a:srgbClr val="FFD282"/>
          </a:solidFill>
          <a:ln/>
        </p:spPr>
      </p:sp>
      <p:sp>
        <p:nvSpPr>
          <p:cNvPr id="18" name="Text 16"/>
          <p:cNvSpPr/>
          <p:nvPr/>
        </p:nvSpPr>
        <p:spPr>
          <a:xfrm>
            <a:off x="411480" y="2898648"/>
            <a:ext cx="365760" cy="457200"/>
          </a:xfrm>
          <a:prstGeom prst="rect">
            <a:avLst/>
          </a:prstGeom>
          <a:noFill/>
          <a:ln/>
        </p:spPr>
        <p:txBody>
          <a:bodyPr wrap="square" rtlCol="0" anchor="ctr"/>
          <a:lstStyle/>
          <a:p>
            <a:pPr indent="0" marL="0">
              <a:buNone/>
            </a:pPr>
            <a:r>
              <a:rPr lang="en-US" sz="1800" b="1" dirty="0">
                <a:solidFill>
                  <a:srgbClr val="FFD282"/>
                </a:solidFill>
              </a:rPr>
              <a:t>03</a:t>
            </a:r>
            <a:endParaRPr lang="en-US" sz="1800" dirty="0"/>
          </a:p>
        </p:txBody>
      </p:sp>
      <p:sp>
        <p:nvSpPr>
          <p:cNvPr id="19" name="Text 17"/>
          <p:cNvSpPr/>
          <p:nvPr/>
        </p:nvSpPr>
        <p:spPr>
          <a:xfrm>
            <a:off x="822960" y="2916936"/>
            <a:ext cx="7955280" cy="256032"/>
          </a:xfrm>
          <a:prstGeom prst="rect">
            <a:avLst/>
          </a:prstGeom>
          <a:noFill/>
          <a:ln/>
        </p:spPr>
        <p:txBody>
          <a:bodyPr wrap="square" rtlCol="0" anchor="ctr"/>
          <a:lstStyle/>
          <a:p>
            <a:pPr indent="0" marL="0">
              <a:buNone/>
            </a:pPr>
            <a:r>
              <a:rPr lang="en-US" sz="1100" b="1" dirty="0">
                <a:solidFill>
                  <a:srgbClr val="FFFFFF"/>
                </a:solidFill>
              </a:rPr>
              <a:t>Approve PI29 Scope for Registration</a:t>
            </a:r>
            <a:endParaRPr lang="en-US" sz="1100" dirty="0"/>
          </a:p>
        </p:txBody>
      </p:sp>
      <p:sp>
        <p:nvSpPr>
          <p:cNvPr id="20" name="Text 18"/>
          <p:cNvSpPr/>
          <p:nvPr/>
        </p:nvSpPr>
        <p:spPr>
          <a:xfrm>
            <a:off x="822960" y="3191256"/>
            <a:ext cx="7955280" cy="256032"/>
          </a:xfrm>
          <a:prstGeom prst="rect">
            <a:avLst/>
          </a:prstGeom>
          <a:noFill/>
          <a:ln/>
        </p:spPr>
        <p:txBody>
          <a:bodyPr wrap="square" rtlCol="0" anchor="ctr"/>
          <a:lstStyle/>
          <a:p>
            <a:pPr indent="0" marL="0">
              <a:buNone/>
            </a:pPr>
            <a:r>
              <a:rPr lang="en-US" sz="900" dirty="0">
                <a:solidFill>
                  <a:srgbClr val="D0D7D7"/>
                </a:solidFill>
              </a:rPr>
              <a:t>Organisational Hierarchy View feature requires SteerCo alignment on priority and GRC team availability for PI29 delivery confirmation.</a:t>
            </a:r>
            <a:endParaRPr lang="en-US" sz="900" dirty="0"/>
          </a:p>
        </p:txBody>
      </p:sp>
      <p:sp>
        <p:nvSpPr>
          <p:cNvPr id="21" name="Shape 19"/>
          <p:cNvSpPr/>
          <p:nvPr/>
        </p:nvSpPr>
        <p:spPr>
          <a:xfrm>
            <a:off x="320040" y="3575304"/>
            <a:ext cx="8503920" cy="658368"/>
          </a:xfrm>
          <a:prstGeom prst="rect">
            <a:avLst/>
          </a:prstGeom>
          <a:solidFill>
            <a:srgbClr val="1B5E52"/>
          </a:solidFill>
          <a:ln/>
        </p:spPr>
      </p:sp>
      <p:sp>
        <p:nvSpPr>
          <p:cNvPr id="22" name="Shape 20"/>
          <p:cNvSpPr/>
          <p:nvPr/>
        </p:nvSpPr>
        <p:spPr>
          <a:xfrm>
            <a:off x="320040" y="3575304"/>
            <a:ext cx="54864" cy="658368"/>
          </a:xfrm>
          <a:prstGeom prst="rect">
            <a:avLst/>
          </a:prstGeom>
          <a:solidFill>
            <a:srgbClr val="FFD282"/>
          </a:solidFill>
          <a:ln/>
        </p:spPr>
      </p:sp>
      <p:sp>
        <p:nvSpPr>
          <p:cNvPr id="23" name="Text 21"/>
          <p:cNvSpPr/>
          <p:nvPr/>
        </p:nvSpPr>
        <p:spPr>
          <a:xfrm>
            <a:off x="411480" y="3648456"/>
            <a:ext cx="365760" cy="457200"/>
          </a:xfrm>
          <a:prstGeom prst="rect">
            <a:avLst/>
          </a:prstGeom>
          <a:noFill/>
          <a:ln/>
        </p:spPr>
        <p:txBody>
          <a:bodyPr wrap="square" rtlCol="0" anchor="ctr"/>
          <a:lstStyle/>
          <a:p>
            <a:pPr indent="0" marL="0">
              <a:buNone/>
            </a:pPr>
            <a:r>
              <a:rPr lang="en-US" sz="1800" b="1" dirty="0">
                <a:solidFill>
                  <a:srgbClr val="FFD282"/>
                </a:solidFill>
              </a:rPr>
              <a:t>04</a:t>
            </a:r>
            <a:endParaRPr lang="en-US" sz="1800" dirty="0"/>
          </a:p>
        </p:txBody>
      </p:sp>
      <p:sp>
        <p:nvSpPr>
          <p:cNvPr id="24" name="Text 22"/>
          <p:cNvSpPr/>
          <p:nvPr/>
        </p:nvSpPr>
        <p:spPr>
          <a:xfrm>
            <a:off x="822960" y="3666744"/>
            <a:ext cx="7955280" cy="256032"/>
          </a:xfrm>
          <a:prstGeom prst="rect">
            <a:avLst/>
          </a:prstGeom>
          <a:noFill/>
          <a:ln/>
        </p:spPr>
        <p:txBody>
          <a:bodyPr wrap="square" rtlCol="0" anchor="ctr"/>
          <a:lstStyle/>
          <a:p>
            <a:pPr indent="0" marL="0">
              <a:buNone/>
            </a:pPr>
            <a:r>
              <a:rPr lang="en-US" sz="1100" b="1" dirty="0">
                <a:solidFill>
                  <a:srgbClr val="FFFFFF"/>
                </a:solidFill>
              </a:rPr>
              <a:t>Advance Exemptions as Quick Win</a:t>
            </a:r>
            <a:endParaRPr lang="en-US" sz="1100" dirty="0"/>
          </a:p>
        </p:txBody>
      </p:sp>
      <p:sp>
        <p:nvSpPr>
          <p:cNvPr id="25" name="Text 23"/>
          <p:cNvSpPr/>
          <p:nvPr/>
        </p:nvSpPr>
        <p:spPr>
          <a:xfrm>
            <a:off x="822960" y="3941064"/>
            <a:ext cx="7955280" cy="256032"/>
          </a:xfrm>
          <a:prstGeom prst="rect">
            <a:avLst/>
          </a:prstGeom>
          <a:noFill/>
          <a:ln/>
        </p:spPr>
        <p:txBody>
          <a:bodyPr wrap="square" rtlCol="0" anchor="ctr"/>
          <a:lstStyle/>
          <a:p>
            <a:pPr indent="0" marL="0">
              <a:buNone/>
            </a:pPr>
            <a:r>
              <a:rPr lang="en-US" sz="900" dirty="0">
                <a:solidFill>
                  <a:srgbClr val="D0D7D7"/>
                </a:solidFill>
              </a:rPr>
              <a:t>Small scope, P2 initiative with clear value. Recommend advancing delivery to PI28 to demonstrate early value to Greek Project stakeholders.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Solon Tax Product Roadmap 2026 – Feature Catalog</dc:title>
  <dc:subject>PptxGenJS Presentation</dc:subject>
  <dc:creator>Nikolaj</dc:creator>
  <cp:lastModifiedBy>Nikolaj</cp:lastModifiedBy>
  <cp:revision>1</cp:revision>
  <dcterms:created xsi:type="dcterms:W3CDTF">2026-04-09T06:10:14Z</dcterms:created>
  <dcterms:modified xsi:type="dcterms:W3CDTF">2026-04-09T06:10:14Z</dcterms:modified>
</cp:coreProperties>
</file>