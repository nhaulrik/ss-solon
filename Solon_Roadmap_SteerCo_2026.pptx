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7.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FF6359"/>
              </a:solidFill>
              <a:effectLst/>
            </c:spPr>
          </c:dPt>
          <c:dPt>
            <c:idx val="1"/>
            <c:bubble3D val="0"/>
            <c:spPr>
              <a:solidFill>
                <a:srgbClr val="FFD282"/>
              </a:solidFill>
              <a:effectLst/>
            </c:spPr>
          </c:dPt>
          <c:dPt>
            <c:idx val="2"/>
            <c:bubble3D val="0"/>
            <c:spPr>
              <a:solidFill>
                <a:srgbClr val="73AA87"/>
              </a:solidFill>
              <a:effectLst/>
            </c:spPr>
          </c:dPt>
          <c:dLbls>
            <c:dLbl>
              <c:idx val="0"/>
              <c:numFmt formatCode="0%" sourceLinked="0"/>
              <c:spPr/>
              <c:txPr>
                <a:bodyPr/>
                <a:lstStyle/>
                <a:p>
                  <a:pPr>
                    <a:defRPr sz="9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To Do</c:v>
                </c:pt>
                <c:pt idx="1">
                  <c:v>In Progress</c:v>
                </c:pt>
                <c:pt idx="2">
                  <c:v>Done</c:v>
                </c:pt>
              </c:strCache>
            </c:strRef>
          </c:cat>
          <c:val>
            <c:numRef>
              <c:f>Sheet1!$B$2:$B$4</c:f>
              <c:numCache>
                <c:ptCount val="3"/>
                <c:pt idx="0">
                  <c:v>85</c:v>
                </c:pt>
                <c:pt idx="1">
                  <c:v>10</c:v>
                </c:pt>
                <c:pt idx="2">
                  <c:v>5</c:v>
                </c:pt>
              </c:numCache>
            </c:numRef>
          </c:val>
        </c:ser>
        <c:firstSliceAng val="0"/>
        <c:holeSize val="55"/>
      </c:doughnutChart>
      <c:spPr>
        <a:noFill/>
        <a:ln>
          <a:noFill/>
        </a:ln>
        <a:effectLst/>
      </c:spPr>
    </c:plotArea>
    <c:legend>
      <c:legendPos val="b"/>
      <c:overlay val="0"/>
      <c:txPr>
        <a:bodyPr/>
        <a:lstStyle/>
        <a:p>
          <a:pPr>
            <a:defRPr sz="800">
              <a:solidFill>
                <a:srgbClr val="4A5C5A"/>
              </a:solidFill>
            </a:defRPr>
          </a:pPr>
          <a:endParaRPr lang="en-US"/>
        </a:p>
      </c:txPr>
    </c:legend>
    <c:plotVisOnly val="1"/>
    <c:dispBlanksAs val="span"/>
  </c:chart>
  <c:spPr>
    <a:solidFill>
      <a:srgbClr val="F4F6F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Hours</c:v>
                </c:pt>
              </c:strCache>
            </c:strRef>
          </c:tx>
          <c:spPr>
            <a:solidFill>
              <a:srgbClr val="1B5E52"/>
            </a:solidFill>
            <a:effectLst/>
          </c:spPr>
          <c:invertIfNegative val="0"/>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Party Identifiers</c:v>
                  </c:pt>
                  <c:pt idx="1">
                    <c:v>Org. Hierarchy View</c:v>
                  </c:pt>
                  <c:pt idx="2">
                    <c:v>Search Enhancements</c:v>
                  </c:pt>
                  <c:pt idx="3">
                    <c:v>Data Area Enhancements</c:v>
                  </c:pt>
                  <c:pt idx="4">
                    <c:v>Historical Data View</c:v>
                  </c:pt>
                  <c:pt idx="5">
                    <c:v>Additional Name Elems</c:v>
                  </c:pt>
                </c:lvl>
              </c:multiLvlStrCache>
            </c:multiLvlStrRef>
          </c:cat>
          <c:val>
            <c:numRef>
              <c:f>Sheet1!$B$2:$B$7</c:f>
              <c:numCache>
                <c:formatCode>General</c:formatCode>
                <c:ptCount val="6"/>
                <c:pt idx="0">
                  <c:v>3200</c:v>
                </c:pt>
                <c:pt idx="1">
                  <c:v>2800</c:v>
                </c:pt>
                <c:pt idx="2">
                  <c:v>2100</c:v>
                </c:pt>
                <c:pt idx="3">
                  <c:v>1900</c:v>
                </c:pt>
                <c:pt idx="4">
                  <c:v>1100</c:v>
                </c:pt>
                <c:pt idx="5">
                  <c:v>766</c:v>
                </c:pt>
              </c:numCache>
            </c:numRef>
          </c:val>
        </c:ser>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4A5C5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0E8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4A5C5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6F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Priority</c:v>
                </c:pt>
              </c:strCache>
            </c:strRef>
          </c:tx>
          <c:spPr>
            <a:solidFill>
              <a:schemeClr val="accent1"/>
            </a:solidFill>
            <a:ln w="9525" cap="flat">
              <a:solidFill>
                <a:srgbClr val="F9F9F9"/>
              </a:solidFill>
              <a:prstDash val="solid"/>
              <a:round/>
            </a:ln>
            <a:effectLst/>
          </c:spPr>
          <c:dPt>
            <c:idx val="0"/>
            <c:bubble3D val="0"/>
            <c:spPr>
              <a:solidFill>
                <a:srgbClr val="123836"/>
              </a:solidFill>
              <a:effectLst/>
            </c:spPr>
          </c:dPt>
          <c:dPt>
            <c:idx val="1"/>
            <c:bubble3D val="0"/>
            <c:spPr>
              <a:solidFill>
                <a:srgbClr val="1B5E52"/>
              </a:solidFill>
              <a:effectLst/>
            </c:spPr>
          </c:dPt>
          <c:dPt>
            <c:idx val="2"/>
            <c:bubble3D val="0"/>
            <c:spPr>
              <a:solidFill>
                <a:srgbClr val="73AA87"/>
              </a:solidFill>
              <a:effectLst/>
            </c:spPr>
          </c:dPt>
          <c:dLbls>
            <c:dLbl>
              <c:idx val="0"/>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P1 – Must Have</c:v>
                </c:pt>
                <c:pt idx="1">
                  <c:v>P2 – Should Have</c:v>
                </c:pt>
                <c:pt idx="2">
                  <c:v>P3 – Nice to Have</c:v>
                </c:pt>
              </c:strCache>
            </c:strRef>
          </c:cat>
          <c:val>
            <c:numRef>
              <c:f>Sheet1!$B$2:$B$4</c:f>
              <c:numCache>
                <c:ptCount val="3"/>
                <c:pt idx="0">
                  <c:v>70</c:v>
                </c:pt>
                <c:pt idx="1">
                  <c:v>20</c:v>
                </c:pt>
                <c:pt idx="2">
                  <c:v>10</c:v>
                </c:pt>
              </c:numCache>
            </c:numRef>
          </c:val>
        </c:ser>
        <c:firstSliceAng val="0"/>
        <c:holeSize val="55"/>
      </c:doughnutChart>
      <c:spPr>
        <a:noFill/>
        <a:ln>
          <a:noFill/>
        </a:ln>
        <a:effectLst/>
      </c:spPr>
    </c:plotArea>
    <c:legend>
      <c:legendPos val="r"/>
      <c:overlay val="0"/>
      <c:txPr>
        <a:bodyPr/>
        <a:lstStyle/>
        <a:p>
          <a:pPr>
            <a:defRPr sz="700">      </a:defRPr>
          </a:pPr>
          <a:endParaRPr lang="en-US"/>
        </a:p>
      </c:txPr>
    </c:legend>
    <c:plotVisOnly val="1"/>
    <c:dispBlanksAs val="span"/>
  </c:chart>
  <c:spPr>
    <a:solidFill>
      <a:srgbClr val="F4F6F6"/>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Requesters</c:v>
                </c:pt>
              </c:strCache>
            </c:strRef>
          </c:tx>
          <c:spPr>
            <a:solidFill>
              <a:schemeClr val="accent1"/>
            </a:solidFill>
            <a:ln w="9525" cap="flat">
              <a:solidFill>
                <a:srgbClr val="F9F9F9"/>
              </a:solidFill>
              <a:prstDash val="solid"/>
              <a:round/>
            </a:ln>
            <a:effectLst/>
          </c:spPr>
          <c:dPt>
            <c:idx val="0"/>
            <c:bubble3D val="0"/>
            <c:spPr>
              <a:solidFill>
                <a:srgbClr val="123836"/>
              </a:solidFill>
              <a:effectLst/>
            </c:spPr>
          </c:dPt>
          <c:dPt>
            <c:idx val="1"/>
            <c:bubble3D val="0"/>
            <c:spPr>
              <a:solidFill>
                <a:srgbClr val="FF6359"/>
              </a:solidFill>
              <a:effectLst/>
            </c:spPr>
          </c:dPt>
          <c:dPt>
            <c:idx val="2"/>
            <c:bubble3D val="0"/>
            <c:spPr>
              <a:solidFill>
                <a:srgbClr val="718886"/>
              </a:solidFill>
              <a:effectLst/>
            </c:spPr>
          </c:dPt>
          <c:dLbls>
            <c:dLbl>
              <c:idx val="0"/>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Greek Project (GRC)</c:v>
                </c:pt>
                <c:pt idx="1">
                  <c:v>Go-To-Market (GTM)</c:v>
                </c:pt>
                <c:pt idx="2">
                  <c:v>Other</c:v>
                </c:pt>
              </c:strCache>
            </c:strRef>
          </c:cat>
          <c:val>
            <c:numRef>
              <c:f>Sheet1!$B$2:$B$4</c:f>
              <c:numCache>
                <c:ptCount val="3"/>
                <c:pt idx="0">
                  <c:v>80</c:v>
                </c:pt>
                <c:pt idx="1">
                  <c:v>10</c:v>
                </c:pt>
                <c:pt idx="2">
                  <c:v>10</c:v>
                </c:pt>
              </c:numCache>
            </c:numRef>
          </c:val>
        </c:ser>
        <c:firstSliceAng val="0"/>
      </c:pieChart>
      <c:spPr>
        <a:noFill/>
        <a:ln>
          <a:noFill/>
        </a:ln>
        <a:effectLst/>
      </c:spPr>
    </c:plotArea>
    <c:legend>
      <c:legendPos val="r"/>
      <c:overlay val="0"/>
      <c:txPr>
        <a:bodyPr/>
        <a:lstStyle/>
        <a:p>
          <a:pPr>
            <a:defRPr sz="700">      </a:defRPr>
          </a:pPr>
          <a:endParaRPr lang="en-US"/>
        </a:p>
      </c:txPr>
    </c:legend>
    <c:plotVisOnly val="1"/>
    <c:dispBlanksAs val="span"/>
  </c:chart>
  <c:spPr>
    <a:solidFill>
      <a:srgbClr val="F4F6F6"/>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Hours</c:v>
                </c:pt>
              </c:strCache>
            </c:strRef>
          </c:tx>
          <c:spPr>
            <a:solidFill>
              <a:srgbClr val="1B5E52"/>
            </a:solidFill>
            <a:effectLst/>
          </c:spPr>
          <c:invertIfNegative val="0"/>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General Ledger Core</c:v>
                  </c:pt>
                  <c:pt idx="1">
                    <c:v>Transaction Processing</c:v>
                  </c:pt>
                  <c:pt idx="2">
                    <c:v>Account Reconciliation</c:v>
                  </c:pt>
                  <c:pt idx="3">
                    <c:v>Balance Management</c:v>
                  </c:pt>
                </c:lvl>
              </c:multiLvlStrCache>
            </c:multiLvlStrRef>
          </c:cat>
          <c:val>
            <c:numRef>
              <c:f>Sheet1!$B$2:$B$5</c:f>
              <c:numCache>
                <c:formatCode>General</c:formatCode>
                <c:ptCount val="4"/>
                <c:pt idx="0">
                  <c:v>2800</c:v>
                </c:pt>
                <c:pt idx="1">
                  <c:v>2400</c:v>
                </c:pt>
                <c:pt idx="2">
                  <c:v>1664</c:v>
                </c:pt>
                <c:pt idx="3">
                  <c:v>1200</c:v>
                </c:pt>
              </c:numCache>
            </c:numRef>
          </c:val>
        </c:ser>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4A5C5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0E8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4A5C5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6F6"/>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Priority</c:v>
                </c:pt>
              </c:strCache>
            </c:strRef>
          </c:tx>
          <c:spPr>
            <a:solidFill>
              <a:schemeClr val="accent1"/>
            </a:solidFill>
            <a:ln w="9525" cap="flat">
              <a:solidFill>
                <a:srgbClr val="F9F9F9"/>
              </a:solidFill>
              <a:prstDash val="solid"/>
              <a:round/>
            </a:ln>
            <a:effectLst/>
          </c:spPr>
          <c:dPt>
            <c:idx val="0"/>
            <c:bubble3D val="0"/>
            <c:spPr>
              <a:solidFill>
                <a:srgbClr val="123836"/>
              </a:solidFill>
              <a:effectLst/>
            </c:spPr>
          </c:dPt>
          <c:dPt>
            <c:idx val="1"/>
            <c:bubble3D val="0"/>
            <c:spPr>
              <a:solidFill>
                <a:srgbClr val="1B5E52"/>
              </a:solidFill>
              <a:effectLst/>
            </c:spPr>
          </c:dPt>
          <c:dLbls>
            <c:dLbl>
              <c:idx val="0"/>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P1 – Must Have</c:v>
                </c:pt>
                <c:pt idx="1">
                  <c:v>P2 – Should Have</c:v>
                </c:pt>
              </c:strCache>
            </c:strRef>
          </c:cat>
          <c:val>
            <c:numRef>
              <c:f>Sheet1!$B$2:$B$3</c:f>
              <c:numCache>
                <c:ptCount val="2"/>
                <c:pt idx="0">
                  <c:v>75</c:v>
                </c:pt>
                <c:pt idx="1">
                  <c:v>25</c:v>
                </c:pt>
              </c:numCache>
            </c:numRef>
          </c:val>
        </c:ser>
        <c:firstSliceAng val="0"/>
        <c:holeSize val="55"/>
      </c:doughnutChart>
      <c:spPr>
        <a:noFill/>
        <a:ln>
          <a:noFill/>
        </a:ln>
        <a:effectLst/>
      </c:spPr>
    </c:plotArea>
    <c:legend>
      <c:legendPos val="r"/>
      <c:overlay val="0"/>
      <c:txPr>
        <a:bodyPr/>
        <a:lstStyle/>
        <a:p>
          <a:pPr>
            <a:defRPr sz="700">      </a:defRPr>
          </a:pPr>
          <a:endParaRPr lang="en-US"/>
        </a:p>
      </c:txPr>
    </c:legend>
    <c:plotVisOnly val="1"/>
    <c:dispBlanksAs val="span"/>
  </c:chart>
  <c:spPr>
    <a:solidFill>
      <a:srgbClr val="F4F6F6"/>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Priority</c:v>
                </c:pt>
              </c:strCache>
            </c:strRef>
          </c:tx>
          <c:spPr>
            <a:solidFill>
              <a:schemeClr val="accent1"/>
            </a:solidFill>
            <a:ln w="9525" cap="flat">
              <a:solidFill>
                <a:srgbClr val="F9F9F9"/>
              </a:solidFill>
              <a:prstDash val="solid"/>
              <a:round/>
            </a:ln>
            <a:effectLst/>
          </c:spPr>
          <c:dPt>
            <c:idx val="0"/>
            <c:bubble3D val="0"/>
            <c:spPr>
              <a:solidFill>
                <a:srgbClr val="123836"/>
              </a:solidFill>
              <a:effectLst/>
            </c:spPr>
          </c:dPt>
          <c:dPt>
            <c:idx val="1"/>
            <c:bubble3D val="0"/>
            <c:spPr>
              <a:solidFill>
                <a:srgbClr val="73AA87"/>
              </a:solidFill>
              <a:effectLst/>
            </c:spPr>
          </c:dPt>
          <c:dLbls>
            <c:dLbl>
              <c:idx val="0"/>
              <c:numFmt formatCode="0%" sourceLinked="0"/>
              <c:spPr/>
              <c:txPr>
                <a:bodyPr/>
                <a:lstStyle/>
                <a:p>
                  <a:pPr>
                    <a:defRPr sz="9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P1 – Must Have</c:v>
                </c:pt>
                <c:pt idx="1">
                  <c:v>P2 – Should Have</c:v>
                </c:pt>
              </c:strCache>
            </c:strRef>
          </c:cat>
          <c:val>
            <c:numRef>
              <c:f>Sheet1!$B$2:$B$3</c:f>
              <c:numCache>
                <c:ptCount val="2"/>
                <c:pt idx="0">
                  <c:v>67</c:v>
                </c:pt>
                <c:pt idx="1">
                  <c:v>33</c:v>
                </c:pt>
              </c:numCache>
            </c:numRef>
          </c:val>
        </c:ser>
        <c:firstSliceAng val="0"/>
        <c:holeSize val="55"/>
      </c:doughnutChart>
      <c:spPr>
        <a:noFill/>
        <a:ln>
          <a:noFill/>
        </a:ln>
        <a:effectLst/>
      </c:spPr>
    </c:plotArea>
    <c:legend>
      <c:legendPos val="b"/>
      <c:overlay val="0"/>
      <c:txPr>
        <a:bodyPr/>
        <a:lstStyle/>
        <a:p>
          <a:pPr>
            <a:defRPr sz="700">      </a:defRPr>
          </a:pPr>
          <a:endParaRPr lang="en-US"/>
        </a:p>
      </c:txPr>
    </c:legend>
    <c:plotVisOnly val="1"/>
    <c:dispBlanksAs val="span"/>
  </c:chart>
  <c:spPr>
    <a:solidFill>
      <a:srgbClr val="F4F6F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836"/>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F6359"/>
          </a:solidFill>
          <a:ln w="12700">
            <a:solidFill>
              <a:srgbClr val="FF6359"/>
            </a:solidFill>
            <a:prstDash val="solid"/>
          </a:ln>
        </p:spPr>
      </p:sp>
      <p:sp>
        <p:nvSpPr>
          <p:cNvPr id="3" name="Shape 1"/>
          <p:cNvSpPr/>
          <p:nvPr/>
        </p:nvSpPr>
        <p:spPr>
          <a:xfrm>
            <a:off x="0" y="4297680"/>
            <a:ext cx="9144000" cy="845820"/>
          </a:xfrm>
          <a:prstGeom prst="rect">
            <a:avLst/>
          </a:prstGeom>
          <a:solidFill>
            <a:srgbClr val="0A2422"/>
          </a:solidFill>
          <a:ln w="12700">
            <a:solidFill>
              <a:srgbClr val="0A2422"/>
            </a:solidFill>
            <a:prstDash val="solid"/>
          </a:ln>
        </p:spPr>
      </p:sp>
      <p:sp>
        <p:nvSpPr>
          <p:cNvPr id="4" name="Text 2"/>
          <p:cNvSpPr/>
          <p:nvPr/>
        </p:nvSpPr>
        <p:spPr>
          <a:xfrm>
            <a:off x="457200" y="1097280"/>
            <a:ext cx="7772400" cy="77724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Solon Tax Product Roadmap 2026</a:t>
            </a:r>
            <a:endParaRPr lang="en-US" sz="3600" dirty="0"/>
          </a:p>
        </p:txBody>
      </p:sp>
      <p:sp>
        <p:nvSpPr>
          <p:cNvPr id="5" name="Text 3"/>
          <p:cNvSpPr/>
          <p:nvPr/>
        </p:nvSpPr>
        <p:spPr>
          <a:xfrm>
            <a:off x="457200" y="1874520"/>
            <a:ext cx="7315200" cy="502920"/>
          </a:xfrm>
          <a:prstGeom prst="rect">
            <a:avLst/>
          </a:prstGeom>
          <a:noFill/>
          <a:ln/>
        </p:spPr>
        <p:txBody>
          <a:bodyPr wrap="square" lIns="0" tIns="0" rIns="0" bIns="0" rtlCol="0" anchor="ctr"/>
          <a:lstStyle/>
          <a:p>
            <a:pPr indent="0" marL="0">
              <a:buNone/>
            </a:pPr>
            <a:r>
              <a:rPr lang="en-US" sz="2200" dirty="0">
                <a:solidFill>
                  <a:srgbClr val="73AA87"/>
                </a:solidFill>
                <a:latin typeface="Calibri" pitchFamily="34" charset="0"/>
                <a:ea typeface="Calibri" pitchFamily="34" charset="-122"/>
                <a:cs typeface="Calibri" pitchFamily="34" charset="-120"/>
              </a:rPr>
              <a:t>Feature Catalog for SteerCo</a:t>
            </a:r>
            <a:endParaRPr lang="en-US" sz="2200" dirty="0"/>
          </a:p>
        </p:txBody>
      </p:sp>
      <p:sp>
        <p:nvSpPr>
          <p:cNvPr id="6" name="Text 4"/>
          <p:cNvSpPr/>
          <p:nvPr/>
        </p:nvSpPr>
        <p:spPr>
          <a:xfrm>
            <a:off x="457200" y="2423160"/>
            <a:ext cx="7315200" cy="365760"/>
          </a:xfrm>
          <a:prstGeom prst="rect">
            <a:avLst/>
          </a:prstGeom>
          <a:noFill/>
          <a:ln/>
        </p:spPr>
        <p:txBody>
          <a:bodyPr wrap="square" lIns="0" tIns="0" rIns="0" bIns="0" rtlCol="0" anchor="ctr"/>
          <a:lstStyle/>
          <a:p>
            <a:pPr indent="0" marL="0">
              <a:buNone/>
            </a:pPr>
            <a:r>
              <a:rPr lang="en-US" sz="1400" dirty="0">
                <a:solidFill>
                  <a:srgbClr val="D0D7D7"/>
                </a:solidFill>
                <a:latin typeface="Calibri" pitchFamily="34" charset="0"/>
                <a:ea typeface="Calibri" pitchFamily="34" charset="-122"/>
                <a:cs typeface="Calibri" pitchFamily="34" charset="-120"/>
              </a:rPr>
              <a:t>Executive Steering Committee | 29 April 2026</a:t>
            </a:r>
            <a:endParaRPr lang="en-US" sz="1400" dirty="0"/>
          </a:p>
        </p:txBody>
      </p:sp>
      <p:sp>
        <p:nvSpPr>
          <p:cNvPr id="7" name="Text 5"/>
          <p:cNvSpPr/>
          <p:nvPr/>
        </p:nvSpPr>
        <p:spPr>
          <a:xfrm>
            <a:off x="457200" y="2880360"/>
            <a:ext cx="7315200" cy="320040"/>
          </a:xfrm>
          <a:prstGeom prst="rect">
            <a:avLst/>
          </a:prstGeom>
          <a:noFill/>
          <a:ln/>
        </p:spPr>
        <p:txBody>
          <a:bodyPr wrap="square" lIns="0" tIns="0" rIns="0" bIns="0" rtlCol="0" anchor="ctr"/>
          <a:lstStyle/>
          <a:p>
            <a:pPr indent="0" marL="0">
              <a:buNone/>
            </a:pPr>
            <a:r>
              <a:rPr lang="en-US" sz="1200" dirty="0">
                <a:solidFill>
                  <a:srgbClr val="718886"/>
                </a:solidFill>
                <a:latin typeface="Calibri" pitchFamily="34" charset="0"/>
                <a:ea typeface="Calibri" pitchFamily="34" charset="-122"/>
                <a:cs typeface="Calibri" pitchFamily="34" charset="-120"/>
              </a:rPr>
              <a:t>Prepared by: Nikolaj</a:t>
            </a:r>
            <a:endParaRPr lang="en-US" sz="1200" dirty="0"/>
          </a:p>
        </p:txBody>
      </p:sp>
      <p:sp>
        <p:nvSpPr>
          <p:cNvPr id="8" name="Text 6"/>
          <p:cNvSpPr/>
          <p:nvPr/>
        </p:nvSpPr>
        <p:spPr>
          <a:xfrm>
            <a:off x="6400800" y="4343400"/>
            <a:ext cx="2560320" cy="365760"/>
          </a:xfrm>
          <a:prstGeom prst="rect">
            <a:avLst/>
          </a:prstGeom>
          <a:noFill/>
          <a:ln/>
        </p:spPr>
        <p:txBody>
          <a:bodyPr wrap="square" lIns="0" tIns="0" rIns="0" bIns="0" rtlCol="0" anchor="ctr"/>
          <a:lstStyle/>
          <a:p>
            <a:pPr algn="r" indent="0" marL="0">
              <a:buNone/>
            </a:pPr>
            <a:r>
              <a:rPr lang="en-US" sz="1600" b="1" dirty="0">
                <a:solidFill>
                  <a:srgbClr val="73AA87"/>
                </a:solidFill>
                <a:latin typeface="Calibri" pitchFamily="34" charset="0"/>
                <a:ea typeface="Calibri" pitchFamily="34" charset="-122"/>
                <a:cs typeface="Calibri" pitchFamily="34" charset="-120"/>
              </a:rPr>
              <a:t>Netcompany</a:t>
            </a:r>
            <a:endParaRPr lang="en-US" sz="1600" dirty="0"/>
          </a:p>
        </p:txBody>
      </p:sp>
      <p:sp>
        <p:nvSpPr>
          <p:cNvPr id="9" name="Text 7"/>
          <p:cNvSpPr/>
          <p:nvPr/>
        </p:nvSpPr>
        <p:spPr>
          <a:xfrm>
            <a:off x="6400800" y="4663440"/>
            <a:ext cx="2560320" cy="274320"/>
          </a:xfrm>
          <a:prstGeom prst="rect">
            <a:avLst/>
          </a:prstGeom>
          <a:noFill/>
          <a:ln/>
        </p:spPr>
        <p:txBody>
          <a:bodyPr wrap="square" lIns="0" tIns="0" rIns="0" bIns="0" rtlCol="0" anchor="ctr"/>
          <a:lstStyle/>
          <a:p>
            <a:pPr algn="r" indent="0" marL="0">
              <a:buNone/>
            </a:pPr>
            <a:r>
              <a:rPr lang="en-US" sz="1000" dirty="0">
                <a:solidFill>
                  <a:srgbClr val="718886"/>
                </a:solidFill>
                <a:latin typeface="Calibri" pitchFamily="34" charset="0"/>
                <a:ea typeface="Calibri" pitchFamily="34" charset="-122"/>
                <a:cs typeface="Calibri" pitchFamily="34" charset="-120"/>
              </a:rPr>
              <a:t>netcompany.com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23836"/>
          </a:solidFill>
          <a:ln w="12700">
            <a:solidFill>
              <a:srgbClr val="123836"/>
            </a:solidFill>
            <a:prstDash val="solid"/>
          </a:ln>
        </p:spPr>
      </p:sp>
      <p:sp>
        <p:nvSpPr>
          <p:cNvPr id="3" name="Shape 1"/>
          <p:cNvSpPr/>
          <p:nvPr/>
        </p:nvSpPr>
        <p:spPr>
          <a:xfrm>
            <a:off x="0" y="0"/>
            <a:ext cx="73152" cy="960120"/>
          </a:xfrm>
          <a:prstGeom prst="rect">
            <a:avLst/>
          </a:prstGeom>
          <a:solidFill>
            <a:srgbClr val="FF6359"/>
          </a:solidFill>
          <a:ln w="12700">
            <a:solidFill>
              <a:srgbClr val="FF6359"/>
            </a:solidFill>
            <a:prstDash val="solid"/>
          </a:ln>
        </p:spPr>
      </p:sp>
      <p:sp>
        <p:nvSpPr>
          <p:cNvPr id="4" name="Text 2"/>
          <p:cNvSpPr/>
          <p:nvPr/>
        </p:nvSpPr>
        <p:spPr>
          <a:xfrm>
            <a:off x="182880" y="64008"/>
            <a:ext cx="64008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Agenda</a:t>
            </a:r>
            <a:endParaRPr lang="en-US" sz="2000" dirty="0"/>
          </a:p>
        </p:txBody>
      </p:sp>
      <p:sp>
        <p:nvSpPr>
          <p:cNvPr id="5" name="Text 3"/>
          <p:cNvSpPr/>
          <p:nvPr/>
        </p:nvSpPr>
        <p:spPr>
          <a:xfrm>
            <a:off x="182880" y="548640"/>
            <a:ext cx="8229600" cy="347472"/>
          </a:xfrm>
          <a:prstGeom prst="rect">
            <a:avLst/>
          </a:prstGeom>
          <a:noFill/>
          <a:ln/>
        </p:spPr>
        <p:txBody>
          <a:bodyPr wrap="square" lIns="0" tIns="0" rIns="0" bIns="0" rtlCol="0" anchor="ctr"/>
          <a:lstStyle/>
          <a:p>
            <a:pPr indent="0" marL="0">
              <a:buNone/>
            </a:pPr>
            <a:r>
              <a:rPr lang="en-US" sz="1100" dirty="0">
                <a:solidFill>
                  <a:srgbClr val="73AA87"/>
                </a:solidFill>
                <a:latin typeface="Calibri" pitchFamily="34" charset="0"/>
                <a:ea typeface="Calibri" pitchFamily="34" charset="-122"/>
                <a:cs typeface="Calibri" pitchFamily="34" charset="-120"/>
              </a:rPr>
              <a:t>Solon Tax Product Roadmap 2026 — SteerCo Session</a:t>
            </a:r>
            <a:endParaRPr lang="en-US" sz="1100" dirty="0"/>
          </a:p>
        </p:txBody>
      </p:sp>
      <p:sp>
        <p:nvSpPr>
          <p:cNvPr id="6" name="Text 4"/>
          <p:cNvSpPr/>
          <p:nvPr/>
        </p:nvSpPr>
        <p:spPr>
          <a:xfrm>
            <a:off x="6858000" y="73152"/>
            <a:ext cx="2103120" cy="365760"/>
          </a:xfrm>
          <a:prstGeom prst="rect">
            <a:avLst/>
          </a:prstGeom>
          <a:noFill/>
          <a:ln/>
        </p:spPr>
        <p:txBody>
          <a:bodyPr wrap="square" lIns="0" tIns="0" rIns="0" bIns="0" rtlCol="0" anchor="ctr"/>
          <a:lstStyle/>
          <a:p>
            <a:pPr algn="r" indent="0" marL="0">
              <a:buNone/>
            </a:pPr>
            <a:r>
              <a:rPr lang="en-US" sz="1200" b="1" dirty="0">
                <a:solidFill>
                  <a:srgbClr val="73AA87"/>
                </a:solidFill>
                <a:latin typeface="Calibri" pitchFamily="34" charset="0"/>
                <a:ea typeface="Calibri" pitchFamily="34" charset="-122"/>
                <a:cs typeface="Calibri" pitchFamily="34" charset="-120"/>
              </a:rPr>
              <a:t>Netcompany</a:t>
            </a:r>
            <a:endParaRPr lang="en-US" sz="1200" dirty="0"/>
          </a:p>
        </p:txBody>
      </p:sp>
      <p:sp>
        <p:nvSpPr>
          <p:cNvPr id="7" name="Shape 5"/>
          <p:cNvSpPr/>
          <p:nvPr/>
        </p:nvSpPr>
        <p:spPr>
          <a:xfrm>
            <a:off x="0" y="4983480"/>
            <a:ext cx="9144000" cy="160020"/>
          </a:xfrm>
          <a:prstGeom prst="rect">
            <a:avLst/>
          </a:prstGeom>
          <a:solidFill>
            <a:srgbClr val="123836"/>
          </a:solidFill>
          <a:ln w="12700">
            <a:solidFill>
              <a:srgbClr val="123836"/>
            </a:solidFill>
            <a:prstDash val="solid"/>
          </a:ln>
        </p:spPr>
      </p:sp>
      <p:sp>
        <p:nvSpPr>
          <p:cNvPr id="8" name="Text 6"/>
          <p:cNvSpPr/>
          <p:nvPr/>
        </p:nvSpPr>
        <p:spPr>
          <a:xfrm>
            <a:off x="137160" y="4974336"/>
            <a:ext cx="6400800" cy="164592"/>
          </a:xfrm>
          <a:prstGeom prst="rect">
            <a:avLst/>
          </a:prstGeom>
          <a:noFill/>
          <a:ln/>
        </p:spPr>
        <p:txBody>
          <a:bodyPr wrap="square" lIns="0" tIns="0" rIns="0" bIns="0" rtlCol="0" anchor="ctr"/>
          <a:lstStyle/>
          <a:p>
            <a:pPr indent="0" marL="0">
              <a:buNone/>
            </a:pPr>
            <a:r>
              <a:rPr lang="en-US" sz="800" dirty="0">
                <a:solidFill>
                  <a:srgbClr val="D0D7D7"/>
                </a:solidFill>
                <a:latin typeface="Calibri" pitchFamily="34" charset="0"/>
                <a:ea typeface="Calibri" pitchFamily="34" charset="-122"/>
                <a:cs typeface="Calibri" pitchFamily="34" charset="-120"/>
              </a:rPr>
              <a:t>Solon Tax Product Roadmap 2026 | SteerCo</a:t>
            </a:r>
            <a:endParaRPr lang="en-US" sz="800" dirty="0"/>
          </a:p>
        </p:txBody>
      </p:sp>
      <p:sp>
        <p:nvSpPr>
          <p:cNvPr id="9" name="Text 7"/>
          <p:cNvSpPr/>
          <p:nvPr/>
        </p:nvSpPr>
        <p:spPr>
          <a:xfrm>
            <a:off x="8686800" y="4974336"/>
            <a:ext cx="365760" cy="164592"/>
          </a:xfrm>
          <a:prstGeom prst="rect">
            <a:avLst/>
          </a:prstGeom>
          <a:noFill/>
          <a:ln/>
        </p:spPr>
        <p:txBody>
          <a:bodyPr wrap="square" lIns="0" tIns="0" rIns="0" bIns="0" rtlCol="0" anchor="ctr"/>
          <a:lstStyle/>
          <a:p>
            <a:pPr algn="r" indent="0" marL="0">
              <a:buNone/>
            </a:pPr>
            <a:r>
              <a:rPr lang="en-US" sz="800" dirty="0">
                <a:solidFill>
                  <a:srgbClr val="D0D7D7"/>
                </a:solidFill>
                <a:latin typeface="Calibri" pitchFamily="34" charset="0"/>
                <a:ea typeface="Calibri" pitchFamily="34" charset="-122"/>
                <a:cs typeface="Calibri" pitchFamily="34" charset="-120"/>
              </a:rPr>
              <a:t>2</a:t>
            </a:r>
            <a:endParaRPr lang="en-US" sz="800" dirty="0"/>
          </a:p>
        </p:txBody>
      </p:sp>
      <p:sp>
        <p:nvSpPr>
          <p:cNvPr id="10" name="Shape 8"/>
          <p:cNvSpPr/>
          <p:nvPr/>
        </p:nvSpPr>
        <p:spPr>
          <a:xfrm>
            <a:off x="228600" y="1051560"/>
            <a:ext cx="4297680" cy="1097280"/>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228600" y="1051560"/>
            <a:ext cx="54864" cy="1097280"/>
          </a:xfrm>
          <a:prstGeom prst="rect">
            <a:avLst/>
          </a:prstGeom>
          <a:solidFill>
            <a:srgbClr val="FF6359"/>
          </a:solidFill>
          <a:ln w="12700">
            <a:solidFill>
              <a:srgbClr val="FF6359"/>
            </a:solidFill>
            <a:prstDash val="solid"/>
          </a:ln>
        </p:spPr>
      </p:sp>
      <p:sp>
        <p:nvSpPr>
          <p:cNvPr id="12" name="Text 10"/>
          <p:cNvSpPr/>
          <p:nvPr/>
        </p:nvSpPr>
        <p:spPr>
          <a:xfrm>
            <a:off x="338328" y="1124712"/>
            <a:ext cx="457200" cy="365760"/>
          </a:xfrm>
          <a:prstGeom prst="rect">
            <a:avLst/>
          </a:prstGeom>
          <a:noFill/>
          <a:ln/>
        </p:spPr>
        <p:txBody>
          <a:bodyPr wrap="square" lIns="0" tIns="0" rIns="0" bIns="0" rtlCol="0" anchor="ctr"/>
          <a:lstStyle/>
          <a:p>
            <a:pPr indent="0" marL="0">
              <a:buNone/>
            </a:pPr>
            <a:r>
              <a:rPr lang="en-US" sz="2000" b="1" dirty="0">
                <a:solidFill>
                  <a:srgbClr val="73AA87"/>
                </a:solidFill>
                <a:latin typeface="Calibri" pitchFamily="34" charset="0"/>
                <a:ea typeface="Calibri" pitchFamily="34" charset="-122"/>
                <a:cs typeface="Calibri" pitchFamily="34" charset="-120"/>
              </a:rPr>
              <a:t>01</a:t>
            </a:r>
            <a:endParaRPr lang="en-US" sz="2000" dirty="0"/>
          </a:p>
        </p:txBody>
      </p:sp>
      <p:sp>
        <p:nvSpPr>
          <p:cNvPr id="13" name="Text 11"/>
          <p:cNvSpPr/>
          <p:nvPr/>
        </p:nvSpPr>
        <p:spPr>
          <a:xfrm>
            <a:off x="338328" y="1435608"/>
            <a:ext cx="4069080" cy="347472"/>
          </a:xfrm>
          <a:prstGeom prst="rect">
            <a:avLst/>
          </a:prstGeom>
          <a:noFill/>
          <a:ln/>
        </p:spPr>
        <p:txBody>
          <a:bodyPr wrap="square" lIns="0" tIns="0" rIns="0" bIns="0" rtlCol="0" anchor="ctr"/>
          <a:lstStyle/>
          <a:p>
            <a:pPr indent="0" marL="0">
              <a:buNone/>
            </a:pPr>
            <a:r>
              <a:rPr lang="en-US" sz="1100" b="1" dirty="0">
                <a:solidFill>
                  <a:srgbClr val="123836"/>
                </a:solidFill>
                <a:latin typeface="Calibri" pitchFamily="34" charset="0"/>
                <a:ea typeface="Calibri" pitchFamily="34" charset="-122"/>
                <a:cs typeface="Calibri" pitchFamily="34" charset="-120"/>
              </a:rPr>
              <a:t>Core Revenue Management Capabilities</a:t>
            </a:r>
            <a:endParaRPr lang="en-US" sz="1100" dirty="0"/>
          </a:p>
        </p:txBody>
      </p:sp>
      <p:sp>
        <p:nvSpPr>
          <p:cNvPr id="14" name="Text 12"/>
          <p:cNvSpPr/>
          <p:nvPr/>
        </p:nvSpPr>
        <p:spPr>
          <a:xfrm>
            <a:off x="338328" y="1764792"/>
            <a:ext cx="4069080" cy="320040"/>
          </a:xfrm>
          <a:prstGeom prst="rect">
            <a:avLst/>
          </a:prstGeom>
          <a:noFill/>
          <a:ln/>
        </p:spPr>
        <p:txBody>
          <a:bodyPr wrap="square" lIns="0" tIns="0" rIns="0" bIns="0" rtlCol="0" anchor="ctr"/>
          <a:lstStyle/>
          <a:p>
            <a:pPr indent="0" marL="0">
              <a:buNone/>
            </a:pPr>
            <a:r>
              <a:rPr lang="en-US" sz="850" dirty="0">
                <a:solidFill>
                  <a:srgbClr val="718886"/>
                </a:solidFill>
                <a:latin typeface="Calibri" pitchFamily="34" charset="0"/>
                <a:ea typeface="Calibri" pitchFamily="34" charset="-122"/>
                <a:cs typeface="Calibri" pitchFamily="34" charset="-120"/>
              </a:rPr>
              <a:t>Registration · Taxpayer Accounting · Billing · Exemptions · Penalty &amp; Interest · Tax Accounts</a:t>
            </a:r>
            <a:endParaRPr lang="en-US" sz="850" dirty="0"/>
          </a:p>
        </p:txBody>
      </p:sp>
      <p:sp>
        <p:nvSpPr>
          <p:cNvPr id="15" name="Shape 13"/>
          <p:cNvSpPr/>
          <p:nvPr/>
        </p:nvSpPr>
        <p:spPr>
          <a:xfrm>
            <a:off x="4800600" y="1051560"/>
            <a:ext cx="4297680" cy="1097280"/>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16" name="Shape 14"/>
          <p:cNvSpPr/>
          <p:nvPr/>
        </p:nvSpPr>
        <p:spPr>
          <a:xfrm>
            <a:off x="4800600" y="1051560"/>
            <a:ext cx="54864" cy="1097280"/>
          </a:xfrm>
          <a:prstGeom prst="rect">
            <a:avLst/>
          </a:prstGeom>
          <a:solidFill>
            <a:srgbClr val="FF6359"/>
          </a:solidFill>
          <a:ln w="12700">
            <a:solidFill>
              <a:srgbClr val="FF6359"/>
            </a:solidFill>
            <a:prstDash val="solid"/>
          </a:ln>
        </p:spPr>
      </p:sp>
      <p:sp>
        <p:nvSpPr>
          <p:cNvPr id="17" name="Text 15"/>
          <p:cNvSpPr/>
          <p:nvPr/>
        </p:nvSpPr>
        <p:spPr>
          <a:xfrm>
            <a:off x="4910328" y="1124712"/>
            <a:ext cx="457200" cy="365760"/>
          </a:xfrm>
          <a:prstGeom prst="rect">
            <a:avLst/>
          </a:prstGeom>
          <a:noFill/>
          <a:ln/>
        </p:spPr>
        <p:txBody>
          <a:bodyPr wrap="square" lIns="0" tIns="0" rIns="0" bIns="0" rtlCol="0" anchor="ctr"/>
          <a:lstStyle/>
          <a:p>
            <a:pPr indent="0" marL="0">
              <a:buNone/>
            </a:pPr>
            <a:r>
              <a:rPr lang="en-US" sz="2000" b="1" dirty="0">
                <a:solidFill>
                  <a:srgbClr val="73AA87"/>
                </a:solidFill>
                <a:latin typeface="Calibri" pitchFamily="34" charset="0"/>
                <a:ea typeface="Calibri" pitchFamily="34" charset="-122"/>
                <a:cs typeface="Calibri" pitchFamily="34" charset="-120"/>
              </a:rPr>
              <a:t>02</a:t>
            </a:r>
            <a:endParaRPr lang="en-US" sz="2000" dirty="0"/>
          </a:p>
        </p:txBody>
      </p:sp>
      <p:sp>
        <p:nvSpPr>
          <p:cNvPr id="18" name="Text 16"/>
          <p:cNvSpPr/>
          <p:nvPr/>
        </p:nvSpPr>
        <p:spPr>
          <a:xfrm>
            <a:off x="4910328" y="1435608"/>
            <a:ext cx="4069080" cy="347472"/>
          </a:xfrm>
          <a:prstGeom prst="rect">
            <a:avLst/>
          </a:prstGeom>
          <a:noFill/>
          <a:ln/>
        </p:spPr>
        <p:txBody>
          <a:bodyPr wrap="square" lIns="0" tIns="0" rIns="0" bIns="0" rtlCol="0" anchor="ctr"/>
          <a:lstStyle/>
          <a:p>
            <a:pPr indent="0" marL="0">
              <a:buNone/>
            </a:pPr>
            <a:r>
              <a:rPr lang="en-US" sz="1100" b="1" dirty="0">
                <a:solidFill>
                  <a:srgbClr val="123836"/>
                </a:solidFill>
                <a:latin typeface="Calibri" pitchFamily="34" charset="0"/>
                <a:ea typeface="Calibri" pitchFamily="34" charset="-122"/>
                <a:cs typeface="Calibri" pitchFamily="34" charset="-120"/>
              </a:rPr>
              <a:t>Core Supporting Capabilities</a:t>
            </a:r>
            <a:endParaRPr lang="en-US" sz="1100" dirty="0"/>
          </a:p>
        </p:txBody>
      </p:sp>
      <p:sp>
        <p:nvSpPr>
          <p:cNvPr id="19" name="Text 17"/>
          <p:cNvSpPr/>
          <p:nvPr/>
        </p:nvSpPr>
        <p:spPr>
          <a:xfrm>
            <a:off x="4910328" y="1764792"/>
            <a:ext cx="4069080" cy="320040"/>
          </a:xfrm>
          <a:prstGeom prst="rect">
            <a:avLst/>
          </a:prstGeom>
          <a:noFill/>
          <a:ln/>
        </p:spPr>
        <p:txBody>
          <a:bodyPr wrap="square" lIns="0" tIns="0" rIns="0" bIns="0" rtlCol="0" anchor="ctr"/>
          <a:lstStyle/>
          <a:p>
            <a:pPr indent="0" marL="0">
              <a:buNone/>
            </a:pPr>
            <a:r>
              <a:rPr lang="en-US" sz="850" dirty="0">
                <a:solidFill>
                  <a:srgbClr val="718886"/>
                </a:solidFill>
                <a:latin typeface="Calibri" pitchFamily="34" charset="0"/>
                <a:ea typeface="Calibri" pitchFamily="34" charset="-122"/>
                <a:cs typeface="Calibri" pitchFamily="34" charset="-120"/>
              </a:rPr>
              <a:t>Supporting functions enabling the tax administration platform</a:t>
            </a:r>
            <a:endParaRPr lang="en-US" sz="850" dirty="0"/>
          </a:p>
        </p:txBody>
      </p:sp>
      <p:sp>
        <p:nvSpPr>
          <p:cNvPr id="20" name="Shape 18"/>
          <p:cNvSpPr/>
          <p:nvPr/>
        </p:nvSpPr>
        <p:spPr>
          <a:xfrm>
            <a:off x="228600" y="2286000"/>
            <a:ext cx="4297680" cy="1097280"/>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21" name="Shape 19"/>
          <p:cNvSpPr/>
          <p:nvPr/>
        </p:nvSpPr>
        <p:spPr>
          <a:xfrm>
            <a:off x="228600" y="2286000"/>
            <a:ext cx="54864" cy="1097280"/>
          </a:xfrm>
          <a:prstGeom prst="rect">
            <a:avLst/>
          </a:prstGeom>
          <a:solidFill>
            <a:srgbClr val="FF6359"/>
          </a:solidFill>
          <a:ln w="12700">
            <a:solidFill>
              <a:srgbClr val="FF6359"/>
            </a:solidFill>
            <a:prstDash val="solid"/>
          </a:ln>
        </p:spPr>
      </p:sp>
      <p:sp>
        <p:nvSpPr>
          <p:cNvPr id="22" name="Text 20"/>
          <p:cNvSpPr/>
          <p:nvPr/>
        </p:nvSpPr>
        <p:spPr>
          <a:xfrm>
            <a:off x="338328" y="2359152"/>
            <a:ext cx="457200" cy="365760"/>
          </a:xfrm>
          <a:prstGeom prst="rect">
            <a:avLst/>
          </a:prstGeom>
          <a:noFill/>
          <a:ln/>
        </p:spPr>
        <p:txBody>
          <a:bodyPr wrap="square" lIns="0" tIns="0" rIns="0" bIns="0" rtlCol="0" anchor="ctr"/>
          <a:lstStyle/>
          <a:p>
            <a:pPr indent="0" marL="0">
              <a:buNone/>
            </a:pPr>
            <a:r>
              <a:rPr lang="en-US" sz="2000" b="1" dirty="0">
                <a:solidFill>
                  <a:srgbClr val="73AA87"/>
                </a:solidFill>
                <a:latin typeface="Calibri" pitchFamily="34" charset="0"/>
                <a:ea typeface="Calibri" pitchFamily="34" charset="-122"/>
                <a:cs typeface="Calibri" pitchFamily="34" charset="-120"/>
              </a:rPr>
              <a:t>03</a:t>
            </a:r>
            <a:endParaRPr lang="en-US" sz="2000" dirty="0"/>
          </a:p>
        </p:txBody>
      </p:sp>
      <p:sp>
        <p:nvSpPr>
          <p:cNvPr id="23" name="Text 21"/>
          <p:cNvSpPr/>
          <p:nvPr/>
        </p:nvSpPr>
        <p:spPr>
          <a:xfrm>
            <a:off x="338328" y="2670048"/>
            <a:ext cx="4069080" cy="347472"/>
          </a:xfrm>
          <a:prstGeom prst="rect">
            <a:avLst/>
          </a:prstGeom>
          <a:noFill/>
          <a:ln/>
        </p:spPr>
        <p:txBody>
          <a:bodyPr wrap="square" lIns="0" tIns="0" rIns="0" bIns="0" rtlCol="0" anchor="ctr"/>
          <a:lstStyle/>
          <a:p>
            <a:pPr indent="0" marL="0">
              <a:buNone/>
            </a:pPr>
            <a:r>
              <a:rPr lang="en-US" sz="1100" b="1" dirty="0">
                <a:solidFill>
                  <a:srgbClr val="123836"/>
                </a:solidFill>
                <a:latin typeface="Calibri" pitchFamily="34" charset="0"/>
                <a:ea typeface="Calibri" pitchFamily="34" charset="-122"/>
                <a:cs typeface="Calibri" pitchFamily="34" charset="-120"/>
              </a:rPr>
              <a:t>Non-Functional Requirement Coverage</a:t>
            </a:r>
            <a:endParaRPr lang="en-US" sz="1100" dirty="0"/>
          </a:p>
        </p:txBody>
      </p:sp>
      <p:sp>
        <p:nvSpPr>
          <p:cNvPr id="24" name="Text 22"/>
          <p:cNvSpPr/>
          <p:nvPr/>
        </p:nvSpPr>
        <p:spPr>
          <a:xfrm>
            <a:off x="338328" y="2999232"/>
            <a:ext cx="4069080" cy="320040"/>
          </a:xfrm>
          <a:prstGeom prst="rect">
            <a:avLst/>
          </a:prstGeom>
          <a:noFill/>
          <a:ln/>
        </p:spPr>
        <p:txBody>
          <a:bodyPr wrap="square" lIns="0" tIns="0" rIns="0" bIns="0" rtlCol="0" anchor="ctr"/>
          <a:lstStyle/>
          <a:p>
            <a:pPr indent="0" marL="0">
              <a:buNone/>
            </a:pPr>
            <a:r>
              <a:rPr lang="en-US" sz="850" dirty="0">
                <a:solidFill>
                  <a:srgbClr val="718886"/>
                </a:solidFill>
                <a:latin typeface="Calibri" pitchFamily="34" charset="0"/>
                <a:ea typeface="Calibri" pitchFamily="34" charset="-122"/>
                <a:cs typeface="Calibri" pitchFamily="34" charset="-120"/>
              </a:rPr>
              <a:t>Performance, security, reliability and compliance standards</a:t>
            </a:r>
            <a:endParaRPr lang="en-US" sz="850" dirty="0"/>
          </a:p>
        </p:txBody>
      </p:sp>
      <p:sp>
        <p:nvSpPr>
          <p:cNvPr id="25" name="Shape 23"/>
          <p:cNvSpPr/>
          <p:nvPr/>
        </p:nvSpPr>
        <p:spPr>
          <a:xfrm>
            <a:off x="4800600" y="2286000"/>
            <a:ext cx="4297680" cy="1097280"/>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26" name="Shape 24"/>
          <p:cNvSpPr/>
          <p:nvPr/>
        </p:nvSpPr>
        <p:spPr>
          <a:xfrm>
            <a:off x="4800600" y="2286000"/>
            <a:ext cx="54864" cy="1097280"/>
          </a:xfrm>
          <a:prstGeom prst="rect">
            <a:avLst/>
          </a:prstGeom>
          <a:solidFill>
            <a:srgbClr val="FF6359"/>
          </a:solidFill>
          <a:ln w="12700">
            <a:solidFill>
              <a:srgbClr val="FF6359"/>
            </a:solidFill>
            <a:prstDash val="solid"/>
          </a:ln>
        </p:spPr>
      </p:sp>
      <p:sp>
        <p:nvSpPr>
          <p:cNvPr id="27" name="Text 25"/>
          <p:cNvSpPr/>
          <p:nvPr/>
        </p:nvSpPr>
        <p:spPr>
          <a:xfrm>
            <a:off x="4910328" y="2359152"/>
            <a:ext cx="457200" cy="365760"/>
          </a:xfrm>
          <a:prstGeom prst="rect">
            <a:avLst/>
          </a:prstGeom>
          <a:noFill/>
          <a:ln/>
        </p:spPr>
        <p:txBody>
          <a:bodyPr wrap="square" lIns="0" tIns="0" rIns="0" bIns="0" rtlCol="0" anchor="ctr"/>
          <a:lstStyle/>
          <a:p>
            <a:pPr indent="0" marL="0">
              <a:buNone/>
            </a:pPr>
            <a:r>
              <a:rPr lang="en-US" sz="2000" b="1" dirty="0">
                <a:solidFill>
                  <a:srgbClr val="73AA87"/>
                </a:solidFill>
                <a:latin typeface="Calibri" pitchFamily="34" charset="0"/>
                <a:ea typeface="Calibri" pitchFamily="34" charset="-122"/>
                <a:cs typeface="Calibri" pitchFamily="34" charset="-120"/>
              </a:rPr>
              <a:t>04</a:t>
            </a:r>
            <a:endParaRPr lang="en-US" sz="2000" dirty="0"/>
          </a:p>
        </p:txBody>
      </p:sp>
      <p:sp>
        <p:nvSpPr>
          <p:cNvPr id="28" name="Text 26"/>
          <p:cNvSpPr/>
          <p:nvPr/>
        </p:nvSpPr>
        <p:spPr>
          <a:xfrm>
            <a:off x="4910328" y="2670048"/>
            <a:ext cx="4069080" cy="347472"/>
          </a:xfrm>
          <a:prstGeom prst="rect">
            <a:avLst/>
          </a:prstGeom>
          <a:noFill/>
          <a:ln/>
        </p:spPr>
        <p:txBody>
          <a:bodyPr wrap="square" lIns="0" tIns="0" rIns="0" bIns="0" rtlCol="0" anchor="ctr"/>
          <a:lstStyle/>
          <a:p>
            <a:pPr indent="0" marL="0">
              <a:buNone/>
            </a:pPr>
            <a:r>
              <a:rPr lang="en-US" sz="1100" b="1" dirty="0">
                <a:solidFill>
                  <a:srgbClr val="123836"/>
                </a:solidFill>
                <a:latin typeface="Calibri" pitchFamily="34" charset="0"/>
                <a:ea typeface="Calibri" pitchFamily="34" charset="-122"/>
                <a:cs typeface="Calibri" pitchFamily="34" charset="-120"/>
              </a:rPr>
              <a:t>Reference Implementations</a:t>
            </a:r>
            <a:endParaRPr lang="en-US" sz="1100" dirty="0"/>
          </a:p>
        </p:txBody>
      </p:sp>
      <p:sp>
        <p:nvSpPr>
          <p:cNvPr id="29" name="Text 27"/>
          <p:cNvSpPr/>
          <p:nvPr/>
        </p:nvSpPr>
        <p:spPr>
          <a:xfrm>
            <a:off x="4910328" y="2999232"/>
            <a:ext cx="4069080" cy="320040"/>
          </a:xfrm>
          <a:prstGeom prst="rect">
            <a:avLst/>
          </a:prstGeom>
          <a:noFill/>
          <a:ln/>
        </p:spPr>
        <p:txBody>
          <a:bodyPr wrap="square" lIns="0" tIns="0" rIns="0" bIns="0" rtlCol="0" anchor="ctr"/>
          <a:lstStyle/>
          <a:p>
            <a:pPr indent="0" marL="0">
              <a:buNone/>
            </a:pPr>
            <a:r>
              <a:rPr lang="en-US" sz="850" dirty="0">
                <a:solidFill>
                  <a:srgbClr val="718886"/>
                </a:solidFill>
                <a:latin typeface="Calibri" pitchFamily="34" charset="0"/>
                <a:ea typeface="Calibri" pitchFamily="34" charset="-122"/>
                <a:cs typeface="Calibri" pitchFamily="34" charset="-120"/>
              </a:rPr>
              <a:t>Baseline modules and reusable implementation patterns</a:t>
            </a:r>
            <a:endParaRPr lang="en-US" sz="850" dirty="0"/>
          </a:p>
        </p:txBody>
      </p:sp>
      <p:sp>
        <p:nvSpPr>
          <p:cNvPr id="30" name="Shape 28"/>
          <p:cNvSpPr/>
          <p:nvPr/>
        </p:nvSpPr>
        <p:spPr>
          <a:xfrm>
            <a:off x="228600" y="3520440"/>
            <a:ext cx="4297680" cy="1097280"/>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31" name="Shape 29"/>
          <p:cNvSpPr/>
          <p:nvPr/>
        </p:nvSpPr>
        <p:spPr>
          <a:xfrm>
            <a:off x="228600" y="3520440"/>
            <a:ext cx="54864" cy="1097280"/>
          </a:xfrm>
          <a:prstGeom prst="rect">
            <a:avLst/>
          </a:prstGeom>
          <a:solidFill>
            <a:srgbClr val="FF6359"/>
          </a:solidFill>
          <a:ln w="12700">
            <a:solidFill>
              <a:srgbClr val="FF6359"/>
            </a:solidFill>
            <a:prstDash val="solid"/>
          </a:ln>
        </p:spPr>
      </p:sp>
      <p:sp>
        <p:nvSpPr>
          <p:cNvPr id="32" name="Text 30"/>
          <p:cNvSpPr/>
          <p:nvPr/>
        </p:nvSpPr>
        <p:spPr>
          <a:xfrm>
            <a:off x="338328" y="3593592"/>
            <a:ext cx="457200" cy="365760"/>
          </a:xfrm>
          <a:prstGeom prst="rect">
            <a:avLst/>
          </a:prstGeom>
          <a:noFill/>
          <a:ln/>
        </p:spPr>
        <p:txBody>
          <a:bodyPr wrap="square" lIns="0" tIns="0" rIns="0" bIns="0" rtlCol="0" anchor="ctr"/>
          <a:lstStyle/>
          <a:p>
            <a:pPr indent="0" marL="0">
              <a:buNone/>
            </a:pPr>
            <a:r>
              <a:rPr lang="en-US" sz="2000" b="1" dirty="0">
                <a:solidFill>
                  <a:srgbClr val="73AA87"/>
                </a:solidFill>
                <a:latin typeface="Calibri" pitchFamily="34" charset="0"/>
                <a:ea typeface="Calibri" pitchFamily="34" charset="-122"/>
                <a:cs typeface="Calibri" pitchFamily="34" charset="-120"/>
              </a:rPr>
              <a:t>05</a:t>
            </a:r>
            <a:endParaRPr lang="en-US" sz="2000" dirty="0"/>
          </a:p>
        </p:txBody>
      </p:sp>
      <p:sp>
        <p:nvSpPr>
          <p:cNvPr id="33" name="Text 31"/>
          <p:cNvSpPr/>
          <p:nvPr/>
        </p:nvSpPr>
        <p:spPr>
          <a:xfrm>
            <a:off x="338328" y="3904488"/>
            <a:ext cx="4069080" cy="347472"/>
          </a:xfrm>
          <a:prstGeom prst="rect">
            <a:avLst/>
          </a:prstGeom>
          <a:noFill/>
          <a:ln/>
        </p:spPr>
        <p:txBody>
          <a:bodyPr wrap="square" lIns="0" tIns="0" rIns="0" bIns="0" rtlCol="0" anchor="ctr"/>
          <a:lstStyle/>
          <a:p>
            <a:pPr indent="0" marL="0">
              <a:buNone/>
            </a:pPr>
            <a:r>
              <a:rPr lang="en-US" sz="1100" b="1" dirty="0">
                <a:solidFill>
                  <a:srgbClr val="123836"/>
                </a:solidFill>
                <a:latin typeface="Calibri" pitchFamily="34" charset="0"/>
                <a:ea typeface="Calibri" pitchFamily="34" charset="-122"/>
                <a:cs typeface="Calibri" pitchFamily="34" charset="-120"/>
              </a:rPr>
              <a:t>Core Self Service Capabilities</a:t>
            </a:r>
            <a:endParaRPr lang="en-US" sz="1100" dirty="0"/>
          </a:p>
        </p:txBody>
      </p:sp>
      <p:sp>
        <p:nvSpPr>
          <p:cNvPr id="34" name="Text 32"/>
          <p:cNvSpPr/>
          <p:nvPr/>
        </p:nvSpPr>
        <p:spPr>
          <a:xfrm>
            <a:off x="338328" y="4233672"/>
            <a:ext cx="4069080" cy="320040"/>
          </a:xfrm>
          <a:prstGeom prst="rect">
            <a:avLst/>
          </a:prstGeom>
          <a:noFill/>
          <a:ln/>
        </p:spPr>
        <p:txBody>
          <a:bodyPr wrap="square" lIns="0" tIns="0" rIns="0" bIns="0" rtlCol="0" anchor="ctr"/>
          <a:lstStyle/>
          <a:p>
            <a:pPr indent="0" marL="0">
              <a:buNone/>
            </a:pPr>
            <a:r>
              <a:rPr lang="en-US" sz="850" dirty="0">
                <a:solidFill>
                  <a:srgbClr val="718886"/>
                </a:solidFill>
                <a:latin typeface="Calibri" pitchFamily="34" charset="0"/>
                <a:ea typeface="Calibri" pitchFamily="34" charset="-122"/>
                <a:cs typeface="Calibri" pitchFamily="34" charset="-120"/>
              </a:rPr>
              <a:t>Taxpayer-facing portal and self-service functionality</a:t>
            </a:r>
            <a:endParaRPr lang="en-US" sz="850" dirty="0"/>
          </a:p>
        </p:txBody>
      </p:sp>
      <p:sp>
        <p:nvSpPr>
          <p:cNvPr id="35" name="Shape 33"/>
          <p:cNvSpPr/>
          <p:nvPr/>
        </p:nvSpPr>
        <p:spPr>
          <a:xfrm>
            <a:off x="4800600" y="3520440"/>
            <a:ext cx="4297680" cy="1097280"/>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36" name="Shape 34"/>
          <p:cNvSpPr/>
          <p:nvPr/>
        </p:nvSpPr>
        <p:spPr>
          <a:xfrm>
            <a:off x="4800600" y="3520440"/>
            <a:ext cx="54864" cy="1097280"/>
          </a:xfrm>
          <a:prstGeom prst="rect">
            <a:avLst/>
          </a:prstGeom>
          <a:solidFill>
            <a:srgbClr val="FF6359"/>
          </a:solidFill>
          <a:ln w="12700">
            <a:solidFill>
              <a:srgbClr val="FF6359"/>
            </a:solidFill>
            <a:prstDash val="solid"/>
          </a:ln>
        </p:spPr>
      </p:sp>
      <p:sp>
        <p:nvSpPr>
          <p:cNvPr id="37" name="Text 35"/>
          <p:cNvSpPr/>
          <p:nvPr/>
        </p:nvSpPr>
        <p:spPr>
          <a:xfrm>
            <a:off x="4910328" y="3593592"/>
            <a:ext cx="457200" cy="365760"/>
          </a:xfrm>
          <a:prstGeom prst="rect">
            <a:avLst/>
          </a:prstGeom>
          <a:noFill/>
          <a:ln/>
        </p:spPr>
        <p:txBody>
          <a:bodyPr wrap="square" lIns="0" tIns="0" rIns="0" bIns="0" rtlCol="0" anchor="ctr"/>
          <a:lstStyle/>
          <a:p>
            <a:pPr indent="0" marL="0">
              <a:buNone/>
            </a:pPr>
            <a:r>
              <a:rPr lang="en-US" sz="2000" b="1" dirty="0">
                <a:solidFill>
                  <a:srgbClr val="73AA87"/>
                </a:solidFill>
                <a:latin typeface="Calibri" pitchFamily="34" charset="0"/>
                <a:ea typeface="Calibri" pitchFamily="34" charset="-122"/>
                <a:cs typeface="Calibri" pitchFamily="34" charset="-120"/>
              </a:rPr>
              <a:t>06</a:t>
            </a:r>
            <a:endParaRPr lang="en-US" sz="2000" dirty="0"/>
          </a:p>
        </p:txBody>
      </p:sp>
      <p:sp>
        <p:nvSpPr>
          <p:cNvPr id="38" name="Text 36"/>
          <p:cNvSpPr/>
          <p:nvPr/>
        </p:nvSpPr>
        <p:spPr>
          <a:xfrm>
            <a:off x="4910328" y="3904488"/>
            <a:ext cx="4069080" cy="347472"/>
          </a:xfrm>
          <a:prstGeom prst="rect">
            <a:avLst/>
          </a:prstGeom>
          <a:noFill/>
          <a:ln/>
        </p:spPr>
        <p:txBody>
          <a:bodyPr wrap="square" lIns="0" tIns="0" rIns="0" bIns="0" rtlCol="0" anchor="ctr"/>
          <a:lstStyle/>
          <a:p>
            <a:pPr indent="0" marL="0">
              <a:buNone/>
            </a:pPr>
            <a:r>
              <a:rPr lang="en-US" sz="1100" b="1" dirty="0">
                <a:solidFill>
                  <a:srgbClr val="123836"/>
                </a:solidFill>
                <a:latin typeface="Calibri" pitchFamily="34" charset="0"/>
                <a:ea typeface="Calibri" pitchFamily="34" charset="-122"/>
                <a:cs typeface="Calibri" pitchFamily="34" charset="-120"/>
              </a:rPr>
              <a:t>Core Data Hub Capabilities</a:t>
            </a:r>
            <a:endParaRPr lang="en-US" sz="1100" dirty="0"/>
          </a:p>
        </p:txBody>
      </p:sp>
      <p:sp>
        <p:nvSpPr>
          <p:cNvPr id="39" name="Text 37"/>
          <p:cNvSpPr/>
          <p:nvPr/>
        </p:nvSpPr>
        <p:spPr>
          <a:xfrm>
            <a:off x="4910328" y="4233672"/>
            <a:ext cx="4069080" cy="320040"/>
          </a:xfrm>
          <a:prstGeom prst="rect">
            <a:avLst/>
          </a:prstGeom>
          <a:noFill/>
          <a:ln/>
        </p:spPr>
        <p:txBody>
          <a:bodyPr wrap="square" lIns="0" tIns="0" rIns="0" bIns="0" rtlCol="0" anchor="ctr"/>
          <a:lstStyle/>
          <a:p>
            <a:pPr indent="0" marL="0">
              <a:buNone/>
            </a:pPr>
            <a:r>
              <a:rPr lang="en-US" sz="850" dirty="0">
                <a:solidFill>
                  <a:srgbClr val="718886"/>
                </a:solidFill>
                <a:latin typeface="Calibri" pitchFamily="34" charset="0"/>
                <a:ea typeface="Calibri" pitchFamily="34" charset="-122"/>
                <a:cs typeface="Calibri" pitchFamily="34" charset="-120"/>
              </a:rPr>
              <a:t>Data integration, analytics and reporting infrastructure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23836"/>
          </a:solidFill>
          <a:ln w="12700">
            <a:solidFill>
              <a:srgbClr val="123836"/>
            </a:solidFill>
            <a:prstDash val="solid"/>
          </a:ln>
        </p:spPr>
      </p:sp>
      <p:sp>
        <p:nvSpPr>
          <p:cNvPr id="3" name="Shape 1"/>
          <p:cNvSpPr/>
          <p:nvPr/>
        </p:nvSpPr>
        <p:spPr>
          <a:xfrm>
            <a:off x="0" y="0"/>
            <a:ext cx="73152" cy="960120"/>
          </a:xfrm>
          <a:prstGeom prst="rect">
            <a:avLst/>
          </a:prstGeom>
          <a:solidFill>
            <a:srgbClr val="FF6359"/>
          </a:solidFill>
          <a:ln w="12700">
            <a:solidFill>
              <a:srgbClr val="FF6359"/>
            </a:solidFill>
            <a:prstDash val="solid"/>
          </a:ln>
        </p:spPr>
      </p:sp>
      <p:sp>
        <p:nvSpPr>
          <p:cNvPr id="4" name="Text 2"/>
          <p:cNvSpPr/>
          <p:nvPr/>
        </p:nvSpPr>
        <p:spPr>
          <a:xfrm>
            <a:off x="182880" y="64008"/>
            <a:ext cx="64008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Core Revenue Management Capabilities</a:t>
            </a:r>
            <a:endParaRPr lang="en-US" sz="2000" dirty="0"/>
          </a:p>
        </p:txBody>
      </p:sp>
      <p:sp>
        <p:nvSpPr>
          <p:cNvPr id="5" name="Text 3"/>
          <p:cNvSpPr/>
          <p:nvPr/>
        </p:nvSpPr>
        <p:spPr>
          <a:xfrm>
            <a:off x="182880" y="548640"/>
            <a:ext cx="8229600" cy="347472"/>
          </a:xfrm>
          <a:prstGeom prst="rect">
            <a:avLst/>
          </a:prstGeom>
          <a:noFill/>
          <a:ln/>
        </p:spPr>
        <p:txBody>
          <a:bodyPr wrap="square" lIns="0" tIns="0" rIns="0" bIns="0" rtlCol="0" anchor="ctr"/>
          <a:lstStyle/>
          <a:p>
            <a:pPr indent="0" marL="0">
              <a:buNone/>
            </a:pPr>
            <a:r>
              <a:rPr lang="en-US" sz="1100" dirty="0">
                <a:solidFill>
                  <a:srgbClr val="73AA87"/>
                </a:solidFill>
                <a:latin typeface="Calibri" pitchFamily="34" charset="0"/>
                <a:ea typeface="Calibri" pitchFamily="34" charset="-122"/>
                <a:cs typeface="Calibri" pitchFamily="34" charset="-120"/>
              </a:rPr>
              <a:t>Group Summary | Roadmap Initiative Overview</a:t>
            </a:r>
            <a:endParaRPr lang="en-US" sz="1100" dirty="0"/>
          </a:p>
        </p:txBody>
      </p:sp>
      <p:sp>
        <p:nvSpPr>
          <p:cNvPr id="6" name="Text 4"/>
          <p:cNvSpPr/>
          <p:nvPr/>
        </p:nvSpPr>
        <p:spPr>
          <a:xfrm>
            <a:off x="6858000" y="73152"/>
            <a:ext cx="2103120" cy="365760"/>
          </a:xfrm>
          <a:prstGeom prst="rect">
            <a:avLst/>
          </a:prstGeom>
          <a:noFill/>
          <a:ln/>
        </p:spPr>
        <p:txBody>
          <a:bodyPr wrap="square" lIns="0" tIns="0" rIns="0" bIns="0" rtlCol="0" anchor="ctr"/>
          <a:lstStyle/>
          <a:p>
            <a:pPr algn="r" indent="0" marL="0">
              <a:buNone/>
            </a:pPr>
            <a:r>
              <a:rPr lang="en-US" sz="1200" b="1" dirty="0">
                <a:solidFill>
                  <a:srgbClr val="73AA87"/>
                </a:solidFill>
                <a:latin typeface="Calibri" pitchFamily="34" charset="0"/>
                <a:ea typeface="Calibri" pitchFamily="34" charset="-122"/>
                <a:cs typeface="Calibri" pitchFamily="34" charset="-120"/>
              </a:rPr>
              <a:t>Netcompany</a:t>
            </a:r>
            <a:endParaRPr lang="en-US" sz="1200" dirty="0"/>
          </a:p>
        </p:txBody>
      </p:sp>
      <p:sp>
        <p:nvSpPr>
          <p:cNvPr id="7" name="Shape 5"/>
          <p:cNvSpPr/>
          <p:nvPr/>
        </p:nvSpPr>
        <p:spPr>
          <a:xfrm>
            <a:off x="0" y="4983480"/>
            <a:ext cx="9144000" cy="160020"/>
          </a:xfrm>
          <a:prstGeom prst="rect">
            <a:avLst/>
          </a:prstGeom>
          <a:solidFill>
            <a:srgbClr val="123836"/>
          </a:solidFill>
          <a:ln w="12700">
            <a:solidFill>
              <a:srgbClr val="123836"/>
            </a:solidFill>
            <a:prstDash val="solid"/>
          </a:ln>
        </p:spPr>
      </p:sp>
      <p:sp>
        <p:nvSpPr>
          <p:cNvPr id="8" name="Text 6"/>
          <p:cNvSpPr/>
          <p:nvPr/>
        </p:nvSpPr>
        <p:spPr>
          <a:xfrm>
            <a:off x="137160" y="4974336"/>
            <a:ext cx="6400800" cy="164592"/>
          </a:xfrm>
          <a:prstGeom prst="rect">
            <a:avLst/>
          </a:prstGeom>
          <a:noFill/>
          <a:ln/>
        </p:spPr>
        <p:txBody>
          <a:bodyPr wrap="square" lIns="0" tIns="0" rIns="0" bIns="0" rtlCol="0" anchor="ctr"/>
          <a:lstStyle/>
          <a:p>
            <a:pPr indent="0" marL="0">
              <a:buNone/>
            </a:pPr>
            <a:r>
              <a:rPr lang="en-US" sz="800" dirty="0">
                <a:solidFill>
                  <a:srgbClr val="D0D7D7"/>
                </a:solidFill>
                <a:latin typeface="Calibri" pitchFamily="34" charset="0"/>
                <a:ea typeface="Calibri" pitchFamily="34" charset="-122"/>
                <a:cs typeface="Calibri" pitchFamily="34" charset="-120"/>
              </a:rPr>
              <a:t>Solon Tax Product Roadmap 2026 | SteerCo</a:t>
            </a:r>
            <a:endParaRPr lang="en-US" sz="800" dirty="0"/>
          </a:p>
        </p:txBody>
      </p:sp>
      <p:sp>
        <p:nvSpPr>
          <p:cNvPr id="9" name="Text 7"/>
          <p:cNvSpPr/>
          <p:nvPr/>
        </p:nvSpPr>
        <p:spPr>
          <a:xfrm>
            <a:off x="8686800" y="4974336"/>
            <a:ext cx="365760" cy="164592"/>
          </a:xfrm>
          <a:prstGeom prst="rect">
            <a:avLst/>
          </a:prstGeom>
          <a:noFill/>
          <a:ln/>
        </p:spPr>
        <p:txBody>
          <a:bodyPr wrap="square" lIns="0" tIns="0" rIns="0" bIns="0" rtlCol="0" anchor="ctr"/>
          <a:lstStyle/>
          <a:p>
            <a:pPr algn="r" indent="0" marL="0">
              <a:buNone/>
            </a:pPr>
            <a:r>
              <a:rPr lang="en-US" sz="800" dirty="0">
                <a:solidFill>
                  <a:srgbClr val="D0D7D7"/>
                </a:solidFill>
                <a:latin typeface="Calibri" pitchFamily="34" charset="0"/>
                <a:ea typeface="Calibri" pitchFamily="34" charset="-122"/>
                <a:cs typeface="Calibri" pitchFamily="34" charset="-120"/>
              </a:rPr>
              <a:t>3</a:t>
            </a:r>
            <a:endParaRPr lang="en-US" sz="800" dirty="0"/>
          </a:p>
        </p:txBody>
      </p:sp>
      <p:sp>
        <p:nvSpPr>
          <p:cNvPr id="10" name="Shape 8"/>
          <p:cNvSpPr/>
          <p:nvPr/>
        </p:nvSpPr>
        <p:spPr>
          <a:xfrm>
            <a:off x="228600" y="1005840"/>
            <a:ext cx="2011680" cy="96012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228600" y="1005840"/>
            <a:ext cx="2011680" cy="54864"/>
          </a:xfrm>
          <a:prstGeom prst="rect">
            <a:avLst/>
          </a:prstGeom>
          <a:solidFill>
            <a:srgbClr val="FF6359"/>
          </a:solidFill>
          <a:ln w="12700">
            <a:solidFill>
              <a:srgbClr val="FF6359"/>
            </a:solidFill>
            <a:prstDash val="solid"/>
          </a:ln>
        </p:spPr>
      </p:sp>
      <p:sp>
        <p:nvSpPr>
          <p:cNvPr id="12" name="Text 10"/>
          <p:cNvSpPr/>
          <p:nvPr/>
        </p:nvSpPr>
        <p:spPr>
          <a:xfrm>
            <a:off x="320040" y="1097280"/>
            <a:ext cx="1828800" cy="46085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~23,200</a:t>
            </a:r>
            <a:endParaRPr lang="en-US" sz="2200" dirty="0"/>
          </a:p>
        </p:txBody>
      </p:sp>
      <p:sp>
        <p:nvSpPr>
          <p:cNvPr id="13" name="Text 11"/>
          <p:cNvSpPr/>
          <p:nvPr/>
        </p:nvSpPr>
        <p:spPr>
          <a:xfrm>
            <a:off x="320040" y="1505102"/>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Hours</a:t>
            </a:r>
            <a:endParaRPr lang="en-US" sz="900" dirty="0"/>
          </a:p>
        </p:txBody>
      </p:sp>
      <p:sp>
        <p:nvSpPr>
          <p:cNvPr id="14" name="Text 12"/>
          <p:cNvSpPr/>
          <p:nvPr/>
        </p:nvSpPr>
        <p:spPr>
          <a:xfrm>
            <a:off x="274320" y="165872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Total Estimated Effort</a:t>
            </a:r>
            <a:endParaRPr lang="en-US" sz="900" dirty="0"/>
          </a:p>
        </p:txBody>
      </p:sp>
      <p:sp>
        <p:nvSpPr>
          <p:cNvPr id="15" name="Shape 13"/>
          <p:cNvSpPr/>
          <p:nvPr/>
        </p:nvSpPr>
        <p:spPr>
          <a:xfrm>
            <a:off x="2414016" y="1005840"/>
            <a:ext cx="2011680" cy="96012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6" name="Shape 14"/>
          <p:cNvSpPr/>
          <p:nvPr/>
        </p:nvSpPr>
        <p:spPr>
          <a:xfrm>
            <a:off x="2414016" y="1005840"/>
            <a:ext cx="2011680" cy="54864"/>
          </a:xfrm>
          <a:prstGeom prst="rect">
            <a:avLst/>
          </a:prstGeom>
          <a:solidFill>
            <a:srgbClr val="FF6359"/>
          </a:solidFill>
          <a:ln w="12700">
            <a:solidFill>
              <a:srgbClr val="FF6359"/>
            </a:solidFill>
            <a:prstDash val="solid"/>
          </a:ln>
        </p:spPr>
      </p:sp>
      <p:sp>
        <p:nvSpPr>
          <p:cNvPr id="17" name="Text 15"/>
          <p:cNvSpPr/>
          <p:nvPr/>
        </p:nvSpPr>
        <p:spPr>
          <a:xfrm>
            <a:off x="2505456" y="1097280"/>
            <a:ext cx="1828800" cy="46085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18" name="Text 16"/>
          <p:cNvSpPr/>
          <p:nvPr/>
        </p:nvSpPr>
        <p:spPr>
          <a:xfrm>
            <a:off x="2505456" y="1505102"/>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Count</a:t>
            </a:r>
            <a:endParaRPr lang="en-US" sz="900" dirty="0"/>
          </a:p>
        </p:txBody>
      </p:sp>
      <p:sp>
        <p:nvSpPr>
          <p:cNvPr id="19" name="Text 17"/>
          <p:cNvSpPr/>
          <p:nvPr/>
        </p:nvSpPr>
        <p:spPr>
          <a:xfrm>
            <a:off x="2459736" y="165872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Roadmap Initiatives</a:t>
            </a:r>
            <a:endParaRPr lang="en-US" sz="900" dirty="0"/>
          </a:p>
        </p:txBody>
      </p:sp>
      <p:sp>
        <p:nvSpPr>
          <p:cNvPr id="20" name="Shape 18"/>
          <p:cNvSpPr/>
          <p:nvPr/>
        </p:nvSpPr>
        <p:spPr>
          <a:xfrm>
            <a:off x="4599432" y="1005840"/>
            <a:ext cx="2011680" cy="96012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1" name="Shape 19"/>
          <p:cNvSpPr/>
          <p:nvPr/>
        </p:nvSpPr>
        <p:spPr>
          <a:xfrm>
            <a:off x="4599432" y="1005840"/>
            <a:ext cx="2011680" cy="54864"/>
          </a:xfrm>
          <a:prstGeom prst="rect">
            <a:avLst/>
          </a:prstGeom>
          <a:solidFill>
            <a:srgbClr val="FF6359"/>
          </a:solidFill>
          <a:ln w="12700">
            <a:solidFill>
              <a:srgbClr val="FF6359"/>
            </a:solidFill>
            <a:prstDash val="solid"/>
          </a:ln>
        </p:spPr>
      </p:sp>
      <p:sp>
        <p:nvSpPr>
          <p:cNvPr id="22" name="Text 20"/>
          <p:cNvSpPr/>
          <p:nvPr/>
        </p:nvSpPr>
        <p:spPr>
          <a:xfrm>
            <a:off x="4690872" y="1097280"/>
            <a:ext cx="1828800" cy="46085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15</a:t>
            </a:r>
            <a:endParaRPr lang="en-US" sz="2200" dirty="0"/>
          </a:p>
        </p:txBody>
      </p:sp>
      <p:sp>
        <p:nvSpPr>
          <p:cNvPr id="23" name="Text 21"/>
          <p:cNvSpPr/>
          <p:nvPr/>
        </p:nvSpPr>
        <p:spPr>
          <a:xfrm>
            <a:off x="4690872" y="1505102"/>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Count</a:t>
            </a:r>
            <a:endParaRPr lang="en-US" sz="900" dirty="0"/>
          </a:p>
        </p:txBody>
      </p:sp>
      <p:sp>
        <p:nvSpPr>
          <p:cNvPr id="24" name="Text 22"/>
          <p:cNvSpPr/>
          <p:nvPr/>
        </p:nvSpPr>
        <p:spPr>
          <a:xfrm>
            <a:off x="4645152" y="165872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Features in Scope</a:t>
            </a:r>
            <a:endParaRPr lang="en-US" sz="900" dirty="0"/>
          </a:p>
        </p:txBody>
      </p:sp>
      <p:sp>
        <p:nvSpPr>
          <p:cNvPr id="25" name="Shape 23"/>
          <p:cNvSpPr/>
          <p:nvPr/>
        </p:nvSpPr>
        <p:spPr>
          <a:xfrm>
            <a:off x="6784848" y="1005840"/>
            <a:ext cx="2011680" cy="96012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6" name="Shape 24"/>
          <p:cNvSpPr/>
          <p:nvPr/>
        </p:nvSpPr>
        <p:spPr>
          <a:xfrm>
            <a:off x="6784848" y="1005840"/>
            <a:ext cx="2011680" cy="54864"/>
          </a:xfrm>
          <a:prstGeom prst="rect">
            <a:avLst/>
          </a:prstGeom>
          <a:solidFill>
            <a:srgbClr val="FF6359"/>
          </a:solidFill>
          <a:ln w="12700">
            <a:solidFill>
              <a:srgbClr val="FF6359"/>
            </a:solidFill>
            <a:prstDash val="solid"/>
          </a:ln>
        </p:spPr>
      </p:sp>
      <p:sp>
        <p:nvSpPr>
          <p:cNvPr id="27" name="Text 25"/>
          <p:cNvSpPr/>
          <p:nvPr/>
        </p:nvSpPr>
        <p:spPr>
          <a:xfrm>
            <a:off x="6876288" y="1097280"/>
            <a:ext cx="1828800" cy="46085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PI28</a:t>
            </a:r>
            <a:endParaRPr lang="en-US" sz="2200" dirty="0"/>
          </a:p>
        </p:txBody>
      </p:sp>
      <p:sp>
        <p:nvSpPr>
          <p:cNvPr id="28" name="Text 26"/>
          <p:cNvSpPr/>
          <p:nvPr/>
        </p:nvSpPr>
        <p:spPr>
          <a:xfrm>
            <a:off x="6876288" y="1505102"/>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Program Increment</a:t>
            </a:r>
            <a:endParaRPr lang="en-US" sz="900" dirty="0"/>
          </a:p>
        </p:txBody>
      </p:sp>
      <p:sp>
        <p:nvSpPr>
          <p:cNvPr id="29" name="Text 27"/>
          <p:cNvSpPr/>
          <p:nvPr/>
        </p:nvSpPr>
        <p:spPr>
          <a:xfrm>
            <a:off x="6830568" y="165872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Primary PI Window</a:t>
            </a:r>
            <a:endParaRPr lang="en-US" sz="900" dirty="0"/>
          </a:p>
        </p:txBody>
      </p:sp>
      <p:sp>
        <p:nvSpPr>
          <p:cNvPr id="30" name="Text 28"/>
          <p:cNvSpPr/>
          <p:nvPr/>
        </p:nvSpPr>
        <p:spPr>
          <a:xfrm>
            <a:off x="228600" y="2103120"/>
            <a:ext cx="3291840" cy="256032"/>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Business Scope</a:t>
            </a:r>
            <a:endParaRPr lang="en-US" sz="1000" dirty="0"/>
          </a:p>
        </p:txBody>
      </p:sp>
      <p:sp>
        <p:nvSpPr>
          <p:cNvPr id="31" name="Text 29"/>
          <p:cNvSpPr/>
          <p:nvPr/>
        </p:nvSpPr>
        <p:spPr>
          <a:xfrm>
            <a:off x="228600" y="2377440"/>
            <a:ext cx="3291840" cy="777240"/>
          </a:xfrm>
          <a:prstGeom prst="rect">
            <a:avLst/>
          </a:prstGeom>
          <a:noFill/>
          <a:ln/>
        </p:spPr>
        <p:txBody>
          <a:bodyPr wrap="square" lIns="0" tIns="0" rIns="0" bIns="0" rtlCol="0" anchor="ctr"/>
          <a:lstStyle/>
          <a:p>
            <a:pPr indent="0" marL="0">
              <a:buNone/>
            </a:pPr>
            <a:r>
              <a:rPr lang="en-US" sz="1000" dirty="0">
                <a:solidFill>
                  <a:srgbClr val="141E1E"/>
                </a:solidFill>
                <a:latin typeface="Calibri" pitchFamily="34" charset="0"/>
                <a:ea typeface="Calibri" pitchFamily="34" charset="-122"/>
                <a:cs typeface="Calibri" pitchFamily="34" charset="-120"/>
              </a:rPr>
              <a:t>Covers the foundational tax administration functions enabling tax authorities to manage the full lifecycle of taxpayer obligations — from registration and filing through billing, assessment, accounting, and penalty management.</a:t>
            </a:r>
            <a:endParaRPr lang="en-US" sz="1000" dirty="0"/>
          </a:p>
        </p:txBody>
      </p:sp>
      <p:sp>
        <p:nvSpPr>
          <p:cNvPr id="32" name="Text 30"/>
          <p:cNvSpPr/>
          <p:nvPr/>
        </p:nvSpPr>
        <p:spPr>
          <a:xfrm>
            <a:off x="228600" y="3200400"/>
            <a:ext cx="3291840" cy="256032"/>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Market Needs &amp; Investment Benefits</a:t>
            </a:r>
            <a:endParaRPr lang="en-US" sz="1000" dirty="0"/>
          </a:p>
        </p:txBody>
      </p:sp>
      <p:sp>
        <p:nvSpPr>
          <p:cNvPr id="33" name="Text 31"/>
          <p:cNvSpPr/>
          <p:nvPr/>
        </p:nvSpPr>
        <p:spPr>
          <a:xfrm>
            <a:off x="228600" y="3493008"/>
            <a:ext cx="3291840" cy="1417320"/>
          </a:xfrm>
          <a:prstGeom prst="rect">
            <a:avLst/>
          </a:prstGeom>
          <a:noFill/>
          <a:ln/>
        </p:spPr>
        <p:txBody>
          <a:bodyPr wrap="square" rtlCol="0" anchor="ctr"/>
          <a:lstStyle/>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End-to-end taxpayer lifecycle management reduces administrative burden and manual errors</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Automated penalty and interest calculations improve collection rates and reduce revenue leakage</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Modular capability design allows onboarding of new tax types with minimal reconfiguration</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Streamlined registration and billing processes reduce case handling time for tax officers</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Supports regulatory compliance including audit trails and operational reporting</a:t>
            </a:r>
            <a:endParaRPr lang="en-US" sz="900" dirty="0"/>
          </a:p>
        </p:txBody>
      </p:sp>
      <p:sp>
        <p:nvSpPr>
          <p:cNvPr id="34" name="Text 32"/>
          <p:cNvSpPr/>
          <p:nvPr/>
        </p:nvSpPr>
        <p:spPr>
          <a:xfrm>
            <a:off x="3611880" y="2103120"/>
            <a:ext cx="2468880" cy="256032"/>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Status Distribution</a:t>
            </a:r>
            <a:endParaRPr lang="en-US" sz="1000" dirty="0"/>
          </a:p>
        </p:txBody>
      </p:sp>
      <p:graphicFrame>
        <p:nvGraphicFramePr>
          <p:cNvPr id="35" name="Chart 0" descr=""/>
          <p:cNvGraphicFramePr/>
          <p:nvPr/>
        </p:nvGraphicFramePr>
        <p:xfrm>
          <a:off x="3611880" y="2377440"/>
          <a:ext cx="2468880" cy="1554480"/>
        </p:xfrm>
        <a:graphic xmlns:a="http://schemas.openxmlformats.org/drawingml/2006/main">
          <a:graphicData uri="http://schemas.openxmlformats.org/drawingml/2006/chart">
            <c:chart xmlns:c="http://schemas.openxmlformats.org/drawingml/2006/chart" r:id="rId1"/>
          </a:graphicData>
        </a:graphic>
      </p:graphicFrame>
      <p:sp>
        <p:nvSpPr>
          <p:cNvPr id="36" name="Text 33"/>
          <p:cNvSpPr/>
          <p:nvPr/>
        </p:nvSpPr>
        <p:spPr>
          <a:xfrm>
            <a:off x="6172200" y="2103120"/>
            <a:ext cx="2743200" cy="256032"/>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Roadmap Initiatives at a Glance</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72200" y="2395728"/>
          <a:ext cx="2743200" cy="2651760"/>
        </p:xfrm>
        <a:graphic>
          <a:graphicData uri="http://schemas.openxmlformats.org/drawingml/2006/table">
            <a:tbl>
              <a:tblPr/>
              <a:tblGrid>
                <a:gridCol w="1143000"/>
                <a:gridCol w="566928"/>
                <a:gridCol w="347472"/>
                <a:gridCol w="384048"/>
                <a:gridCol w="301752"/>
              </a:tblGrid>
              <a:tr h="378823">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Initiative</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Effort (H)</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Feats</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PI</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Prio</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r>
              <a:tr h="378823">
                <a:tc>
                  <a:txBody>
                    <a:bodyPr/>
                    <a:lstStyle/>
                    <a:p>
                      <a:pPr algn="l" indent="0" marL="0">
                        <a:buNone/>
                      </a:pPr>
                      <a:r>
                        <a:rPr lang="en-US" sz="800" dirty="0">
                          <a:solidFill>
                            <a:srgbClr val="141E1E"/>
                          </a:solidFill>
                          <a:latin typeface="Calibri" pitchFamily="34" charset="0"/>
                          <a:ea typeface="Calibri" pitchFamily="34" charset="-122"/>
                          <a:cs typeface="Calibri" pitchFamily="34" charset="-120"/>
                        </a:rPr>
                        <a:t>Registration</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11,866</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6</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PI27-29</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P1</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r>
              <a:tr h="378823">
                <a:tc>
                  <a:txBody>
                    <a:bodyPr/>
                    <a:lstStyle/>
                    <a:p>
                      <a:pPr algn="l" indent="0" marL="0">
                        <a:buNone/>
                      </a:pPr>
                      <a:r>
                        <a:rPr lang="en-US" sz="800" dirty="0">
                          <a:solidFill>
                            <a:srgbClr val="141E1E"/>
                          </a:solidFill>
                          <a:latin typeface="Calibri" pitchFamily="34" charset="0"/>
                          <a:ea typeface="Calibri" pitchFamily="34" charset="-122"/>
                          <a:cs typeface="Calibri" pitchFamily="34" charset="-120"/>
                        </a:rPr>
                        <a:t>Taxpayer Accounting</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8,064</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PI28-29</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P1</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r>
              <a:tr h="378823">
                <a:tc>
                  <a:txBody>
                    <a:bodyPr/>
                    <a:lstStyle/>
                    <a:p>
                      <a:pPr algn="l" indent="0" marL="0">
                        <a:buNone/>
                      </a:pPr>
                      <a:r>
                        <a:rPr lang="en-US" sz="800" dirty="0">
                          <a:solidFill>
                            <a:srgbClr val="141E1E"/>
                          </a:solidFill>
                          <a:latin typeface="Calibri" pitchFamily="34" charset="0"/>
                          <a:ea typeface="Calibri" pitchFamily="34" charset="-122"/>
                          <a:cs typeface="Calibri" pitchFamily="34" charset="-120"/>
                        </a:rPr>
                        <a:t>Billing &amp; Assessments</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2,880</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PI28-29</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P1-2</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r>
              <a:tr h="378823">
                <a:tc>
                  <a:txBody>
                    <a:bodyPr/>
                    <a:lstStyle/>
                    <a:p>
                      <a:pPr algn="l" indent="0" marL="0">
                        <a:buNone/>
                      </a:pPr>
                      <a:r>
                        <a:rPr lang="en-US" sz="800" dirty="0">
                          <a:solidFill>
                            <a:srgbClr val="141E1E"/>
                          </a:solidFill>
                          <a:latin typeface="Calibri" pitchFamily="34" charset="0"/>
                          <a:ea typeface="Calibri" pitchFamily="34" charset="-122"/>
                          <a:cs typeface="Calibri" pitchFamily="34" charset="-120"/>
                        </a:rPr>
                        <a:t>Exemptions</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390</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PI28</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P2</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r>
              <a:tr h="378823">
                <a:tc>
                  <a:txBody>
                    <a:bodyPr/>
                    <a:lstStyle/>
                    <a:p>
                      <a:pPr algn="l" indent="0" marL="0">
                        <a:buNone/>
                      </a:pPr>
                      <a:r>
                        <a:rPr lang="en-US" sz="800" dirty="0">
                          <a:solidFill>
                            <a:srgbClr val="141E1E"/>
                          </a:solidFill>
                          <a:latin typeface="Calibri" pitchFamily="34" charset="0"/>
                          <a:ea typeface="Calibri" pitchFamily="34" charset="-122"/>
                          <a:cs typeface="Calibri" pitchFamily="34" charset="-120"/>
                        </a:rPr>
                        <a:t>Penalty &amp; Interest</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TBD</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PI28-29</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P2</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r>
              <a:tr h="378823">
                <a:tc>
                  <a:txBody>
                    <a:bodyPr/>
                    <a:lstStyle/>
                    <a:p>
                      <a:pPr algn="l" indent="0" marL="0">
                        <a:buNone/>
                      </a:pPr>
                      <a:r>
                        <a:rPr lang="en-US" sz="800" dirty="0">
                          <a:solidFill>
                            <a:srgbClr val="141E1E"/>
                          </a:solidFill>
                          <a:latin typeface="Calibri" pitchFamily="34" charset="0"/>
                          <a:ea typeface="Calibri" pitchFamily="34" charset="-122"/>
                          <a:cs typeface="Calibri" pitchFamily="34" charset="-120"/>
                        </a:rPr>
                        <a:t>Tax Accounts</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TBD</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PI28-29</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800" dirty="0">
                          <a:solidFill>
                            <a:srgbClr val="141E1E"/>
                          </a:solidFill>
                          <a:latin typeface="Calibri" pitchFamily="34" charset="0"/>
                          <a:ea typeface="Calibri" pitchFamily="34" charset="-122"/>
                          <a:cs typeface="Calibri" pitchFamily="34" charset="-120"/>
                        </a:rPr>
                        <a:t>P1</a:t>
                      </a:r>
                      <a:endParaRPr lang="en-US" sz="8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23836"/>
          </a:solidFill>
          <a:ln w="12700">
            <a:solidFill>
              <a:srgbClr val="123836"/>
            </a:solidFill>
            <a:prstDash val="solid"/>
          </a:ln>
        </p:spPr>
      </p:sp>
      <p:sp>
        <p:nvSpPr>
          <p:cNvPr id="3" name="Shape 1"/>
          <p:cNvSpPr/>
          <p:nvPr/>
        </p:nvSpPr>
        <p:spPr>
          <a:xfrm>
            <a:off x="0" y="0"/>
            <a:ext cx="73152" cy="960120"/>
          </a:xfrm>
          <a:prstGeom prst="rect">
            <a:avLst/>
          </a:prstGeom>
          <a:solidFill>
            <a:srgbClr val="FF6359"/>
          </a:solidFill>
          <a:ln w="12700">
            <a:solidFill>
              <a:srgbClr val="FF6359"/>
            </a:solidFill>
            <a:prstDash val="solid"/>
          </a:ln>
        </p:spPr>
      </p:sp>
      <p:sp>
        <p:nvSpPr>
          <p:cNvPr id="4" name="Text 2"/>
          <p:cNvSpPr/>
          <p:nvPr/>
        </p:nvSpPr>
        <p:spPr>
          <a:xfrm>
            <a:off x="182880" y="64008"/>
            <a:ext cx="64008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Registration</a:t>
            </a:r>
            <a:endParaRPr lang="en-US" sz="2000" dirty="0"/>
          </a:p>
        </p:txBody>
      </p:sp>
      <p:sp>
        <p:nvSpPr>
          <p:cNvPr id="5" name="Text 3"/>
          <p:cNvSpPr/>
          <p:nvPr/>
        </p:nvSpPr>
        <p:spPr>
          <a:xfrm>
            <a:off x="182880" y="548640"/>
            <a:ext cx="8229600" cy="347472"/>
          </a:xfrm>
          <a:prstGeom prst="rect">
            <a:avLst/>
          </a:prstGeom>
          <a:noFill/>
          <a:ln/>
        </p:spPr>
        <p:txBody>
          <a:bodyPr wrap="square" lIns="0" tIns="0" rIns="0" bIns="0" rtlCol="0" anchor="ctr"/>
          <a:lstStyle/>
          <a:p>
            <a:pPr indent="0" marL="0">
              <a:buNone/>
            </a:pPr>
            <a:r>
              <a:rPr lang="en-US" sz="1100" dirty="0">
                <a:solidFill>
                  <a:srgbClr val="73AA87"/>
                </a:solidFill>
                <a:latin typeface="Calibri" pitchFamily="34" charset="0"/>
                <a:ea typeface="Calibri" pitchFamily="34" charset="-122"/>
                <a:cs typeface="Calibri" pitchFamily="34" charset="-120"/>
              </a:rPr>
              <a:t>Core Revenue Management Capabilities | Initiative Detail</a:t>
            </a:r>
            <a:endParaRPr lang="en-US" sz="1100" dirty="0"/>
          </a:p>
        </p:txBody>
      </p:sp>
      <p:sp>
        <p:nvSpPr>
          <p:cNvPr id="6" name="Text 4"/>
          <p:cNvSpPr/>
          <p:nvPr/>
        </p:nvSpPr>
        <p:spPr>
          <a:xfrm>
            <a:off x="6858000" y="73152"/>
            <a:ext cx="2103120" cy="365760"/>
          </a:xfrm>
          <a:prstGeom prst="rect">
            <a:avLst/>
          </a:prstGeom>
          <a:noFill/>
          <a:ln/>
        </p:spPr>
        <p:txBody>
          <a:bodyPr wrap="square" lIns="0" tIns="0" rIns="0" bIns="0" rtlCol="0" anchor="ctr"/>
          <a:lstStyle/>
          <a:p>
            <a:pPr algn="r" indent="0" marL="0">
              <a:buNone/>
            </a:pPr>
            <a:r>
              <a:rPr lang="en-US" sz="1200" b="1" dirty="0">
                <a:solidFill>
                  <a:srgbClr val="73AA87"/>
                </a:solidFill>
                <a:latin typeface="Calibri" pitchFamily="34" charset="0"/>
                <a:ea typeface="Calibri" pitchFamily="34" charset="-122"/>
                <a:cs typeface="Calibri" pitchFamily="34" charset="-120"/>
              </a:rPr>
              <a:t>Netcompany</a:t>
            </a:r>
            <a:endParaRPr lang="en-US" sz="1200" dirty="0"/>
          </a:p>
        </p:txBody>
      </p:sp>
      <p:sp>
        <p:nvSpPr>
          <p:cNvPr id="7" name="Shape 5"/>
          <p:cNvSpPr/>
          <p:nvPr/>
        </p:nvSpPr>
        <p:spPr>
          <a:xfrm>
            <a:off x="0" y="4983480"/>
            <a:ext cx="9144000" cy="160020"/>
          </a:xfrm>
          <a:prstGeom prst="rect">
            <a:avLst/>
          </a:prstGeom>
          <a:solidFill>
            <a:srgbClr val="123836"/>
          </a:solidFill>
          <a:ln w="12700">
            <a:solidFill>
              <a:srgbClr val="123836"/>
            </a:solidFill>
            <a:prstDash val="solid"/>
          </a:ln>
        </p:spPr>
      </p:sp>
      <p:sp>
        <p:nvSpPr>
          <p:cNvPr id="8" name="Text 6"/>
          <p:cNvSpPr/>
          <p:nvPr/>
        </p:nvSpPr>
        <p:spPr>
          <a:xfrm>
            <a:off x="137160" y="4974336"/>
            <a:ext cx="6400800" cy="164592"/>
          </a:xfrm>
          <a:prstGeom prst="rect">
            <a:avLst/>
          </a:prstGeom>
          <a:noFill/>
          <a:ln/>
        </p:spPr>
        <p:txBody>
          <a:bodyPr wrap="square" lIns="0" tIns="0" rIns="0" bIns="0" rtlCol="0" anchor="ctr"/>
          <a:lstStyle/>
          <a:p>
            <a:pPr indent="0" marL="0">
              <a:buNone/>
            </a:pPr>
            <a:r>
              <a:rPr lang="en-US" sz="800" dirty="0">
                <a:solidFill>
                  <a:srgbClr val="D0D7D7"/>
                </a:solidFill>
                <a:latin typeface="Calibri" pitchFamily="34" charset="0"/>
                <a:ea typeface="Calibri" pitchFamily="34" charset="-122"/>
                <a:cs typeface="Calibri" pitchFamily="34" charset="-120"/>
              </a:rPr>
              <a:t>Solon Tax Product Roadmap 2026 | SteerCo</a:t>
            </a:r>
            <a:endParaRPr lang="en-US" sz="800" dirty="0"/>
          </a:p>
        </p:txBody>
      </p:sp>
      <p:sp>
        <p:nvSpPr>
          <p:cNvPr id="9" name="Text 7"/>
          <p:cNvSpPr/>
          <p:nvPr/>
        </p:nvSpPr>
        <p:spPr>
          <a:xfrm>
            <a:off x="8686800" y="4974336"/>
            <a:ext cx="365760" cy="164592"/>
          </a:xfrm>
          <a:prstGeom prst="rect">
            <a:avLst/>
          </a:prstGeom>
          <a:noFill/>
          <a:ln/>
        </p:spPr>
        <p:txBody>
          <a:bodyPr wrap="square" lIns="0" tIns="0" rIns="0" bIns="0" rtlCol="0" anchor="ctr"/>
          <a:lstStyle/>
          <a:p>
            <a:pPr algn="r" indent="0" marL="0">
              <a:buNone/>
            </a:pPr>
            <a:r>
              <a:rPr lang="en-US" sz="800" dirty="0">
                <a:solidFill>
                  <a:srgbClr val="D0D7D7"/>
                </a:solidFill>
                <a:latin typeface="Calibri" pitchFamily="34" charset="0"/>
                <a:ea typeface="Calibri" pitchFamily="34" charset="-122"/>
                <a:cs typeface="Calibri" pitchFamily="34" charset="-120"/>
              </a:rPr>
              <a:t>4</a:t>
            </a:r>
            <a:endParaRPr lang="en-US" sz="800" dirty="0"/>
          </a:p>
        </p:txBody>
      </p:sp>
      <p:sp>
        <p:nvSpPr>
          <p:cNvPr id="10" name="Shape 8"/>
          <p:cNvSpPr/>
          <p:nvPr/>
        </p:nvSpPr>
        <p:spPr>
          <a:xfrm>
            <a:off x="228600"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228600" y="1005840"/>
            <a:ext cx="2011680" cy="54864"/>
          </a:xfrm>
          <a:prstGeom prst="rect">
            <a:avLst/>
          </a:prstGeom>
          <a:solidFill>
            <a:srgbClr val="FF6359"/>
          </a:solidFill>
          <a:ln w="12700">
            <a:solidFill>
              <a:srgbClr val="FF6359"/>
            </a:solidFill>
            <a:prstDash val="solid"/>
          </a:ln>
        </p:spPr>
      </p:sp>
      <p:sp>
        <p:nvSpPr>
          <p:cNvPr id="12" name="Text 10"/>
          <p:cNvSpPr/>
          <p:nvPr/>
        </p:nvSpPr>
        <p:spPr>
          <a:xfrm>
            <a:off x="320040" y="1097280"/>
            <a:ext cx="182880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~11,900</a:t>
            </a:r>
            <a:endParaRPr lang="en-US" sz="2200" dirty="0"/>
          </a:p>
        </p:txBody>
      </p:sp>
      <p:sp>
        <p:nvSpPr>
          <p:cNvPr id="13" name="Text 11"/>
          <p:cNvSpPr/>
          <p:nvPr/>
        </p:nvSpPr>
        <p:spPr>
          <a:xfrm>
            <a:off x="320040" y="1481328"/>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Hours</a:t>
            </a:r>
            <a:endParaRPr lang="en-US" sz="900" dirty="0"/>
          </a:p>
        </p:txBody>
      </p:sp>
      <p:sp>
        <p:nvSpPr>
          <p:cNvPr id="14" name="Text 12"/>
          <p:cNvSpPr/>
          <p:nvPr/>
        </p:nvSpPr>
        <p:spPr>
          <a:xfrm>
            <a:off x="274320" y="162763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Total Estimated Effort</a:t>
            </a:r>
            <a:endParaRPr lang="en-US" sz="900" dirty="0"/>
          </a:p>
        </p:txBody>
      </p:sp>
      <p:sp>
        <p:nvSpPr>
          <p:cNvPr id="15" name="Shape 13"/>
          <p:cNvSpPr/>
          <p:nvPr/>
        </p:nvSpPr>
        <p:spPr>
          <a:xfrm>
            <a:off x="2414016"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6" name="Shape 14"/>
          <p:cNvSpPr/>
          <p:nvPr/>
        </p:nvSpPr>
        <p:spPr>
          <a:xfrm>
            <a:off x="2414016" y="1005840"/>
            <a:ext cx="2011680" cy="54864"/>
          </a:xfrm>
          <a:prstGeom prst="rect">
            <a:avLst/>
          </a:prstGeom>
          <a:solidFill>
            <a:srgbClr val="FF6359"/>
          </a:solidFill>
          <a:ln w="12700">
            <a:solidFill>
              <a:srgbClr val="FF6359"/>
            </a:solidFill>
            <a:prstDash val="solid"/>
          </a:ln>
        </p:spPr>
      </p:sp>
      <p:sp>
        <p:nvSpPr>
          <p:cNvPr id="17" name="Text 15"/>
          <p:cNvSpPr/>
          <p:nvPr/>
        </p:nvSpPr>
        <p:spPr>
          <a:xfrm>
            <a:off x="2505456" y="1097280"/>
            <a:ext cx="182880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18" name="Text 16"/>
          <p:cNvSpPr/>
          <p:nvPr/>
        </p:nvSpPr>
        <p:spPr>
          <a:xfrm>
            <a:off x="2505456" y="1481328"/>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Count</a:t>
            </a:r>
            <a:endParaRPr lang="en-US" sz="900" dirty="0"/>
          </a:p>
        </p:txBody>
      </p:sp>
      <p:sp>
        <p:nvSpPr>
          <p:cNvPr id="19" name="Text 17"/>
          <p:cNvSpPr/>
          <p:nvPr/>
        </p:nvSpPr>
        <p:spPr>
          <a:xfrm>
            <a:off x="2459736" y="162763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Features in Scope</a:t>
            </a:r>
            <a:endParaRPr lang="en-US" sz="900" dirty="0"/>
          </a:p>
        </p:txBody>
      </p:sp>
      <p:sp>
        <p:nvSpPr>
          <p:cNvPr id="20" name="Shape 18"/>
          <p:cNvSpPr/>
          <p:nvPr/>
        </p:nvSpPr>
        <p:spPr>
          <a:xfrm>
            <a:off x="4599432"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1" name="Shape 19"/>
          <p:cNvSpPr/>
          <p:nvPr/>
        </p:nvSpPr>
        <p:spPr>
          <a:xfrm>
            <a:off x="4599432" y="1005840"/>
            <a:ext cx="2011680" cy="54864"/>
          </a:xfrm>
          <a:prstGeom prst="rect">
            <a:avLst/>
          </a:prstGeom>
          <a:solidFill>
            <a:srgbClr val="FF6359"/>
          </a:solidFill>
          <a:ln w="12700">
            <a:solidFill>
              <a:srgbClr val="FF6359"/>
            </a:solidFill>
            <a:prstDash val="solid"/>
          </a:ln>
        </p:spPr>
      </p:sp>
      <p:sp>
        <p:nvSpPr>
          <p:cNvPr id="22" name="Text 20"/>
          <p:cNvSpPr/>
          <p:nvPr/>
        </p:nvSpPr>
        <p:spPr>
          <a:xfrm>
            <a:off x="4690872" y="1097280"/>
            <a:ext cx="182880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P1</a:t>
            </a:r>
            <a:endParaRPr lang="en-US" sz="2200" dirty="0"/>
          </a:p>
        </p:txBody>
      </p:sp>
      <p:sp>
        <p:nvSpPr>
          <p:cNvPr id="23" name="Text 21"/>
          <p:cNvSpPr/>
          <p:nvPr/>
        </p:nvSpPr>
        <p:spPr>
          <a:xfrm>
            <a:off x="4690872" y="1481328"/>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Must Have</a:t>
            </a:r>
            <a:endParaRPr lang="en-US" sz="900" dirty="0"/>
          </a:p>
        </p:txBody>
      </p:sp>
      <p:sp>
        <p:nvSpPr>
          <p:cNvPr id="24" name="Text 22"/>
          <p:cNvSpPr/>
          <p:nvPr/>
        </p:nvSpPr>
        <p:spPr>
          <a:xfrm>
            <a:off x="4645152" y="162763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Primary Priority</a:t>
            </a:r>
            <a:endParaRPr lang="en-US" sz="900" dirty="0"/>
          </a:p>
        </p:txBody>
      </p:sp>
      <p:sp>
        <p:nvSpPr>
          <p:cNvPr id="25" name="Shape 23"/>
          <p:cNvSpPr/>
          <p:nvPr/>
        </p:nvSpPr>
        <p:spPr>
          <a:xfrm>
            <a:off x="6784848"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6" name="Shape 24"/>
          <p:cNvSpPr/>
          <p:nvPr/>
        </p:nvSpPr>
        <p:spPr>
          <a:xfrm>
            <a:off x="6784848" y="1005840"/>
            <a:ext cx="2011680" cy="54864"/>
          </a:xfrm>
          <a:prstGeom prst="rect">
            <a:avLst/>
          </a:prstGeom>
          <a:solidFill>
            <a:srgbClr val="FF6359"/>
          </a:solidFill>
          <a:ln w="12700">
            <a:solidFill>
              <a:srgbClr val="FF6359"/>
            </a:solidFill>
            <a:prstDash val="solid"/>
          </a:ln>
        </p:spPr>
      </p:sp>
      <p:sp>
        <p:nvSpPr>
          <p:cNvPr id="27" name="Text 25"/>
          <p:cNvSpPr/>
          <p:nvPr/>
        </p:nvSpPr>
        <p:spPr>
          <a:xfrm>
            <a:off x="6876288" y="1097280"/>
            <a:ext cx="182880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PI27–PI29</a:t>
            </a:r>
            <a:endParaRPr lang="en-US" sz="2200" dirty="0"/>
          </a:p>
        </p:txBody>
      </p:sp>
      <p:sp>
        <p:nvSpPr>
          <p:cNvPr id="28" name="Text 26"/>
          <p:cNvSpPr/>
          <p:nvPr/>
        </p:nvSpPr>
        <p:spPr>
          <a:xfrm>
            <a:off x="6876288" y="1481328"/>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Program Increments</a:t>
            </a:r>
            <a:endParaRPr lang="en-US" sz="900" dirty="0"/>
          </a:p>
        </p:txBody>
      </p:sp>
      <p:sp>
        <p:nvSpPr>
          <p:cNvPr id="29" name="Text 27"/>
          <p:cNvSpPr/>
          <p:nvPr/>
        </p:nvSpPr>
        <p:spPr>
          <a:xfrm>
            <a:off x="6830568" y="162763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Planned PI Window</a:t>
            </a:r>
            <a:endParaRPr lang="en-US" sz="900" dirty="0"/>
          </a:p>
        </p:txBody>
      </p:sp>
      <p:sp>
        <p:nvSpPr>
          <p:cNvPr id="30" name="Text 28"/>
          <p:cNvSpPr/>
          <p:nvPr/>
        </p:nvSpPr>
        <p:spPr>
          <a:xfrm>
            <a:off x="228600" y="1965960"/>
            <a:ext cx="2743200" cy="228600"/>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Business Scope</a:t>
            </a:r>
            <a:endParaRPr lang="en-US" sz="1000" dirty="0"/>
          </a:p>
        </p:txBody>
      </p:sp>
      <p:sp>
        <p:nvSpPr>
          <p:cNvPr id="31" name="Text 29"/>
          <p:cNvSpPr/>
          <p:nvPr/>
        </p:nvSpPr>
        <p:spPr>
          <a:xfrm>
            <a:off x="228600" y="2212848"/>
            <a:ext cx="2743200" cy="685800"/>
          </a:xfrm>
          <a:prstGeom prst="rect">
            <a:avLst/>
          </a:prstGeom>
          <a:noFill/>
          <a:ln/>
        </p:spPr>
        <p:txBody>
          <a:bodyPr wrap="square" lIns="0" tIns="0" rIns="0" bIns="0" rtlCol="0" anchor="ctr"/>
          <a:lstStyle/>
          <a:p>
            <a:pPr indent="0" marL="0">
              <a:buNone/>
            </a:pPr>
            <a:r>
              <a:rPr lang="en-US" sz="900" dirty="0">
                <a:solidFill>
                  <a:srgbClr val="141E1E"/>
                </a:solidFill>
                <a:latin typeface="Calibri" pitchFamily="34" charset="0"/>
                <a:ea typeface="Calibri" pitchFamily="34" charset="-122"/>
                <a:cs typeface="Calibri" pitchFamily="34" charset="-120"/>
              </a:rPr>
              <a:t>Enables tax authorities to manage the complete registration lifecycle — including party creation, identifier management, historical data tracking, and organisational hierarchy. Supports natural persons and legal entities with full audit traceability.</a:t>
            </a:r>
            <a:endParaRPr lang="en-US" sz="900" dirty="0"/>
          </a:p>
        </p:txBody>
      </p:sp>
      <p:sp>
        <p:nvSpPr>
          <p:cNvPr id="32" name="Text 30"/>
          <p:cNvSpPr/>
          <p:nvPr/>
        </p:nvSpPr>
        <p:spPr>
          <a:xfrm>
            <a:off x="228600" y="2944368"/>
            <a:ext cx="2743200" cy="201168"/>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Key Investment Benefits</a:t>
            </a:r>
            <a:endParaRPr lang="en-US" sz="1000" dirty="0"/>
          </a:p>
        </p:txBody>
      </p:sp>
      <p:sp>
        <p:nvSpPr>
          <p:cNvPr id="33" name="Text 31"/>
          <p:cNvSpPr/>
          <p:nvPr/>
        </p:nvSpPr>
        <p:spPr>
          <a:xfrm>
            <a:off x="228600" y="3172968"/>
            <a:ext cx="2743200" cy="749808"/>
          </a:xfrm>
          <a:prstGeom prst="rect">
            <a:avLst/>
          </a:prstGeom>
          <a:noFill/>
          <a:ln/>
        </p:spPr>
        <p:txBody>
          <a:bodyPr wrap="square" rtlCol="0" anchor="ctr"/>
          <a:lstStyle/>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Faster taxpayer onboarding reduces overhead and improves service delivery</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Flexible party model supports VAT, CIT, and PAYE with full audit traceability</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Structured identifiers and validation rules improve data quality across tax types</a:t>
            </a:r>
            <a:endParaRPr lang="en-US" sz="900" dirty="0"/>
          </a:p>
        </p:txBody>
      </p:sp>
      <p:sp>
        <p:nvSpPr>
          <p:cNvPr id="34" name="Text 32"/>
          <p:cNvSpPr/>
          <p:nvPr/>
        </p:nvSpPr>
        <p:spPr>
          <a:xfrm>
            <a:off x="3108960" y="1965960"/>
            <a:ext cx="3017520" cy="228600"/>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Estimated Effort by Feature Area</a:t>
            </a:r>
            <a:endParaRPr lang="en-US" sz="1000" dirty="0"/>
          </a:p>
        </p:txBody>
      </p:sp>
      <p:graphicFrame>
        <p:nvGraphicFramePr>
          <p:cNvPr id="35" name="Chart 0" descr=""/>
          <p:cNvGraphicFramePr/>
          <p:nvPr/>
        </p:nvGraphicFramePr>
        <p:xfrm>
          <a:off x="3108960" y="2212848"/>
          <a:ext cx="3017520" cy="1828800"/>
        </p:xfrm>
        <a:graphic xmlns:a="http://schemas.openxmlformats.org/drawingml/2006/main">
          <a:graphicData uri="http://schemas.openxmlformats.org/drawingml/2006/chart">
            <c:chart xmlns:c="http://schemas.openxmlformats.org/drawingml/2006/chart" r:id="rId1"/>
          </a:graphicData>
        </a:graphic>
      </p:graphicFrame>
      <p:sp>
        <p:nvSpPr>
          <p:cNvPr id="36" name="Text 33"/>
          <p:cNvSpPr/>
          <p:nvPr/>
        </p:nvSpPr>
        <p:spPr>
          <a:xfrm>
            <a:off x="6263640" y="1965960"/>
            <a:ext cx="2651760" cy="228600"/>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Priority Distribution</a:t>
            </a:r>
            <a:endParaRPr lang="en-US" sz="1000" dirty="0"/>
          </a:p>
        </p:txBody>
      </p:sp>
      <p:graphicFrame>
        <p:nvGraphicFramePr>
          <p:cNvPr id="37" name="Chart 1" descr=""/>
          <p:cNvGraphicFramePr/>
          <p:nvPr/>
        </p:nvGraphicFramePr>
        <p:xfrm>
          <a:off x="6263640" y="2212848"/>
          <a:ext cx="2651760" cy="914400"/>
        </p:xfrm>
        <a:graphic xmlns:a="http://schemas.openxmlformats.org/drawingml/2006/main">
          <a:graphicData uri="http://schemas.openxmlformats.org/drawingml/2006/chart">
            <c:chart xmlns:c="http://schemas.openxmlformats.org/drawingml/2006/chart" r:id="rId2"/>
          </a:graphicData>
        </a:graphic>
      </p:graphicFrame>
      <p:sp>
        <p:nvSpPr>
          <p:cNvPr id="38" name="Text 34"/>
          <p:cNvSpPr/>
          <p:nvPr/>
        </p:nvSpPr>
        <p:spPr>
          <a:xfrm>
            <a:off x="6263640" y="3191256"/>
            <a:ext cx="2651760" cy="201168"/>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Stakeholder Split</a:t>
            </a:r>
            <a:endParaRPr lang="en-US" sz="1000" dirty="0"/>
          </a:p>
        </p:txBody>
      </p:sp>
      <p:graphicFrame>
        <p:nvGraphicFramePr>
          <p:cNvPr id="39" name="Chart 2" descr=""/>
          <p:cNvGraphicFramePr/>
          <p:nvPr/>
        </p:nvGraphicFramePr>
        <p:xfrm>
          <a:off x="6263640" y="3410712"/>
          <a:ext cx="2651760" cy="621792"/>
        </p:xfrm>
        <a:graphic xmlns:a="http://schemas.openxmlformats.org/drawingml/2006/main">
          <a:graphicData uri="http://schemas.openxmlformats.org/drawingml/2006/chart">
            <c:chart xmlns:c="http://schemas.openxmlformats.org/drawingml/2006/chart" r:id="rId3"/>
          </a:graphicData>
        </a:graphic>
      </p:graphicFrame>
      <p:sp>
        <p:nvSpPr>
          <p:cNvPr id="40" name="Text 35"/>
          <p:cNvSpPr/>
          <p:nvPr/>
        </p:nvSpPr>
        <p:spPr>
          <a:xfrm>
            <a:off x="228600" y="3886200"/>
            <a:ext cx="914400" cy="201168"/>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PI Planning</a:t>
            </a:r>
            <a:endParaRPr lang="en-US" sz="1000" dirty="0"/>
          </a:p>
        </p:txBody>
      </p:sp>
      <p:sp>
        <p:nvSpPr>
          <p:cNvPr id="41" name="Shape 36"/>
          <p:cNvSpPr/>
          <p:nvPr/>
        </p:nvSpPr>
        <p:spPr>
          <a:xfrm>
            <a:off x="228600" y="4114800"/>
            <a:ext cx="2743200" cy="658368"/>
          </a:xfrm>
          <a:prstGeom prst="rect">
            <a:avLst/>
          </a:prstGeom>
          <a:solidFill>
            <a:srgbClr val="123836"/>
          </a:solidFill>
          <a:ln w="12700">
            <a:solidFill>
              <a:srgbClr val="123836"/>
            </a:solidFill>
            <a:prstDash val="solid"/>
          </a:ln>
        </p:spPr>
      </p:sp>
      <p:sp>
        <p:nvSpPr>
          <p:cNvPr id="42" name="Text 37"/>
          <p:cNvSpPr/>
          <p:nvPr/>
        </p:nvSpPr>
        <p:spPr>
          <a:xfrm>
            <a:off x="320040" y="4142232"/>
            <a:ext cx="502920" cy="201168"/>
          </a:xfrm>
          <a:prstGeom prst="rect">
            <a:avLst/>
          </a:prstGeom>
          <a:noFill/>
          <a:ln/>
        </p:spPr>
        <p:txBody>
          <a:bodyPr wrap="square" lIns="0" tIns="0" rIns="0" bIns="0" rtlCol="0" anchor="ctr"/>
          <a:lstStyle/>
          <a:p>
            <a:pPr indent="0" marL="0">
              <a:buNone/>
            </a:pPr>
            <a:r>
              <a:rPr lang="en-US" sz="1000" b="1" dirty="0">
                <a:solidFill>
                  <a:srgbClr val="FFD282"/>
                </a:solidFill>
                <a:latin typeface="Calibri" pitchFamily="34" charset="0"/>
                <a:ea typeface="Calibri" pitchFamily="34" charset="-122"/>
                <a:cs typeface="Calibri" pitchFamily="34" charset="-120"/>
              </a:rPr>
              <a:t>PI27</a:t>
            </a:r>
            <a:endParaRPr lang="en-US" sz="1000" dirty="0"/>
          </a:p>
        </p:txBody>
      </p:sp>
      <p:sp>
        <p:nvSpPr>
          <p:cNvPr id="43" name="Text 38"/>
          <p:cNvSpPr/>
          <p:nvPr/>
        </p:nvSpPr>
        <p:spPr>
          <a:xfrm>
            <a:off x="850392" y="4133088"/>
            <a:ext cx="2057400" cy="402336"/>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Party Identifiers · Historical Data View · Additional Name Elements (3 features)</a:t>
            </a:r>
            <a:endParaRPr lang="en-US" sz="800" dirty="0"/>
          </a:p>
        </p:txBody>
      </p:sp>
      <p:sp>
        <p:nvSpPr>
          <p:cNvPr id="44" name="Shape 39"/>
          <p:cNvSpPr/>
          <p:nvPr/>
        </p:nvSpPr>
        <p:spPr>
          <a:xfrm>
            <a:off x="3127248" y="4114800"/>
            <a:ext cx="2743200" cy="658368"/>
          </a:xfrm>
          <a:prstGeom prst="rect">
            <a:avLst/>
          </a:prstGeom>
          <a:solidFill>
            <a:srgbClr val="1B5E52"/>
          </a:solidFill>
          <a:ln w="12700">
            <a:solidFill>
              <a:srgbClr val="1B5E52"/>
            </a:solidFill>
            <a:prstDash val="solid"/>
          </a:ln>
        </p:spPr>
      </p:sp>
      <p:sp>
        <p:nvSpPr>
          <p:cNvPr id="45" name="Text 40"/>
          <p:cNvSpPr/>
          <p:nvPr/>
        </p:nvSpPr>
        <p:spPr>
          <a:xfrm>
            <a:off x="3218688" y="4142232"/>
            <a:ext cx="502920" cy="201168"/>
          </a:xfrm>
          <a:prstGeom prst="rect">
            <a:avLst/>
          </a:prstGeom>
          <a:noFill/>
          <a:ln/>
        </p:spPr>
        <p:txBody>
          <a:bodyPr wrap="square" lIns="0" tIns="0" rIns="0" bIns="0" rtlCol="0" anchor="ctr"/>
          <a:lstStyle/>
          <a:p>
            <a:pPr indent="0" marL="0">
              <a:buNone/>
            </a:pPr>
            <a:r>
              <a:rPr lang="en-US" sz="1000" b="1" dirty="0">
                <a:solidFill>
                  <a:srgbClr val="FFD282"/>
                </a:solidFill>
                <a:latin typeface="Calibri" pitchFamily="34" charset="0"/>
                <a:ea typeface="Calibri" pitchFamily="34" charset="-122"/>
                <a:cs typeface="Calibri" pitchFamily="34" charset="-120"/>
              </a:rPr>
              <a:t>PI28</a:t>
            </a:r>
            <a:endParaRPr lang="en-US" sz="1000" dirty="0"/>
          </a:p>
        </p:txBody>
      </p:sp>
      <p:sp>
        <p:nvSpPr>
          <p:cNvPr id="46" name="Text 41"/>
          <p:cNvSpPr/>
          <p:nvPr/>
        </p:nvSpPr>
        <p:spPr>
          <a:xfrm>
            <a:off x="3749040" y="4133088"/>
            <a:ext cx="2057400" cy="402336"/>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Data Area Enhancements · Search Enhancements (2 features) — confirm capacity now</a:t>
            </a:r>
            <a:endParaRPr lang="en-US" sz="800" dirty="0"/>
          </a:p>
        </p:txBody>
      </p:sp>
      <p:sp>
        <p:nvSpPr>
          <p:cNvPr id="47" name="Shape 42"/>
          <p:cNvSpPr/>
          <p:nvPr/>
        </p:nvSpPr>
        <p:spPr>
          <a:xfrm>
            <a:off x="6025896" y="4114800"/>
            <a:ext cx="2743200" cy="658368"/>
          </a:xfrm>
          <a:prstGeom prst="rect">
            <a:avLst/>
          </a:prstGeom>
          <a:solidFill>
            <a:srgbClr val="718886"/>
          </a:solidFill>
          <a:ln w="12700">
            <a:solidFill>
              <a:srgbClr val="718886"/>
            </a:solidFill>
            <a:prstDash val="solid"/>
          </a:ln>
        </p:spPr>
      </p:sp>
      <p:sp>
        <p:nvSpPr>
          <p:cNvPr id="48" name="Text 43"/>
          <p:cNvSpPr/>
          <p:nvPr/>
        </p:nvSpPr>
        <p:spPr>
          <a:xfrm>
            <a:off x="6117336" y="4142232"/>
            <a:ext cx="502920" cy="201168"/>
          </a:xfrm>
          <a:prstGeom prst="rect">
            <a:avLst/>
          </a:prstGeom>
          <a:noFill/>
          <a:ln/>
        </p:spPr>
        <p:txBody>
          <a:bodyPr wrap="square" lIns="0" tIns="0" rIns="0" bIns="0" rtlCol="0" anchor="ctr"/>
          <a:lstStyle/>
          <a:p>
            <a:pPr indent="0" marL="0">
              <a:buNone/>
            </a:pPr>
            <a:r>
              <a:rPr lang="en-US" sz="1000" b="1" dirty="0">
                <a:solidFill>
                  <a:srgbClr val="FFD282"/>
                </a:solidFill>
                <a:latin typeface="Calibri" pitchFamily="34" charset="0"/>
                <a:ea typeface="Calibri" pitchFamily="34" charset="-122"/>
                <a:cs typeface="Calibri" pitchFamily="34" charset="-120"/>
              </a:rPr>
              <a:t>PI29</a:t>
            </a:r>
            <a:endParaRPr lang="en-US" sz="1000" dirty="0"/>
          </a:p>
        </p:txBody>
      </p:sp>
      <p:sp>
        <p:nvSpPr>
          <p:cNvPr id="49" name="Text 44"/>
          <p:cNvSpPr/>
          <p:nvPr/>
        </p:nvSpPr>
        <p:spPr>
          <a:xfrm>
            <a:off x="6647688" y="4133088"/>
            <a:ext cx="2057400" cy="402336"/>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Organisational Hierarchy View — GRC team alignment required before scoping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23836"/>
          </a:solidFill>
          <a:ln w="12700">
            <a:solidFill>
              <a:srgbClr val="123836"/>
            </a:solidFill>
            <a:prstDash val="solid"/>
          </a:ln>
        </p:spPr>
      </p:sp>
      <p:sp>
        <p:nvSpPr>
          <p:cNvPr id="3" name="Shape 1"/>
          <p:cNvSpPr/>
          <p:nvPr/>
        </p:nvSpPr>
        <p:spPr>
          <a:xfrm>
            <a:off x="0" y="0"/>
            <a:ext cx="73152" cy="960120"/>
          </a:xfrm>
          <a:prstGeom prst="rect">
            <a:avLst/>
          </a:prstGeom>
          <a:solidFill>
            <a:srgbClr val="FF6359"/>
          </a:solidFill>
          <a:ln w="12700">
            <a:solidFill>
              <a:srgbClr val="FF6359"/>
            </a:solidFill>
            <a:prstDash val="solid"/>
          </a:ln>
        </p:spPr>
      </p:sp>
      <p:sp>
        <p:nvSpPr>
          <p:cNvPr id="4" name="Text 2"/>
          <p:cNvSpPr/>
          <p:nvPr/>
        </p:nvSpPr>
        <p:spPr>
          <a:xfrm>
            <a:off x="182880" y="64008"/>
            <a:ext cx="64008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Taxpayer Accounting</a:t>
            </a:r>
            <a:endParaRPr lang="en-US" sz="2000" dirty="0"/>
          </a:p>
        </p:txBody>
      </p:sp>
      <p:sp>
        <p:nvSpPr>
          <p:cNvPr id="5" name="Text 3"/>
          <p:cNvSpPr/>
          <p:nvPr/>
        </p:nvSpPr>
        <p:spPr>
          <a:xfrm>
            <a:off x="182880" y="548640"/>
            <a:ext cx="8229600" cy="347472"/>
          </a:xfrm>
          <a:prstGeom prst="rect">
            <a:avLst/>
          </a:prstGeom>
          <a:noFill/>
          <a:ln/>
        </p:spPr>
        <p:txBody>
          <a:bodyPr wrap="square" lIns="0" tIns="0" rIns="0" bIns="0" rtlCol="0" anchor="ctr"/>
          <a:lstStyle/>
          <a:p>
            <a:pPr indent="0" marL="0">
              <a:buNone/>
            </a:pPr>
            <a:r>
              <a:rPr lang="en-US" sz="1100" dirty="0">
                <a:solidFill>
                  <a:srgbClr val="73AA87"/>
                </a:solidFill>
                <a:latin typeface="Calibri" pitchFamily="34" charset="0"/>
                <a:ea typeface="Calibri" pitchFamily="34" charset="-122"/>
                <a:cs typeface="Calibri" pitchFamily="34" charset="-120"/>
              </a:rPr>
              <a:t>Core Revenue Management Capabilities | Initiative Detail</a:t>
            </a:r>
            <a:endParaRPr lang="en-US" sz="1100" dirty="0"/>
          </a:p>
        </p:txBody>
      </p:sp>
      <p:sp>
        <p:nvSpPr>
          <p:cNvPr id="6" name="Text 4"/>
          <p:cNvSpPr/>
          <p:nvPr/>
        </p:nvSpPr>
        <p:spPr>
          <a:xfrm>
            <a:off x="6858000" y="73152"/>
            <a:ext cx="2103120" cy="365760"/>
          </a:xfrm>
          <a:prstGeom prst="rect">
            <a:avLst/>
          </a:prstGeom>
          <a:noFill/>
          <a:ln/>
        </p:spPr>
        <p:txBody>
          <a:bodyPr wrap="square" lIns="0" tIns="0" rIns="0" bIns="0" rtlCol="0" anchor="ctr"/>
          <a:lstStyle/>
          <a:p>
            <a:pPr algn="r" indent="0" marL="0">
              <a:buNone/>
            </a:pPr>
            <a:r>
              <a:rPr lang="en-US" sz="1200" b="1" dirty="0">
                <a:solidFill>
                  <a:srgbClr val="73AA87"/>
                </a:solidFill>
                <a:latin typeface="Calibri" pitchFamily="34" charset="0"/>
                <a:ea typeface="Calibri" pitchFamily="34" charset="-122"/>
                <a:cs typeface="Calibri" pitchFamily="34" charset="-120"/>
              </a:rPr>
              <a:t>Netcompany</a:t>
            </a:r>
            <a:endParaRPr lang="en-US" sz="1200" dirty="0"/>
          </a:p>
        </p:txBody>
      </p:sp>
      <p:sp>
        <p:nvSpPr>
          <p:cNvPr id="7" name="Shape 5"/>
          <p:cNvSpPr/>
          <p:nvPr/>
        </p:nvSpPr>
        <p:spPr>
          <a:xfrm>
            <a:off x="0" y="4983480"/>
            <a:ext cx="9144000" cy="160020"/>
          </a:xfrm>
          <a:prstGeom prst="rect">
            <a:avLst/>
          </a:prstGeom>
          <a:solidFill>
            <a:srgbClr val="123836"/>
          </a:solidFill>
          <a:ln w="12700">
            <a:solidFill>
              <a:srgbClr val="123836"/>
            </a:solidFill>
            <a:prstDash val="solid"/>
          </a:ln>
        </p:spPr>
      </p:sp>
      <p:sp>
        <p:nvSpPr>
          <p:cNvPr id="8" name="Text 6"/>
          <p:cNvSpPr/>
          <p:nvPr/>
        </p:nvSpPr>
        <p:spPr>
          <a:xfrm>
            <a:off x="137160" y="4974336"/>
            <a:ext cx="6400800" cy="164592"/>
          </a:xfrm>
          <a:prstGeom prst="rect">
            <a:avLst/>
          </a:prstGeom>
          <a:noFill/>
          <a:ln/>
        </p:spPr>
        <p:txBody>
          <a:bodyPr wrap="square" lIns="0" tIns="0" rIns="0" bIns="0" rtlCol="0" anchor="ctr"/>
          <a:lstStyle/>
          <a:p>
            <a:pPr indent="0" marL="0">
              <a:buNone/>
            </a:pPr>
            <a:r>
              <a:rPr lang="en-US" sz="800" dirty="0">
                <a:solidFill>
                  <a:srgbClr val="D0D7D7"/>
                </a:solidFill>
                <a:latin typeface="Calibri" pitchFamily="34" charset="0"/>
                <a:ea typeface="Calibri" pitchFamily="34" charset="-122"/>
                <a:cs typeface="Calibri" pitchFamily="34" charset="-120"/>
              </a:rPr>
              <a:t>Solon Tax Product Roadmap 2026 | SteerCo</a:t>
            </a:r>
            <a:endParaRPr lang="en-US" sz="800" dirty="0"/>
          </a:p>
        </p:txBody>
      </p:sp>
      <p:sp>
        <p:nvSpPr>
          <p:cNvPr id="9" name="Text 7"/>
          <p:cNvSpPr/>
          <p:nvPr/>
        </p:nvSpPr>
        <p:spPr>
          <a:xfrm>
            <a:off x="8686800" y="4974336"/>
            <a:ext cx="365760" cy="164592"/>
          </a:xfrm>
          <a:prstGeom prst="rect">
            <a:avLst/>
          </a:prstGeom>
          <a:noFill/>
          <a:ln/>
        </p:spPr>
        <p:txBody>
          <a:bodyPr wrap="square" lIns="0" tIns="0" rIns="0" bIns="0" rtlCol="0" anchor="ctr"/>
          <a:lstStyle/>
          <a:p>
            <a:pPr algn="r" indent="0" marL="0">
              <a:buNone/>
            </a:pPr>
            <a:r>
              <a:rPr lang="en-US" sz="800" dirty="0">
                <a:solidFill>
                  <a:srgbClr val="D0D7D7"/>
                </a:solidFill>
                <a:latin typeface="Calibri" pitchFamily="34" charset="0"/>
                <a:ea typeface="Calibri" pitchFamily="34" charset="-122"/>
                <a:cs typeface="Calibri" pitchFamily="34" charset="-120"/>
              </a:rPr>
              <a:t>5</a:t>
            </a:r>
            <a:endParaRPr lang="en-US" sz="800" dirty="0"/>
          </a:p>
        </p:txBody>
      </p:sp>
      <p:sp>
        <p:nvSpPr>
          <p:cNvPr id="10" name="Shape 8"/>
          <p:cNvSpPr/>
          <p:nvPr/>
        </p:nvSpPr>
        <p:spPr>
          <a:xfrm>
            <a:off x="228600"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228600" y="1005840"/>
            <a:ext cx="2011680" cy="54864"/>
          </a:xfrm>
          <a:prstGeom prst="rect">
            <a:avLst/>
          </a:prstGeom>
          <a:solidFill>
            <a:srgbClr val="FF6359"/>
          </a:solidFill>
          <a:ln w="12700">
            <a:solidFill>
              <a:srgbClr val="FF6359"/>
            </a:solidFill>
            <a:prstDash val="solid"/>
          </a:ln>
        </p:spPr>
      </p:sp>
      <p:sp>
        <p:nvSpPr>
          <p:cNvPr id="12" name="Text 10"/>
          <p:cNvSpPr/>
          <p:nvPr/>
        </p:nvSpPr>
        <p:spPr>
          <a:xfrm>
            <a:off x="320040" y="1097280"/>
            <a:ext cx="182880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~8,064</a:t>
            </a:r>
            <a:endParaRPr lang="en-US" sz="2200" dirty="0"/>
          </a:p>
        </p:txBody>
      </p:sp>
      <p:sp>
        <p:nvSpPr>
          <p:cNvPr id="13" name="Text 11"/>
          <p:cNvSpPr/>
          <p:nvPr/>
        </p:nvSpPr>
        <p:spPr>
          <a:xfrm>
            <a:off x="320040" y="1481328"/>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Hours</a:t>
            </a:r>
            <a:endParaRPr lang="en-US" sz="900" dirty="0"/>
          </a:p>
        </p:txBody>
      </p:sp>
      <p:sp>
        <p:nvSpPr>
          <p:cNvPr id="14" name="Text 12"/>
          <p:cNvSpPr/>
          <p:nvPr/>
        </p:nvSpPr>
        <p:spPr>
          <a:xfrm>
            <a:off x="274320" y="162763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Total Estimated Effort</a:t>
            </a:r>
            <a:endParaRPr lang="en-US" sz="900" dirty="0"/>
          </a:p>
        </p:txBody>
      </p:sp>
      <p:sp>
        <p:nvSpPr>
          <p:cNvPr id="15" name="Shape 13"/>
          <p:cNvSpPr/>
          <p:nvPr/>
        </p:nvSpPr>
        <p:spPr>
          <a:xfrm>
            <a:off x="2414016"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6" name="Shape 14"/>
          <p:cNvSpPr/>
          <p:nvPr/>
        </p:nvSpPr>
        <p:spPr>
          <a:xfrm>
            <a:off x="2414016" y="1005840"/>
            <a:ext cx="2011680" cy="54864"/>
          </a:xfrm>
          <a:prstGeom prst="rect">
            <a:avLst/>
          </a:prstGeom>
          <a:solidFill>
            <a:srgbClr val="FF6359"/>
          </a:solidFill>
          <a:ln w="12700">
            <a:solidFill>
              <a:srgbClr val="FF6359"/>
            </a:solidFill>
            <a:prstDash val="solid"/>
          </a:ln>
        </p:spPr>
      </p:sp>
      <p:sp>
        <p:nvSpPr>
          <p:cNvPr id="17" name="Text 15"/>
          <p:cNvSpPr/>
          <p:nvPr/>
        </p:nvSpPr>
        <p:spPr>
          <a:xfrm>
            <a:off x="2505456" y="1097280"/>
            <a:ext cx="182880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8" name="Text 16"/>
          <p:cNvSpPr/>
          <p:nvPr/>
        </p:nvSpPr>
        <p:spPr>
          <a:xfrm>
            <a:off x="2505456" y="1481328"/>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Count</a:t>
            </a:r>
            <a:endParaRPr lang="en-US" sz="900" dirty="0"/>
          </a:p>
        </p:txBody>
      </p:sp>
      <p:sp>
        <p:nvSpPr>
          <p:cNvPr id="19" name="Text 17"/>
          <p:cNvSpPr/>
          <p:nvPr/>
        </p:nvSpPr>
        <p:spPr>
          <a:xfrm>
            <a:off x="2459736" y="162763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Features in Scope</a:t>
            </a:r>
            <a:endParaRPr lang="en-US" sz="900" dirty="0"/>
          </a:p>
        </p:txBody>
      </p:sp>
      <p:sp>
        <p:nvSpPr>
          <p:cNvPr id="20" name="Shape 18"/>
          <p:cNvSpPr/>
          <p:nvPr/>
        </p:nvSpPr>
        <p:spPr>
          <a:xfrm>
            <a:off x="4599432"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1" name="Shape 19"/>
          <p:cNvSpPr/>
          <p:nvPr/>
        </p:nvSpPr>
        <p:spPr>
          <a:xfrm>
            <a:off x="4599432" y="1005840"/>
            <a:ext cx="2011680" cy="54864"/>
          </a:xfrm>
          <a:prstGeom prst="rect">
            <a:avLst/>
          </a:prstGeom>
          <a:solidFill>
            <a:srgbClr val="FF6359"/>
          </a:solidFill>
          <a:ln w="12700">
            <a:solidFill>
              <a:srgbClr val="FF6359"/>
            </a:solidFill>
            <a:prstDash val="solid"/>
          </a:ln>
        </p:spPr>
      </p:sp>
      <p:sp>
        <p:nvSpPr>
          <p:cNvPr id="22" name="Text 20"/>
          <p:cNvSpPr/>
          <p:nvPr/>
        </p:nvSpPr>
        <p:spPr>
          <a:xfrm>
            <a:off x="4690872" y="1097280"/>
            <a:ext cx="182880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P1</a:t>
            </a:r>
            <a:endParaRPr lang="en-US" sz="2200" dirty="0"/>
          </a:p>
        </p:txBody>
      </p:sp>
      <p:sp>
        <p:nvSpPr>
          <p:cNvPr id="23" name="Text 21"/>
          <p:cNvSpPr/>
          <p:nvPr/>
        </p:nvSpPr>
        <p:spPr>
          <a:xfrm>
            <a:off x="4690872" y="1481328"/>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Must Have</a:t>
            </a:r>
            <a:endParaRPr lang="en-US" sz="900" dirty="0"/>
          </a:p>
        </p:txBody>
      </p:sp>
      <p:sp>
        <p:nvSpPr>
          <p:cNvPr id="24" name="Text 22"/>
          <p:cNvSpPr/>
          <p:nvPr/>
        </p:nvSpPr>
        <p:spPr>
          <a:xfrm>
            <a:off x="4645152" y="162763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Primary Priority</a:t>
            </a:r>
            <a:endParaRPr lang="en-US" sz="900" dirty="0"/>
          </a:p>
        </p:txBody>
      </p:sp>
      <p:sp>
        <p:nvSpPr>
          <p:cNvPr id="25" name="Shape 23"/>
          <p:cNvSpPr/>
          <p:nvPr/>
        </p:nvSpPr>
        <p:spPr>
          <a:xfrm>
            <a:off x="6784848"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6" name="Shape 24"/>
          <p:cNvSpPr/>
          <p:nvPr/>
        </p:nvSpPr>
        <p:spPr>
          <a:xfrm>
            <a:off x="6784848" y="1005840"/>
            <a:ext cx="2011680" cy="54864"/>
          </a:xfrm>
          <a:prstGeom prst="rect">
            <a:avLst/>
          </a:prstGeom>
          <a:solidFill>
            <a:srgbClr val="FF6359"/>
          </a:solidFill>
          <a:ln w="12700">
            <a:solidFill>
              <a:srgbClr val="FF6359"/>
            </a:solidFill>
            <a:prstDash val="solid"/>
          </a:ln>
        </p:spPr>
      </p:sp>
      <p:sp>
        <p:nvSpPr>
          <p:cNvPr id="27" name="Text 25"/>
          <p:cNvSpPr/>
          <p:nvPr/>
        </p:nvSpPr>
        <p:spPr>
          <a:xfrm>
            <a:off x="6876288" y="1097280"/>
            <a:ext cx="182880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PI28–PI29</a:t>
            </a:r>
            <a:endParaRPr lang="en-US" sz="2200" dirty="0"/>
          </a:p>
        </p:txBody>
      </p:sp>
      <p:sp>
        <p:nvSpPr>
          <p:cNvPr id="28" name="Text 26"/>
          <p:cNvSpPr/>
          <p:nvPr/>
        </p:nvSpPr>
        <p:spPr>
          <a:xfrm>
            <a:off x="6876288" y="1481328"/>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Program Increments</a:t>
            </a:r>
            <a:endParaRPr lang="en-US" sz="900" dirty="0"/>
          </a:p>
        </p:txBody>
      </p:sp>
      <p:sp>
        <p:nvSpPr>
          <p:cNvPr id="29" name="Text 27"/>
          <p:cNvSpPr/>
          <p:nvPr/>
        </p:nvSpPr>
        <p:spPr>
          <a:xfrm>
            <a:off x="6830568" y="162763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Planned PI Window</a:t>
            </a:r>
            <a:endParaRPr lang="en-US" sz="900" dirty="0"/>
          </a:p>
        </p:txBody>
      </p:sp>
      <p:sp>
        <p:nvSpPr>
          <p:cNvPr id="30" name="Text 28"/>
          <p:cNvSpPr/>
          <p:nvPr/>
        </p:nvSpPr>
        <p:spPr>
          <a:xfrm>
            <a:off x="228600" y="1993392"/>
            <a:ext cx="2743200" cy="228600"/>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Business Scope</a:t>
            </a:r>
            <a:endParaRPr lang="en-US" sz="1000" dirty="0"/>
          </a:p>
        </p:txBody>
      </p:sp>
      <p:sp>
        <p:nvSpPr>
          <p:cNvPr id="31" name="Text 29"/>
          <p:cNvSpPr/>
          <p:nvPr/>
        </p:nvSpPr>
        <p:spPr>
          <a:xfrm>
            <a:off x="228600" y="2240280"/>
            <a:ext cx="2743200" cy="658368"/>
          </a:xfrm>
          <a:prstGeom prst="rect">
            <a:avLst/>
          </a:prstGeom>
          <a:noFill/>
          <a:ln/>
        </p:spPr>
        <p:txBody>
          <a:bodyPr wrap="square" lIns="0" tIns="0" rIns="0" bIns="0" rtlCol="0" anchor="ctr"/>
          <a:lstStyle/>
          <a:p>
            <a:pPr indent="0" marL="0">
              <a:buNone/>
            </a:pPr>
            <a:r>
              <a:rPr lang="en-US" sz="900" dirty="0">
                <a:solidFill>
                  <a:srgbClr val="141E1E"/>
                </a:solidFill>
                <a:latin typeface="Calibri" pitchFamily="34" charset="0"/>
                <a:ea typeface="Calibri" pitchFamily="34" charset="-122"/>
                <a:cs typeface="Calibri" pitchFamily="34" charset="-120"/>
              </a:rPr>
              <a:t>Provides tax authorities with a unified financial ledger for each taxpayer, recording all transactions including payments, credits, adjustments, and write-offs. Ensures accurate account balances and supports reconciliation across all tax types.</a:t>
            </a:r>
            <a:endParaRPr lang="en-US" sz="900" dirty="0"/>
          </a:p>
        </p:txBody>
      </p:sp>
      <p:sp>
        <p:nvSpPr>
          <p:cNvPr id="32" name="Text 30"/>
          <p:cNvSpPr/>
          <p:nvPr/>
        </p:nvSpPr>
        <p:spPr>
          <a:xfrm>
            <a:off x="228600" y="2944368"/>
            <a:ext cx="2743200" cy="201168"/>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Key Investment Benefits</a:t>
            </a:r>
            <a:endParaRPr lang="en-US" sz="1000" dirty="0"/>
          </a:p>
        </p:txBody>
      </p:sp>
      <p:sp>
        <p:nvSpPr>
          <p:cNvPr id="33" name="Text 31"/>
          <p:cNvSpPr/>
          <p:nvPr/>
        </p:nvSpPr>
        <p:spPr>
          <a:xfrm>
            <a:off x="228600" y="3163824"/>
            <a:ext cx="2743200" cy="822960"/>
          </a:xfrm>
          <a:prstGeom prst="rect">
            <a:avLst/>
          </a:prstGeom>
          <a:noFill/>
          <a:ln/>
        </p:spPr>
        <p:txBody>
          <a:bodyPr wrap="square" rtlCol="0" anchor="ctr"/>
          <a:lstStyle/>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Real-time balance visibility reduces disputes and improves taxpayer trust</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Automated reconciliation eliminates manual posting errors</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Single ledger supports multi-tax-type accounting for all periods</a:t>
            </a:r>
            <a:endParaRPr lang="en-US" sz="900" dirty="0"/>
          </a:p>
        </p:txBody>
      </p:sp>
      <p:sp>
        <p:nvSpPr>
          <p:cNvPr id="34" name="Text 32"/>
          <p:cNvSpPr/>
          <p:nvPr/>
        </p:nvSpPr>
        <p:spPr>
          <a:xfrm>
            <a:off x="3108960" y="1993392"/>
            <a:ext cx="2834640" cy="228600"/>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Estimated Effort by Feature Area</a:t>
            </a:r>
            <a:endParaRPr lang="en-US" sz="1000" dirty="0"/>
          </a:p>
        </p:txBody>
      </p:sp>
      <p:graphicFrame>
        <p:nvGraphicFramePr>
          <p:cNvPr id="35" name="Chart 0" descr=""/>
          <p:cNvGraphicFramePr/>
          <p:nvPr/>
        </p:nvGraphicFramePr>
        <p:xfrm>
          <a:off x="3108960" y="2240280"/>
          <a:ext cx="2834640" cy="1828800"/>
        </p:xfrm>
        <a:graphic xmlns:a="http://schemas.openxmlformats.org/drawingml/2006/main">
          <a:graphicData uri="http://schemas.openxmlformats.org/drawingml/2006/chart">
            <c:chart xmlns:c="http://schemas.openxmlformats.org/drawingml/2006/chart" r:id="rId1"/>
          </a:graphicData>
        </a:graphic>
      </p:graphicFrame>
      <p:sp>
        <p:nvSpPr>
          <p:cNvPr id="36" name="Text 33"/>
          <p:cNvSpPr/>
          <p:nvPr/>
        </p:nvSpPr>
        <p:spPr>
          <a:xfrm>
            <a:off x="6263640" y="1993392"/>
            <a:ext cx="2651760" cy="228600"/>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Priority Distribution</a:t>
            </a:r>
            <a:endParaRPr lang="en-US" sz="1000" dirty="0"/>
          </a:p>
        </p:txBody>
      </p:sp>
      <p:graphicFrame>
        <p:nvGraphicFramePr>
          <p:cNvPr id="37" name="Chart 1" descr=""/>
          <p:cNvGraphicFramePr/>
          <p:nvPr/>
        </p:nvGraphicFramePr>
        <p:xfrm>
          <a:off x="6263640" y="2240280"/>
          <a:ext cx="2651760" cy="1051560"/>
        </p:xfrm>
        <a:graphic xmlns:a="http://schemas.openxmlformats.org/drawingml/2006/main">
          <a:graphicData uri="http://schemas.openxmlformats.org/drawingml/2006/chart">
            <c:chart xmlns:c="http://schemas.openxmlformats.org/drawingml/2006/chart" r:id="rId2"/>
          </a:graphicData>
        </a:graphic>
      </p:graphicFrame>
      <p:sp>
        <p:nvSpPr>
          <p:cNvPr id="38" name="Text 34"/>
          <p:cNvSpPr/>
          <p:nvPr/>
        </p:nvSpPr>
        <p:spPr>
          <a:xfrm>
            <a:off x="6263640" y="3355848"/>
            <a:ext cx="2651760" cy="201168"/>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Key Talking Points</a:t>
            </a:r>
            <a:endParaRPr lang="en-US" sz="1000" dirty="0"/>
          </a:p>
        </p:txBody>
      </p:sp>
      <p:sp>
        <p:nvSpPr>
          <p:cNvPr id="39" name="Text 35"/>
          <p:cNvSpPr/>
          <p:nvPr/>
        </p:nvSpPr>
        <p:spPr>
          <a:xfrm>
            <a:off x="6263640" y="3584448"/>
            <a:ext cx="2651760" cy="685800"/>
          </a:xfrm>
          <a:prstGeom prst="rect">
            <a:avLst/>
          </a:prstGeom>
          <a:noFill/>
          <a:ln/>
        </p:spPr>
        <p:txBody>
          <a:bodyPr wrap="square" rtlCol="0" anchor="ctr"/>
          <a:lstStyle/>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Second-largest investment — foundational to revenue assurance</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PI28 delivery critical — capacity must be confirmed now</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All P1/P2 — no descoping without revenue risk</a:t>
            </a:r>
            <a:endParaRPr lang="en-US" sz="900" dirty="0"/>
          </a:p>
        </p:txBody>
      </p:sp>
      <p:sp>
        <p:nvSpPr>
          <p:cNvPr id="40" name="Text 36"/>
          <p:cNvSpPr/>
          <p:nvPr/>
        </p:nvSpPr>
        <p:spPr>
          <a:xfrm>
            <a:off x="228600" y="3886200"/>
            <a:ext cx="914400" cy="201168"/>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PI Planning</a:t>
            </a:r>
            <a:endParaRPr lang="en-US" sz="1000" dirty="0"/>
          </a:p>
        </p:txBody>
      </p:sp>
      <p:sp>
        <p:nvSpPr>
          <p:cNvPr id="41" name="Shape 37"/>
          <p:cNvSpPr/>
          <p:nvPr/>
        </p:nvSpPr>
        <p:spPr>
          <a:xfrm>
            <a:off x="228600" y="4114800"/>
            <a:ext cx="2743200" cy="566928"/>
          </a:xfrm>
          <a:prstGeom prst="rect">
            <a:avLst/>
          </a:prstGeom>
          <a:solidFill>
            <a:srgbClr val="D0D7D7"/>
          </a:solidFill>
          <a:ln w="12700">
            <a:solidFill>
              <a:srgbClr val="D0D7D7"/>
            </a:solidFill>
            <a:prstDash val="solid"/>
          </a:ln>
        </p:spPr>
      </p:sp>
      <p:sp>
        <p:nvSpPr>
          <p:cNvPr id="42" name="Text 38"/>
          <p:cNvSpPr/>
          <p:nvPr/>
        </p:nvSpPr>
        <p:spPr>
          <a:xfrm>
            <a:off x="320040" y="4142232"/>
            <a:ext cx="502920" cy="201168"/>
          </a:xfrm>
          <a:prstGeom prst="rect">
            <a:avLst/>
          </a:prstGeom>
          <a:noFill/>
          <a:ln/>
        </p:spPr>
        <p:txBody>
          <a:bodyPr wrap="square" lIns="0" tIns="0" rIns="0" bIns="0" rtlCol="0" anchor="ctr"/>
          <a:lstStyle/>
          <a:p>
            <a:pPr indent="0" marL="0">
              <a:buNone/>
            </a:pPr>
            <a:r>
              <a:rPr lang="en-US" sz="1000" b="1" dirty="0">
                <a:solidFill>
                  <a:srgbClr val="4A5C5A"/>
                </a:solidFill>
                <a:latin typeface="Calibri" pitchFamily="34" charset="0"/>
                <a:ea typeface="Calibri" pitchFamily="34" charset="-122"/>
                <a:cs typeface="Calibri" pitchFamily="34" charset="-120"/>
              </a:rPr>
              <a:t>PI27</a:t>
            </a:r>
            <a:endParaRPr lang="en-US" sz="1000" dirty="0"/>
          </a:p>
        </p:txBody>
      </p:sp>
      <p:sp>
        <p:nvSpPr>
          <p:cNvPr id="43" name="Text 39"/>
          <p:cNvSpPr/>
          <p:nvPr/>
        </p:nvSpPr>
        <p:spPr>
          <a:xfrm>
            <a:off x="850392" y="4133088"/>
            <a:ext cx="2057400" cy="310896"/>
          </a:xfrm>
          <a:prstGeom prst="rect">
            <a:avLst/>
          </a:prstGeom>
          <a:noFill/>
          <a:ln/>
        </p:spPr>
        <p:txBody>
          <a:bodyPr wrap="square" lIns="0" tIns="0" rIns="0" bIns="0" rtlCol="0" anchor="ctr"/>
          <a:lstStyle/>
          <a:p>
            <a:pPr indent="0" marL="0">
              <a:buNone/>
            </a:pPr>
            <a:r>
              <a:rPr lang="en-US" sz="800" dirty="0">
                <a:solidFill>
                  <a:srgbClr val="718886"/>
                </a:solidFill>
                <a:latin typeface="Calibri" pitchFamily="34" charset="0"/>
                <a:ea typeface="Calibri" pitchFamily="34" charset="-122"/>
                <a:cs typeface="Calibri" pitchFamily="34" charset="-120"/>
              </a:rPr>
              <a:t>No features</a:t>
            </a:r>
            <a:endParaRPr lang="en-US" sz="800" dirty="0"/>
          </a:p>
        </p:txBody>
      </p:sp>
      <p:sp>
        <p:nvSpPr>
          <p:cNvPr id="44" name="Shape 40"/>
          <p:cNvSpPr/>
          <p:nvPr/>
        </p:nvSpPr>
        <p:spPr>
          <a:xfrm>
            <a:off x="3127248" y="4114800"/>
            <a:ext cx="2743200" cy="566928"/>
          </a:xfrm>
          <a:prstGeom prst="rect">
            <a:avLst/>
          </a:prstGeom>
          <a:solidFill>
            <a:srgbClr val="123836"/>
          </a:solidFill>
          <a:ln w="12700">
            <a:solidFill>
              <a:srgbClr val="123836"/>
            </a:solidFill>
            <a:prstDash val="solid"/>
          </a:ln>
        </p:spPr>
      </p:sp>
      <p:sp>
        <p:nvSpPr>
          <p:cNvPr id="45" name="Text 41"/>
          <p:cNvSpPr/>
          <p:nvPr/>
        </p:nvSpPr>
        <p:spPr>
          <a:xfrm>
            <a:off x="3218688" y="4142232"/>
            <a:ext cx="502920" cy="201168"/>
          </a:xfrm>
          <a:prstGeom prst="rect">
            <a:avLst/>
          </a:prstGeom>
          <a:noFill/>
          <a:ln/>
        </p:spPr>
        <p:txBody>
          <a:bodyPr wrap="square" lIns="0" tIns="0" rIns="0" bIns="0" rtlCol="0" anchor="ctr"/>
          <a:lstStyle/>
          <a:p>
            <a:pPr indent="0" marL="0">
              <a:buNone/>
            </a:pPr>
            <a:r>
              <a:rPr lang="en-US" sz="1000" b="1" dirty="0">
                <a:solidFill>
                  <a:srgbClr val="FFD282"/>
                </a:solidFill>
                <a:latin typeface="Calibri" pitchFamily="34" charset="0"/>
                <a:ea typeface="Calibri" pitchFamily="34" charset="-122"/>
                <a:cs typeface="Calibri" pitchFamily="34" charset="-120"/>
              </a:rPr>
              <a:t>PI28</a:t>
            </a:r>
            <a:endParaRPr lang="en-US" sz="1000" dirty="0"/>
          </a:p>
        </p:txBody>
      </p:sp>
      <p:sp>
        <p:nvSpPr>
          <p:cNvPr id="46" name="Text 42"/>
          <p:cNvSpPr/>
          <p:nvPr/>
        </p:nvSpPr>
        <p:spPr>
          <a:xfrm>
            <a:off x="3749040" y="4133088"/>
            <a:ext cx="2057400" cy="310896"/>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General Ledger Core · Transaction Processing</a:t>
            </a:r>
            <a:endParaRPr lang="en-US" sz="800" dirty="0"/>
          </a:p>
        </p:txBody>
      </p:sp>
      <p:sp>
        <p:nvSpPr>
          <p:cNvPr id="47" name="Shape 43"/>
          <p:cNvSpPr/>
          <p:nvPr/>
        </p:nvSpPr>
        <p:spPr>
          <a:xfrm>
            <a:off x="6025896" y="4114800"/>
            <a:ext cx="2743200" cy="566928"/>
          </a:xfrm>
          <a:prstGeom prst="rect">
            <a:avLst/>
          </a:prstGeom>
          <a:solidFill>
            <a:srgbClr val="1B5E52"/>
          </a:solidFill>
          <a:ln w="12700">
            <a:solidFill>
              <a:srgbClr val="1B5E52"/>
            </a:solidFill>
            <a:prstDash val="solid"/>
          </a:ln>
        </p:spPr>
      </p:sp>
      <p:sp>
        <p:nvSpPr>
          <p:cNvPr id="48" name="Text 44"/>
          <p:cNvSpPr/>
          <p:nvPr/>
        </p:nvSpPr>
        <p:spPr>
          <a:xfrm>
            <a:off x="6117336" y="4142232"/>
            <a:ext cx="502920" cy="201168"/>
          </a:xfrm>
          <a:prstGeom prst="rect">
            <a:avLst/>
          </a:prstGeom>
          <a:noFill/>
          <a:ln/>
        </p:spPr>
        <p:txBody>
          <a:bodyPr wrap="square" lIns="0" tIns="0" rIns="0" bIns="0" rtlCol="0" anchor="ctr"/>
          <a:lstStyle/>
          <a:p>
            <a:pPr indent="0" marL="0">
              <a:buNone/>
            </a:pPr>
            <a:r>
              <a:rPr lang="en-US" sz="1000" b="1" dirty="0">
                <a:solidFill>
                  <a:srgbClr val="FFD282"/>
                </a:solidFill>
                <a:latin typeface="Calibri" pitchFamily="34" charset="0"/>
                <a:ea typeface="Calibri" pitchFamily="34" charset="-122"/>
                <a:cs typeface="Calibri" pitchFamily="34" charset="-120"/>
              </a:rPr>
              <a:t>PI29</a:t>
            </a:r>
            <a:endParaRPr lang="en-US" sz="1000" dirty="0"/>
          </a:p>
        </p:txBody>
      </p:sp>
      <p:sp>
        <p:nvSpPr>
          <p:cNvPr id="49" name="Text 45"/>
          <p:cNvSpPr/>
          <p:nvPr/>
        </p:nvSpPr>
        <p:spPr>
          <a:xfrm>
            <a:off x="6647688" y="4133088"/>
            <a:ext cx="2057400" cy="310896"/>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Account Reconciliation · Balance Management</a:t>
            </a:r>
            <a:endParaRPr lang="en-US" sz="800" dirty="0"/>
          </a:p>
        </p:txBody>
      </p:sp>
      <p:sp>
        <p:nvSpPr>
          <p:cNvPr id="50" name="Shape 46"/>
          <p:cNvSpPr/>
          <p:nvPr/>
        </p:nvSpPr>
        <p:spPr>
          <a:xfrm>
            <a:off x="0" y="4617720"/>
            <a:ext cx="9144000" cy="347472"/>
          </a:xfrm>
          <a:prstGeom prst="rect">
            <a:avLst/>
          </a:prstGeom>
          <a:solidFill>
            <a:srgbClr val="123836"/>
          </a:solidFill>
          <a:ln w="12700">
            <a:solidFill>
              <a:srgbClr val="123836"/>
            </a:solidFill>
            <a:prstDash val="solid"/>
          </a:ln>
        </p:spPr>
      </p:sp>
      <p:sp>
        <p:nvSpPr>
          <p:cNvPr id="51" name="Shape 47"/>
          <p:cNvSpPr/>
          <p:nvPr/>
        </p:nvSpPr>
        <p:spPr>
          <a:xfrm>
            <a:off x="0" y="4617720"/>
            <a:ext cx="73152" cy="347472"/>
          </a:xfrm>
          <a:prstGeom prst="rect">
            <a:avLst/>
          </a:prstGeom>
          <a:solidFill>
            <a:srgbClr val="FFD282"/>
          </a:solidFill>
          <a:ln w="12700">
            <a:solidFill>
              <a:srgbClr val="FFD282"/>
            </a:solidFill>
            <a:prstDash val="solid"/>
          </a:ln>
        </p:spPr>
      </p:sp>
      <p:sp>
        <p:nvSpPr>
          <p:cNvPr id="52" name="Text 48"/>
          <p:cNvSpPr/>
          <p:nvPr/>
        </p:nvSpPr>
        <p:spPr>
          <a:xfrm>
            <a:off x="137160" y="4617720"/>
            <a:ext cx="1920240" cy="347472"/>
          </a:xfrm>
          <a:prstGeom prst="rect">
            <a:avLst/>
          </a:prstGeom>
          <a:noFill/>
          <a:ln/>
        </p:spPr>
        <p:txBody>
          <a:bodyPr wrap="square" lIns="0" tIns="0" rIns="0" bIns="0" rtlCol="0" anchor="ctr"/>
          <a:lstStyle/>
          <a:p>
            <a:pPr indent="0" marL="0">
              <a:buNone/>
            </a:pPr>
            <a:r>
              <a:rPr lang="en-US" sz="800" b="1" dirty="0">
                <a:solidFill>
                  <a:srgbClr val="FFD282"/>
                </a:solidFill>
                <a:latin typeface="Calibri" pitchFamily="34" charset="0"/>
                <a:ea typeface="Calibri" pitchFamily="34" charset="-122"/>
                <a:cs typeface="Calibri" pitchFamily="34" charset="-120"/>
              </a:rPr>
              <a:t>Key Talking Points for SteerCo:</a:t>
            </a:r>
            <a:endParaRPr lang="en-US" sz="800" dirty="0"/>
          </a:p>
        </p:txBody>
      </p:sp>
      <p:sp>
        <p:nvSpPr>
          <p:cNvPr id="53" name="Text 49"/>
          <p:cNvSpPr/>
          <p:nvPr/>
        </p:nvSpPr>
        <p:spPr>
          <a:xfrm>
            <a:off x="2103120" y="4617720"/>
            <a:ext cx="6903720" cy="347472"/>
          </a:xfrm>
          <a:prstGeom prst="rect">
            <a:avLst/>
          </a:prstGeom>
          <a:noFill/>
          <a:ln/>
        </p:spPr>
        <p:txBody>
          <a:bodyPr wrap="square" lIns="0" tIns="0" rIns="0" bIns="0" rtlCol="0" anchor="ctr"/>
          <a:lstStyle/>
          <a:p>
            <a:pPr indent="0" marL="0">
              <a:buNone/>
            </a:pPr>
            <a:r>
              <a:rPr lang="en-US" sz="750" dirty="0">
                <a:solidFill>
                  <a:srgbClr val="D0D7D7"/>
                </a:solidFill>
                <a:latin typeface="Calibri" pitchFamily="34" charset="0"/>
                <a:ea typeface="Calibri" pitchFamily="34" charset="-122"/>
                <a:cs typeface="Calibri" pitchFamily="34" charset="-120"/>
              </a:rPr>
              <a:t>Second-largest investment — foundational to revenue assurance   ·   PI28 delivery must be confirmed   ·   All features P1/P2 — no descoping without revenue risk</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23836"/>
          </a:solidFill>
          <a:ln w="12700">
            <a:solidFill>
              <a:srgbClr val="123836"/>
            </a:solidFill>
            <a:prstDash val="solid"/>
          </a:ln>
        </p:spPr>
      </p:sp>
      <p:sp>
        <p:nvSpPr>
          <p:cNvPr id="3" name="Shape 1"/>
          <p:cNvSpPr/>
          <p:nvPr/>
        </p:nvSpPr>
        <p:spPr>
          <a:xfrm>
            <a:off x="0" y="0"/>
            <a:ext cx="73152" cy="960120"/>
          </a:xfrm>
          <a:prstGeom prst="rect">
            <a:avLst/>
          </a:prstGeom>
          <a:solidFill>
            <a:srgbClr val="FF6359"/>
          </a:solidFill>
          <a:ln w="12700">
            <a:solidFill>
              <a:srgbClr val="FF6359"/>
            </a:solidFill>
            <a:prstDash val="solid"/>
          </a:ln>
        </p:spPr>
      </p:sp>
      <p:sp>
        <p:nvSpPr>
          <p:cNvPr id="4" name="Text 2"/>
          <p:cNvSpPr/>
          <p:nvPr/>
        </p:nvSpPr>
        <p:spPr>
          <a:xfrm>
            <a:off x="182880" y="64008"/>
            <a:ext cx="64008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Billing, Assessments &amp; Installments</a:t>
            </a:r>
            <a:endParaRPr lang="en-US" sz="2000" dirty="0"/>
          </a:p>
        </p:txBody>
      </p:sp>
      <p:sp>
        <p:nvSpPr>
          <p:cNvPr id="5" name="Text 3"/>
          <p:cNvSpPr/>
          <p:nvPr/>
        </p:nvSpPr>
        <p:spPr>
          <a:xfrm>
            <a:off x="182880" y="548640"/>
            <a:ext cx="8229600" cy="347472"/>
          </a:xfrm>
          <a:prstGeom prst="rect">
            <a:avLst/>
          </a:prstGeom>
          <a:noFill/>
          <a:ln/>
        </p:spPr>
        <p:txBody>
          <a:bodyPr wrap="square" lIns="0" tIns="0" rIns="0" bIns="0" rtlCol="0" anchor="ctr"/>
          <a:lstStyle/>
          <a:p>
            <a:pPr indent="0" marL="0">
              <a:buNone/>
            </a:pPr>
            <a:r>
              <a:rPr lang="en-US" sz="1100" dirty="0">
                <a:solidFill>
                  <a:srgbClr val="73AA87"/>
                </a:solidFill>
                <a:latin typeface="Calibri" pitchFamily="34" charset="0"/>
                <a:ea typeface="Calibri" pitchFamily="34" charset="-122"/>
                <a:cs typeface="Calibri" pitchFamily="34" charset="-120"/>
              </a:rPr>
              <a:t>Core Revenue Management Capabilities | Initiative Detail</a:t>
            </a:r>
            <a:endParaRPr lang="en-US" sz="1100" dirty="0"/>
          </a:p>
        </p:txBody>
      </p:sp>
      <p:sp>
        <p:nvSpPr>
          <p:cNvPr id="6" name="Text 4"/>
          <p:cNvSpPr/>
          <p:nvPr/>
        </p:nvSpPr>
        <p:spPr>
          <a:xfrm>
            <a:off x="6858000" y="73152"/>
            <a:ext cx="2103120" cy="365760"/>
          </a:xfrm>
          <a:prstGeom prst="rect">
            <a:avLst/>
          </a:prstGeom>
          <a:noFill/>
          <a:ln/>
        </p:spPr>
        <p:txBody>
          <a:bodyPr wrap="square" lIns="0" tIns="0" rIns="0" bIns="0" rtlCol="0" anchor="ctr"/>
          <a:lstStyle/>
          <a:p>
            <a:pPr algn="r" indent="0" marL="0">
              <a:buNone/>
            </a:pPr>
            <a:r>
              <a:rPr lang="en-US" sz="1200" b="1" dirty="0">
                <a:solidFill>
                  <a:srgbClr val="73AA87"/>
                </a:solidFill>
                <a:latin typeface="Calibri" pitchFamily="34" charset="0"/>
                <a:ea typeface="Calibri" pitchFamily="34" charset="-122"/>
                <a:cs typeface="Calibri" pitchFamily="34" charset="-120"/>
              </a:rPr>
              <a:t>Netcompany</a:t>
            </a:r>
            <a:endParaRPr lang="en-US" sz="1200" dirty="0"/>
          </a:p>
        </p:txBody>
      </p:sp>
      <p:sp>
        <p:nvSpPr>
          <p:cNvPr id="7" name="Shape 5"/>
          <p:cNvSpPr/>
          <p:nvPr/>
        </p:nvSpPr>
        <p:spPr>
          <a:xfrm>
            <a:off x="0" y="4983480"/>
            <a:ext cx="9144000" cy="160020"/>
          </a:xfrm>
          <a:prstGeom prst="rect">
            <a:avLst/>
          </a:prstGeom>
          <a:solidFill>
            <a:srgbClr val="123836"/>
          </a:solidFill>
          <a:ln w="12700">
            <a:solidFill>
              <a:srgbClr val="123836"/>
            </a:solidFill>
            <a:prstDash val="solid"/>
          </a:ln>
        </p:spPr>
      </p:sp>
      <p:sp>
        <p:nvSpPr>
          <p:cNvPr id="8" name="Text 6"/>
          <p:cNvSpPr/>
          <p:nvPr/>
        </p:nvSpPr>
        <p:spPr>
          <a:xfrm>
            <a:off x="137160" y="4974336"/>
            <a:ext cx="6400800" cy="164592"/>
          </a:xfrm>
          <a:prstGeom prst="rect">
            <a:avLst/>
          </a:prstGeom>
          <a:noFill/>
          <a:ln/>
        </p:spPr>
        <p:txBody>
          <a:bodyPr wrap="square" lIns="0" tIns="0" rIns="0" bIns="0" rtlCol="0" anchor="ctr"/>
          <a:lstStyle/>
          <a:p>
            <a:pPr indent="0" marL="0">
              <a:buNone/>
            </a:pPr>
            <a:r>
              <a:rPr lang="en-US" sz="800" dirty="0">
                <a:solidFill>
                  <a:srgbClr val="D0D7D7"/>
                </a:solidFill>
                <a:latin typeface="Calibri" pitchFamily="34" charset="0"/>
                <a:ea typeface="Calibri" pitchFamily="34" charset="-122"/>
                <a:cs typeface="Calibri" pitchFamily="34" charset="-120"/>
              </a:rPr>
              <a:t>Solon Tax Product Roadmap 2026 | SteerCo</a:t>
            </a:r>
            <a:endParaRPr lang="en-US" sz="800" dirty="0"/>
          </a:p>
        </p:txBody>
      </p:sp>
      <p:sp>
        <p:nvSpPr>
          <p:cNvPr id="9" name="Text 7"/>
          <p:cNvSpPr/>
          <p:nvPr/>
        </p:nvSpPr>
        <p:spPr>
          <a:xfrm>
            <a:off x="8686800" y="4974336"/>
            <a:ext cx="365760" cy="164592"/>
          </a:xfrm>
          <a:prstGeom prst="rect">
            <a:avLst/>
          </a:prstGeom>
          <a:noFill/>
          <a:ln/>
        </p:spPr>
        <p:txBody>
          <a:bodyPr wrap="square" lIns="0" tIns="0" rIns="0" bIns="0" rtlCol="0" anchor="ctr"/>
          <a:lstStyle/>
          <a:p>
            <a:pPr algn="r" indent="0" marL="0">
              <a:buNone/>
            </a:pPr>
            <a:r>
              <a:rPr lang="en-US" sz="800" dirty="0">
                <a:solidFill>
                  <a:srgbClr val="D0D7D7"/>
                </a:solidFill>
                <a:latin typeface="Calibri" pitchFamily="34" charset="0"/>
                <a:ea typeface="Calibri" pitchFamily="34" charset="-122"/>
                <a:cs typeface="Calibri" pitchFamily="34" charset="-120"/>
              </a:rPr>
              <a:t>6</a:t>
            </a:r>
            <a:endParaRPr lang="en-US" sz="800" dirty="0"/>
          </a:p>
        </p:txBody>
      </p:sp>
      <p:sp>
        <p:nvSpPr>
          <p:cNvPr id="10" name="Shape 8"/>
          <p:cNvSpPr/>
          <p:nvPr/>
        </p:nvSpPr>
        <p:spPr>
          <a:xfrm>
            <a:off x="228600"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228600" y="1005840"/>
            <a:ext cx="2011680" cy="54864"/>
          </a:xfrm>
          <a:prstGeom prst="rect">
            <a:avLst/>
          </a:prstGeom>
          <a:solidFill>
            <a:srgbClr val="FF6359"/>
          </a:solidFill>
          <a:ln w="12700">
            <a:solidFill>
              <a:srgbClr val="FF6359"/>
            </a:solidFill>
            <a:prstDash val="solid"/>
          </a:ln>
        </p:spPr>
      </p:sp>
      <p:sp>
        <p:nvSpPr>
          <p:cNvPr id="12" name="Text 10"/>
          <p:cNvSpPr/>
          <p:nvPr/>
        </p:nvSpPr>
        <p:spPr>
          <a:xfrm>
            <a:off x="320040" y="1097280"/>
            <a:ext cx="182880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~2,880</a:t>
            </a:r>
            <a:endParaRPr lang="en-US" sz="2200" dirty="0"/>
          </a:p>
        </p:txBody>
      </p:sp>
      <p:sp>
        <p:nvSpPr>
          <p:cNvPr id="13" name="Text 11"/>
          <p:cNvSpPr/>
          <p:nvPr/>
        </p:nvSpPr>
        <p:spPr>
          <a:xfrm>
            <a:off x="320040" y="1481328"/>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Hours</a:t>
            </a:r>
            <a:endParaRPr lang="en-US" sz="900" dirty="0"/>
          </a:p>
        </p:txBody>
      </p:sp>
      <p:sp>
        <p:nvSpPr>
          <p:cNvPr id="14" name="Text 12"/>
          <p:cNvSpPr/>
          <p:nvPr/>
        </p:nvSpPr>
        <p:spPr>
          <a:xfrm>
            <a:off x="274320" y="162763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Total Estimated Effort</a:t>
            </a:r>
            <a:endParaRPr lang="en-US" sz="900" dirty="0"/>
          </a:p>
        </p:txBody>
      </p:sp>
      <p:sp>
        <p:nvSpPr>
          <p:cNvPr id="15" name="Shape 13"/>
          <p:cNvSpPr/>
          <p:nvPr/>
        </p:nvSpPr>
        <p:spPr>
          <a:xfrm>
            <a:off x="2414016"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6" name="Shape 14"/>
          <p:cNvSpPr/>
          <p:nvPr/>
        </p:nvSpPr>
        <p:spPr>
          <a:xfrm>
            <a:off x="2414016" y="1005840"/>
            <a:ext cx="2011680" cy="54864"/>
          </a:xfrm>
          <a:prstGeom prst="rect">
            <a:avLst/>
          </a:prstGeom>
          <a:solidFill>
            <a:srgbClr val="FF6359"/>
          </a:solidFill>
          <a:ln w="12700">
            <a:solidFill>
              <a:srgbClr val="FF6359"/>
            </a:solidFill>
            <a:prstDash val="solid"/>
          </a:ln>
        </p:spPr>
      </p:sp>
      <p:sp>
        <p:nvSpPr>
          <p:cNvPr id="17" name="Text 15"/>
          <p:cNvSpPr/>
          <p:nvPr/>
        </p:nvSpPr>
        <p:spPr>
          <a:xfrm>
            <a:off x="2505456" y="1097280"/>
            <a:ext cx="182880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2505456" y="1481328"/>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Count</a:t>
            </a:r>
            <a:endParaRPr lang="en-US" sz="900" dirty="0"/>
          </a:p>
        </p:txBody>
      </p:sp>
      <p:sp>
        <p:nvSpPr>
          <p:cNvPr id="19" name="Text 17"/>
          <p:cNvSpPr/>
          <p:nvPr/>
        </p:nvSpPr>
        <p:spPr>
          <a:xfrm>
            <a:off x="2459736" y="162763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Features in Scope</a:t>
            </a:r>
            <a:endParaRPr lang="en-US" sz="900" dirty="0"/>
          </a:p>
        </p:txBody>
      </p:sp>
      <p:sp>
        <p:nvSpPr>
          <p:cNvPr id="20" name="Shape 18"/>
          <p:cNvSpPr/>
          <p:nvPr/>
        </p:nvSpPr>
        <p:spPr>
          <a:xfrm>
            <a:off x="4599432"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1" name="Shape 19"/>
          <p:cNvSpPr/>
          <p:nvPr/>
        </p:nvSpPr>
        <p:spPr>
          <a:xfrm>
            <a:off x="4599432" y="1005840"/>
            <a:ext cx="2011680" cy="54864"/>
          </a:xfrm>
          <a:prstGeom prst="rect">
            <a:avLst/>
          </a:prstGeom>
          <a:solidFill>
            <a:srgbClr val="FF6359"/>
          </a:solidFill>
          <a:ln w="12700">
            <a:solidFill>
              <a:srgbClr val="FF6359"/>
            </a:solidFill>
            <a:prstDash val="solid"/>
          </a:ln>
        </p:spPr>
      </p:sp>
      <p:sp>
        <p:nvSpPr>
          <p:cNvPr id="22" name="Text 20"/>
          <p:cNvSpPr/>
          <p:nvPr/>
        </p:nvSpPr>
        <p:spPr>
          <a:xfrm>
            <a:off x="4690872" y="1097280"/>
            <a:ext cx="182880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P1–P2</a:t>
            </a:r>
            <a:endParaRPr lang="en-US" sz="2200" dirty="0"/>
          </a:p>
        </p:txBody>
      </p:sp>
      <p:sp>
        <p:nvSpPr>
          <p:cNvPr id="23" name="Text 21"/>
          <p:cNvSpPr/>
          <p:nvPr/>
        </p:nvSpPr>
        <p:spPr>
          <a:xfrm>
            <a:off x="4690872" y="1481328"/>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Must/Should Have</a:t>
            </a:r>
            <a:endParaRPr lang="en-US" sz="900" dirty="0"/>
          </a:p>
        </p:txBody>
      </p:sp>
      <p:sp>
        <p:nvSpPr>
          <p:cNvPr id="24" name="Text 22"/>
          <p:cNvSpPr/>
          <p:nvPr/>
        </p:nvSpPr>
        <p:spPr>
          <a:xfrm>
            <a:off x="4645152" y="162763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Primary Priority</a:t>
            </a:r>
            <a:endParaRPr lang="en-US" sz="900" dirty="0"/>
          </a:p>
        </p:txBody>
      </p:sp>
      <p:sp>
        <p:nvSpPr>
          <p:cNvPr id="25" name="Shape 23"/>
          <p:cNvSpPr/>
          <p:nvPr/>
        </p:nvSpPr>
        <p:spPr>
          <a:xfrm>
            <a:off x="6784848"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6" name="Shape 24"/>
          <p:cNvSpPr/>
          <p:nvPr/>
        </p:nvSpPr>
        <p:spPr>
          <a:xfrm>
            <a:off x="6784848" y="1005840"/>
            <a:ext cx="2011680" cy="54864"/>
          </a:xfrm>
          <a:prstGeom prst="rect">
            <a:avLst/>
          </a:prstGeom>
          <a:solidFill>
            <a:srgbClr val="FF6359"/>
          </a:solidFill>
          <a:ln w="12700">
            <a:solidFill>
              <a:srgbClr val="FF6359"/>
            </a:solidFill>
            <a:prstDash val="solid"/>
          </a:ln>
        </p:spPr>
      </p:sp>
      <p:sp>
        <p:nvSpPr>
          <p:cNvPr id="27" name="Text 25"/>
          <p:cNvSpPr/>
          <p:nvPr/>
        </p:nvSpPr>
        <p:spPr>
          <a:xfrm>
            <a:off x="6876288" y="1097280"/>
            <a:ext cx="182880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PI28–PI29</a:t>
            </a:r>
            <a:endParaRPr lang="en-US" sz="2200" dirty="0"/>
          </a:p>
        </p:txBody>
      </p:sp>
      <p:sp>
        <p:nvSpPr>
          <p:cNvPr id="28" name="Text 26"/>
          <p:cNvSpPr/>
          <p:nvPr/>
        </p:nvSpPr>
        <p:spPr>
          <a:xfrm>
            <a:off x="6876288" y="1481328"/>
            <a:ext cx="1828800" cy="201168"/>
          </a:xfrm>
          <a:prstGeom prst="rect">
            <a:avLst/>
          </a:prstGeom>
          <a:noFill/>
          <a:ln/>
        </p:spPr>
        <p:txBody>
          <a:bodyPr wrap="square" lIns="0" tIns="0" rIns="0" bIns="0"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Program Increments</a:t>
            </a:r>
            <a:endParaRPr lang="en-US" sz="900" dirty="0"/>
          </a:p>
        </p:txBody>
      </p:sp>
      <p:sp>
        <p:nvSpPr>
          <p:cNvPr id="29" name="Text 27"/>
          <p:cNvSpPr/>
          <p:nvPr/>
        </p:nvSpPr>
        <p:spPr>
          <a:xfrm>
            <a:off x="6830568" y="1627632"/>
            <a:ext cx="1920240" cy="329184"/>
          </a:xfrm>
          <a:prstGeom prst="rect">
            <a:avLst/>
          </a:prstGeom>
          <a:noFill/>
          <a:ln/>
        </p:spPr>
        <p:txBody>
          <a:bodyPr wrap="square" lIns="0" tIns="0" rIns="0" bIns="0"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Planned PI Window</a:t>
            </a:r>
            <a:endParaRPr lang="en-US" sz="900" dirty="0"/>
          </a:p>
        </p:txBody>
      </p:sp>
      <p:sp>
        <p:nvSpPr>
          <p:cNvPr id="30" name="Text 28"/>
          <p:cNvSpPr/>
          <p:nvPr/>
        </p:nvSpPr>
        <p:spPr>
          <a:xfrm>
            <a:off x="228600" y="2011680"/>
            <a:ext cx="4114800" cy="228600"/>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Business Scope</a:t>
            </a:r>
            <a:endParaRPr lang="en-US" sz="1000" dirty="0"/>
          </a:p>
        </p:txBody>
      </p:sp>
      <p:sp>
        <p:nvSpPr>
          <p:cNvPr id="31" name="Text 29"/>
          <p:cNvSpPr/>
          <p:nvPr/>
        </p:nvSpPr>
        <p:spPr>
          <a:xfrm>
            <a:off x="228600" y="2258568"/>
            <a:ext cx="4114800" cy="822960"/>
          </a:xfrm>
          <a:prstGeom prst="rect">
            <a:avLst/>
          </a:prstGeom>
          <a:noFill/>
          <a:ln/>
        </p:spPr>
        <p:txBody>
          <a:bodyPr wrap="square" lIns="0" tIns="0" rIns="0" bIns="0" rtlCol="0" anchor="ctr"/>
          <a:lstStyle/>
          <a:p>
            <a:pPr indent="0" marL="0">
              <a:buNone/>
            </a:pPr>
            <a:r>
              <a:rPr lang="en-US" sz="950" dirty="0">
                <a:solidFill>
                  <a:srgbClr val="141E1E"/>
                </a:solidFill>
                <a:latin typeface="Calibri" pitchFamily="34" charset="0"/>
                <a:ea typeface="Calibri" pitchFamily="34" charset="-122"/>
                <a:cs typeface="Calibri" pitchFamily="34" charset="-120"/>
              </a:rPr>
              <a:t>Manages the generation, issuance, and tracking of tax bills and formal assessments, alongside configurable installment plan management. Enables revenue authorities to systematically collect outstanding liabilities while offering structured repayment arrangements to taxpayers.</a:t>
            </a:r>
            <a:endParaRPr lang="en-US" sz="950" dirty="0"/>
          </a:p>
        </p:txBody>
      </p:sp>
      <p:sp>
        <p:nvSpPr>
          <p:cNvPr id="32" name="Text 30"/>
          <p:cNvSpPr/>
          <p:nvPr/>
        </p:nvSpPr>
        <p:spPr>
          <a:xfrm>
            <a:off x="228600" y="3127248"/>
            <a:ext cx="4114800" cy="228600"/>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Key Investment Benefits</a:t>
            </a:r>
            <a:endParaRPr lang="en-US" sz="1000" dirty="0"/>
          </a:p>
        </p:txBody>
      </p:sp>
      <p:sp>
        <p:nvSpPr>
          <p:cNvPr id="33" name="Text 31"/>
          <p:cNvSpPr/>
          <p:nvPr/>
        </p:nvSpPr>
        <p:spPr>
          <a:xfrm>
            <a:off x="228600" y="3383280"/>
            <a:ext cx="4114800" cy="1234440"/>
          </a:xfrm>
          <a:prstGeom prst="rect">
            <a:avLst/>
          </a:prstGeom>
          <a:noFill/>
          <a:ln/>
        </p:spPr>
        <p:txBody>
          <a:bodyPr wrap="square" rtlCol="0" anchor="ctr"/>
          <a:lstStyle/>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Automated billing reduces manual officer workload and accelerates revenue collection cycles</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Structured installment plans increase voluntary compliance and recovery rates</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Formal assessment workflows create enforceable legal liability records</a:t>
            </a:r>
            <a:endParaRPr lang="en-US" sz="900" dirty="0"/>
          </a:p>
          <a:p>
            <a:pPr marL="342900" indent="-342900">
              <a:buSzPct val="100000"/>
              <a:buChar char="•"/>
            </a:pPr>
            <a:r>
              <a:rPr lang="en-US" sz="900" dirty="0">
                <a:solidFill>
                  <a:srgbClr val="4A5C5A"/>
                </a:solidFill>
                <a:latin typeface="Calibri" pitchFamily="34" charset="0"/>
                <a:ea typeface="Calibri" pitchFamily="34" charset="-122"/>
                <a:cs typeface="Calibri" pitchFamily="34" charset="-120"/>
              </a:rPr>
              <a:t>Reduces revenue leakage by ensuring all liabilities are captured and tracked</a:t>
            </a:r>
            <a:endParaRPr lang="en-US" sz="900" dirty="0"/>
          </a:p>
        </p:txBody>
      </p:sp>
      <p:sp>
        <p:nvSpPr>
          <p:cNvPr id="34" name="Text 32"/>
          <p:cNvSpPr/>
          <p:nvPr/>
        </p:nvSpPr>
        <p:spPr>
          <a:xfrm>
            <a:off x="4480560" y="2011680"/>
            <a:ext cx="4434840" cy="228600"/>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Feature Breakdown &amp; PI Planning</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480560" y="2267712"/>
          <a:ext cx="4434840" cy="1005840"/>
        </p:xfrm>
        <a:graphic>
          <a:graphicData uri="http://schemas.openxmlformats.org/drawingml/2006/table">
            <a:tbl>
              <a:tblPr/>
              <a:tblGrid>
                <a:gridCol w="1920240"/>
                <a:gridCol w="777240"/>
                <a:gridCol w="640080"/>
                <a:gridCol w="548640"/>
                <a:gridCol w="548640"/>
              </a:tblGrid>
              <a:tr h="25146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Feature</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Effort (H)</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Priority</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PI28</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PI29</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r>
              <a:tr h="251460">
                <a:tc>
                  <a:txBody>
                    <a:bodyPr/>
                    <a:lstStyle/>
                    <a:p>
                      <a:pPr algn="l" indent="0" marL="0">
                        <a:buNone/>
                      </a:pPr>
                      <a:r>
                        <a:rPr lang="en-US" sz="900" dirty="0">
                          <a:solidFill>
                            <a:srgbClr val="141E1E"/>
                          </a:solidFill>
                          <a:latin typeface="Calibri" pitchFamily="34" charset="0"/>
                          <a:ea typeface="Calibri" pitchFamily="34" charset="-122"/>
                          <a:cs typeface="Calibri" pitchFamily="34" charset="-120"/>
                        </a:rPr>
                        <a:t>Bill Generation &amp; Issuance</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41E1E"/>
                          </a:solidFill>
                          <a:latin typeface="Calibri" pitchFamily="34" charset="0"/>
                          <a:ea typeface="Calibri" pitchFamily="34" charset="-122"/>
                          <a:cs typeface="Calibri" pitchFamily="34" charset="-120"/>
                        </a:rPr>
                        <a:t>1,280</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41E1E"/>
                          </a:solidFill>
                          <a:latin typeface="Calibri" pitchFamily="34" charset="0"/>
                          <a:ea typeface="Calibri" pitchFamily="34" charset="-122"/>
                          <a:cs typeface="Calibri" pitchFamily="34" charset="-120"/>
                        </a:rPr>
                        <a:t>P1</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23836"/>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r>
              <a:tr h="251460">
                <a:tc>
                  <a:txBody>
                    <a:bodyPr/>
                    <a:lstStyle/>
                    <a:p>
                      <a:pPr algn="l" indent="0" marL="0">
                        <a:buNone/>
                      </a:pPr>
                      <a:r>
                        <a:rPr lang="en-US" sz="900" dirty="0">
                          <a:solidFill>
                            <a:srgbClr val="141E1E"/>
                          </a:solidFill>
                          <a:latin typeface="Calibri" pitchFamily="34" charset="0"/>
                          <a:ea typeface="Calibri" pitchFamily="34" charset="-122"/>
                          <a:cs typeface="Calibri" pitchFamily="34" charset="-120"/>
                        </a:rPr>
                        <a:t>Formal Assessment Management</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900" dirty="0">
                          <a:solidFill>
                            <a:srgbClr val="141E1E"/>
                          </a:solidFill>
                          <a:latin typeface="Calibri" pitchFamily="34" charset="0"/>
                          <a:ea typeface="Calibri" pitchFamily="34" charset="-122"/>
                          <a:cs typeface="Calibri" pitchFamily="34" charset="-120"/>
                        </a:rPr>
                        <a:t>1,040</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900" dirty="0">
                          <a:solidFill>
                            <a:srgbClr val="141E1E"/>
                          </a:solidFill>
                          <a:latin typeface="Calibri" pitchFamily="34" charset="0"/>
                          <a:ea typeface="Calibri" pitchFamily="34" charset="-122"/>
                          <a:cs typeface="Calibri" pitchFamily="34" charset="-120"/>
                        </a:rPr>
                        <a:t>P1</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r>
                        <a:rPr lang="en-US" sz="900" b="1" dirty="0">
                          <a:solidFill>
                            <a:srgbClr val="123836"/>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c>
                  <a:txBody>
                    <a:bodyPr/>
                    <a:lstStyle/>
                    <a:p>
                      <a:pPr algn="ctr" indent="0" marL="0">
                        <a:buNone/>
                      </a:pP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EEF3F2"/>
                    </a:solidFill>
                  </a:tcPr>
                </a:tc>
              </a:tr>
              <a:tr h="251460">
                <a:tc>
                  <a:txBody>
                    <a:bodyPr/>
                    <a:lstStyle/>
                    <a:p>
                      <a:pPr algn="l" indent="0" marL="0">
                        <a:buNone/>
                      </a:pPr>
                      <a:r>
                        <a:rPr lang="en-US" sz="900" dirty="0">
                          <a:solidFill>
                            <a:srgbClr val="141E1E"/>
                          </a:solidFill>
                          <a:latin typeface="Calibri" pitchFamily="34" charset="0"/>
                          <a:ea typeface="Calibri" pitchFamily="34" charset="-122"/>
                          <a:cs typeface="Calibri" pitchFamily="34" charset="-120"/>
                        </a:rPr>
                        <a:t>Installment Plan Configuration</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41E1E"/>
                          </a:solidFill>
                          <a:latin typeface="Calibri" pitchFamily="34" charset="0"/>
                          <a:ea typeface="Calibri" pitchFamily="34" charset="-122"/>
                          <a:cs typeface="Calibri" pitchFamily="34" charset="-120"/>
                        </a:rPr>
                        <a:t>560</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41E1E"/>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23836"/>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FFFFFF"/>
                    </a:solidFill>
                  </a:tcPr>
                </a:tc>
              </a:tr>
            </a:tbl>
          </a:graphicData>
        </a:graphic>
      </p:graphicFrame>
      <p:sp>
        <p:nvSpPr>
          <p:cNvPr id="36" name="Text 33"/>
          <p:cNvSpPr/>
          <p:nvPr/>
        </p:nvSpPr>
        <p:spPr>
          <a:xfrm>
            <a:off x="4480560" y="3364992"/>
            <a:ext cx="2103120" cy="228600"/>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Priority Distribution</a:t>
            </a:r>
            <a:endParaRPr lang="en-US" sz="1000" dirty="0"/>
          </a:p>
        </p:txBody>
      </p:sp>
      <p:graphicFrame>
        <p:nvGraphicFramePr>
          <p:cNvPr id="37" name="Chart 0" descr=""/>
          <p:cNvGraphicFramePr/>
          <p:nvPr/>
        </p:nvGraphicFramePr>
        <p:xfrm>
          <a:off x="4480560" y="3611880"/>
          <a:ext cx="2103120" cy="1371600"/>
        </p:xfrm>
        <a:graphic xmlns:a="http://schemas.openxmlformats.org/drawingml/2006/main">
          <a:graphicData uri="http://schemas.openxmlformats.org/drawingml/2006/chart">
            <c:chart xmlns:c="http://schemas.openxmlformats.org/drawingml/2006/chart" r:id="rId1"/>
          </a:graphicData>
        </a:graphic>
      </p:graphicFrame>
      <p:sp>
        <p:nvSpPr>
          <p:cNvPr id="38" name="Text 34"/>
          <p:cNvSpPr/>
          <p:nvPr/>
        </p:nvSpPr>
        <p:spPr>
          <a:xfrm>
            <a:off x="6766560" y="3364992"/>
            <a:ext cx="2148840" cy="228600"/>
          </a:xfrm>
          <a:prstGeom prst="rect">
            <a:avLst/>
          </a:prstGeom>
          <a:noFill/>
          <a:ln/>
        </p:spPr>
        <p:txBody>
          <a:bodyPr wrap="square" lIns="0" tIns="0" rIns="0" bIns="0" rtlCol="0" anchor="ctr"/>
          <a:lstStyle/>
          <a:p>
            <a:pPr indent="0" marL="0">
              <a:buNone/>
            </a:pPr>
            <a:r>
              <a:rPr lang="en-US" sz="1000" b="1" dirty="0">
                <a:solidFill>
                  <a:srgbClr val="FF6359"/>
                </a:solidFill>
                <a:latin typeface="Calibri" pitchFamily="34" charset="0"/>
                <a:ea typeface="Calibri" pitchFamily="34" charset="-122"/>
                <a:cs typeface="Calibri" pitchFamily="34" charset="-120"/>
              </a:rPr>
              <a:t>Key Talking Points</a:t>
            </a:r>
            <a:endParaRPr lang="en-US" sz="1000" dirty="0"/>
          </a:p>
        </p:txBody>
      </p:sp>
      <p:sp>
        <p:nvSpPr>
          <p:cNvPr id="39" name="Text 35"/>
          <p:cNvSpPr/>
          <p:nvPr/>
        </p:nvSpPr>
        <p:spPr>
          <a:xfrm>
            <a:off x="6766560" y="3611880"/>
            <a:ext cx="2148840" cy="1554480"/>
          </a:xfrm>
          <a:prstGeom prst="rect">
            <a:avLst/>
          </a:prstGeom>
          <a:noFill/>
          <a:ln/>
        </p:spPr>
        <p:txBody>
          <a:bodyPr wrap="square" rtlCol="0" anchor="ctr"/>
          <a:lstStyle/>
          <a:p>
            <a:pPr marL="342900" indent="-342900">
              <a:buSzPct val="100000"/>
              <a:buChar char="•"/>
            </a:pPr>
            <a:r>
              <a:rPr lang="en-US" sz="850" dirty="0">
                <a:solidFill>
                  <a:srgbClr val="4A5C5A"/>
                </a:solidFill>
                <a:latin typeface="Calibri" pitchFamily="34" charset="0"/>
                <a:ea typeface="Calibri" pitchFamily="34" charset="-122"/>
                <a:cs typeface="Calibri" pitchFamily="34" charset="-120"/>
              </a:rPr>
              <a:t>Billing and assessments are prerequisites for collections — sequence with Registration PI delivery</a:t>
            </a:r>
            <a:endParaRPr lang="en-US" sz="850" dirty="0"/>
          </a:p>
          <a:p>
            <a:pPr marL="342900" indent="-342900">
              <a:buSzPct val="100000"/>
              <a:buChar char="•"/>
            </a:pPr>
            <a:r>
              <a:rPr lang="en-US" sz="850" dirty="0">
                <a:solidFill>
                  <a:srgbClr val="4A5C5A"/>
                </a:solidFill>
                <a:latin typeface="Calibri" pitchFamily="34" charset="0"/>
                <a:ea typeface="Calibri" pitchFamily="34" charset="-122"/>
                <a:cs typeface="Calibri" pitchFamily="34" charset="-120"/>
              </a:rPr>
              <a:t>Installment plan scope is small and can provide quick win value in PI29</a:t>
            </a:r>
            <a:endParaRPr lang="en-US" sz="850" dirty="0"/>
          </a:p>
          <a:p>
            <a:pPr marL="342900" indent="-342900">
              <a:buSzPct val="100000"/>
              <a:buChar char="•"/>
            </a:pPr>
            <a:r>
              <a:rPr lang="en-US" sz="850" dirty="0">
                <a:solidFill>
                  <a:srgbClr val="4A5C5A"/>
                </a:solidFill>
                <a:latin typeface="Calibri" pitchFamily="34" charset="0"/>
                <a:ea typeface="Calibri" pitchFamily="34" charset="-122"/>
                <a:cs typeface="Calibri" pitchFamily="34" charset="-120"/>
              </a:rPr>
              <a:t>No features currently started — PI28 kickoff planning required immediately</a:t>
            </a:r>
            <a:endParaRPr lang="en-US" sz="850" dirty="0"/>
          </a:p>
        </p:txBody>
      </p:sp>
      <p:sp>
        <p:nvSpPr>
          <p:cNvPr id="40" name="Shape 36"/>
          <p:cNvSpPr/>
          <p:nvPr/>
        </p:nvSpPr>
        <p:spPr>
          <a:xfrm>
            <a:off x="0" y="4617720"/>
            <a:ext cx="9144000" cy="347472"/>
          </a:xfrm>
          <a:prstGeom prst="rect">
            <a:avLst/>
          </a:prstGeom>
          <a:solidFill>
            <a:srgbClr val="123836"/>
          </a:solidFill>
          <a:ln w="12700">
            <a:solidFill>
              <a:srgbClr val="123836"/>
            </a:solidFill>
            <a:prstDash val="solid"/>
          </a:ln>
        </p:spPr>
      </p:sp>
      <p:sp>
        <p:nvSpPr>
          <p:cNvPr id="41" name="Shape 37"/>
          <p:cNvSpPr/>
          <p:nvPr/>
        </p:nvSpPr>
        <p:spPr>
          <a:xfrm>
            <a:off x="0" y="4617720"/>
            <a:ext cx="73152" cy="347472"/>
          </a:xfrm>
          <a:prstGeom prst="rect">
            <a:avLst/>
          </a:prstGeom>
          <a:solidFill>
            <a:srgbClr val="FFD282"/>
          </a:solidFill>
          <a:ln w="12700">
            <a:solidFill>
              <a:srgbClr val="FFD282"/>
            </a:solidFill>
            <a:prstDash val="solid"/>
          </a:ln>
        </p:spPr>
      </p:sp>
      <p:sp>
        <p:nvSpPr>
          <p:cNvPr id="42" name="Text 38"/>
          <p:cNvSpPr/>
          <p:nvPr/>
        </p:nvSpPr>
        <p:spPr>
          <a:xfrm>
            <a:off x="137160" y="4617720"/>
            <a:ext cx="1920240" cy="347472"/>
          </a:xfrm>
          <a:prstGeom prst="rect">
            <a:avLst/>
          </a:prstGeom>
          <a:noFill/>
          <a:ln/>
        </p:spPr>
        <p:txBody>
          <a:bodyPr wrap="square" lIns="0" tIns="0" rIns="0" bIns="0" rtlCol="0" anchor="ctr"/>
          <a:lstStyle/>
          <a:p>
            <a:pPr indent="0" marL="0">
              <a:buNone/>
            </a:pPr>
            <a:r>
              <a:rPr lang="en-US" sz="800" b="1" dirty="0">
                <a:solidFill>
                  <a:srgbClr val="FFD282"/>
                </a:solidFill>
                <a:latin typeface="Calibri" pitchFamily="34" charset="0"/>
                <a:ea typeface="Calibri" pitchFamily="34" charset="-122"/>
                <a:cs typeface="Calibri" pitchFamily="34" charset="-120"/>
              </a:rPr>
              <a:t>Key Talking Points for SteerCo:</a:t>
            </a:r>
            <a:endParaRPr lang="en-US" sz="800" dirty="0"/>
          </a:p>
        </p:txBody>
      </p:sp>
      <p:sp>
        <p:nvSpPr>
          <p:cNvPr id="43" name="Text 39"/>
          <p:cNvSpPr/>
          <p:nvPr/>
        </p:nvSpPr>
        <p:spPr>
          <a:xfrm>
            <a:off x="2103120" y="4617720"/>
            <a:ext cx="6903720" cy="347472"/>
          </a:xfrm>
          <a:prstGeom prst="rect">
            <a:avLst/>
          </a:prstGeom>
          <a:noFill/>
          <a:ln/>
        </p:spPr>
        <p:txBody>
          <a:bodyPr wrap="square" lIns="0" tIns="0" rIns="0" bIns="0" rtlCol="0" anchor="ctr"/>
          <a:lstStyle/>
          <a:p>
            <a:pPr indent="0" marL="0">
              <a:buNone/>
            </a:pPr>
            <a:r>
              <a:rPr lang="en-US" sz="750" dirty="0">
                <a:solidFill>
                  <a:srgbClr val="D0D7D7"/>
                </a:solidFill>
                <a:latin typeface="Calibri" pitchFamily="34" charset="0"/>
                <a:ea typeface="Calibri" pitchFamily="34" charset="-122"/>
                <a:cs typeface="Calibri" pitchFamily="34" charset="-120"/>
              </a:rPr>
              <a:t>Prerequisite for collections — sequence with Registration   ·   Installment plans = quick win in PI29   ·   No work started — PI28 kickoff required now</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23836"/>
          </a:solidFill>
          <a:ln w="12700">
            <a:solidFill>
              <a:srgbClr val="123836"/>
            </a:solidFill>
            <a:prstDash val="solid"/>
          </a:ln>
        </p:spPr>
      </p:sp>
      <p:sp>
        <p:nvSpPr>
          <p:cNvPr id="3" name="Shape 1"/>
          <p:cNvSpPr/>
          <p:nvPr/>
        </p:nvSpPr>
        <p:spPr>
          <a:xfrm>
            <a:off x="0" y="0"/>
            <a:ext cx="73152" cy="960120"/>
          </a:xfrm>
          <a:prstGeom prst="rect">
            <a:avLst/>
          </a:prstGeom>
          <a:solidFill>
            <a:srgbClr val="FF6359"/>
          </a:solidFill>
          <a:ln w="12700">
            <a:solidFill>
              <a:srgbClr val="FF6359"/>
            </a:solidFill>
            <a:prstDash val="solid"/>
          </a:ln>
        </p:spPr>
      </p:sp>
      <p:sp>
        <p:nvSpPr>
          <p:cNvPr id="4" name="Text 2"/>
          <p:cNvSpPr/>
          <p:nvPr/>
        </p:nvSpPr>
        <p:spPr>
          <a:xfrm>
            <a:off x="182880" y="64008"/>
            <a:ext cx="640080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Remaining Initiatives — Core Revenue Management</a:t>
            </a:r>
            <a:endParaRPr lang="en-US" sz="2000" dirty="0"/>
          </a:p>
        </p:txBody>
      </p:sp>
      <p:sp>
        <p:nvSpPr>
          <p:cNvPr id="5" name="Text 3"/>
          <p:cNvSpPr/>
          <p:nvPr/>
        </p:nvSpPr>
        <p:spPr>
          <a:xfrm>
            <a:off x="182880" y="548640"/>
            <a:ext cx="8229600" cy="347472"/>
          </a:xfrm>
          <a:prstGeom prst="rect">
            <a:avLst/>
          </a:prstGeom>
          <a:noFill/>
          <a:ln/>
        </p:spPr>
        <p:txBody>
          <a:bodyPr wrap="square" lIns="0" tIns="0" rIns="0" bIns="0" rtlCol="0" anchor="ctr"/>
          <a:lstStyle/>
          <a:p>
            <a:pPr indent="0" marL="0">
              <a:buNone/>
            </a:pPr>
            <a:r>
              <a:rPr lang="en-US" sz="1100" dirty="0">
                <a:solidFill>
                  <a:srgbClr val="73AA87"/>
                </a:solidFill>
                <a:latin typeface="Calibri" pitchFamily="34" charset="0"/>
                <a:ea typeface="Calibri" pitchFamily="34" charset="-122"/>
                <a:cs typeface="Calibri" pitchFamily="34" charset="-120"/>
              </a:rPr>
              <a:t>Exemptions | Penalty &amp; Interest | Tax Accounts</a:t>
            </a:r>
            <a:endParaRPr lang="en-US" sz="1100" dirty="0"/>
          </a:p>
        </p:txBody>
      </p:sp>
      <p:sp>
        <p:nvSpPr>
          <p:cNvPr id="6" name="Text 4"/>
          <p:cNvSpPr/>
          <p:nvPr/>
        </p:nvSpPr>
        <p:spPr>
          <a:xfrm>
            <a:off x="6858000" y="73152"/>
            <a:ext cx="2103120" cy="365760"/>
          </a:xfrm>
          <a:prstGeom prst="rect">
            <a:avLst/>
          </a:prstGeom>
          <a:noFill/>
          <a:ln/>
        </p:spPr>
        <p:txBody>
          <a:bodyPr wrap="square" lIns="0" tIns="0" rIns="0" bIns="0" rtlCol="0" anchor="ctr"/>
          <a:lstStyle/>
          <a:p>
            <a:pPr algn="r" indent="0" marL="0">
              <a:buNone/>
            </a:pPr>
            <a:r>
              <a:rPr lang="en-US" sz="1200" b="1" dirty="0">
                <a:solidFill>
                  <a:srgbClr val="73AA87"/>
                </a:solidFill>
                <a:latin typeface="Calibri" pitchFamily="34" charset="0"/>
                <a:ea typeface="Calibri" pitchFamily="34" charset="-122"/>
                <a:cs typeface="Calibri" pitchFamily="34" charset="-120"/>
              </a:rPr>
              <a:t>Netcompany</a:t>
            </a:r>
            <a:endParaRPr lang="en-US" sz="1200" dirty="0"/>
          </a:p>
        </p:txBody>
      </p:sp>
      <p:sp>
        <p:nvSpPr>
          <p:cNvPr id="7" name="Shape 5"/>
          <p:cNvSpPr/>
          <p:nvPr/>
        </p:nvSpPr>
        <p:spPr>
          <a:xfrm>
            <a:off x="0" y="4983480"/>
            <a:ext cx="9144000" cy="160020"/>
          </a:xfrm>
          <a:prstGeom prst="rect">
            <a:avLst/>
          </a:prstGeom>
          <a:solidFill>
            <a:srgbClr val="123836"/>
          </a:solidFill>
          <a:ln w="12700">
            <a:solidFill>
              <a:srgbClr val="123836"/>
            </a:solidFill>
            <a:prstDash val="solid"/>
          </a:ln>
        </p:spPr>
      </p:sp>
      <p:sp>
        <p:nvSpPr>
          <p:cNvPr id="8" name="Text 6"/>
          <p:cNvSpPr/>
          <p:nvPr/>
        </p:nvSpPr>
        <p:spPr>
          <a:xfrm>
            <a:off x="137160" y="4974336"/>
            <a:ext cx="6400800" cy="164592"/>
          </a:xfrm>
          <a:prstGeom prst="rect">
            <a:avLst/>
          </a:prstGeom>
          <a:noFill/>
          <a:ln/>
        </p:spPr>
        <p:txBody>
          <a:bodyPr wrap="square" lIns="0" tIns="0" rIns="0" bIns="0" rtlCol="0" anchor="ctr"/>
          <a:lstStyle/>
          <a:p>
            <a:pPr indent="0" marL="0">
              <a:buNone/>
            </a:pPr>
            <a:r>
              <a:rPr lang="en-US" sz="800" dirty="0">
                <a:solidFill>
                  <a:srgbClr val="D0D7D7"/>
                </a:solidFill>
                <a:latin typeface="Calibri" pitchFamily="34" charset="0"/>
                <a:ea typeface="Calibri" pitchFamily="34" charset="-122"/>
                <a:cs typeface="Calibri" pitchFamily="34" charset="-120"/>
              </a:rPr>
              <a:t>Solon Tax Product Roadmap 2026 | SteerCo</a:t>
            </a:r>
            <a:endParaRPr lang="en-US" sz="800" dirty="0"/>
          </a:p>
        </p:txBody>
      </p:sp>
      <p:sp>
        <p:nvSpPr>
          <p:cNvPr id="9" name="Text 7"/>
          <p:cNvSpPr/>
          <p:nvPr/>
        </p:nvSpPr>
        <p:spPr>
          <a:xfrm>
            <a:off x="8686800" y="4974336"/>
            <a:ext cx="365760" cy="164592"/>
          </a:xfrm>
          <a:prstGeom prst="rect">
            <a:avLst/>
          </a:prstGeom>
          <a:noFill/>
          <a:ln/>
        </p:spPr>
        <p:txBody>
          <a:bodyPr wrap="square" lIns="0" tIns="0" rIns="0" bIns="0" rtlCol="0" anchor="ctr"/>
          <a:lstStyle/>
          <a:p>
            <a:pPr algn="r" indent="0" marL="0">
              <a:buNone/>
            </a:pPr>
            <a:r>
              <a:rPr lang="en-US" sz="800" dirty="0">
                <a:solidFill>
                  <a:srgbClr val="D0D7D7"/>
                </a:solidFill>
                <a:latin typeface="Calibri" pitchFamily="34" charset="0"/>
                <a:ea typeface="Calibri" pitchFamily="34" charset="-122"/>
                <a:cs typeface="Calibri" pitchFamily="34" charset="-120"/>
              </a:rPr>
              <a:t>7</a:t>
            </a:r>
            <a:endParaRPr lang="en-US" sz="800" dirty="0"/>
          </a:p>
        </p:txBody>
      </p:sp>
      <p:sp>
        <p:nvSpPr>
          <p:cNvPr id="10" name="Shape 8"/>
          <p:cNvSpPr/>
          <p:nvPr/>
        </p:nvSpPr>
        <p:spPr>
          <a:xfrm>
            <a:off x="182880" y="1024128"/>
            <a:ext cx="2834640" cy="3858768"/>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182880" y="1024128"/>
            <a:ext cx="2834640" cy="54864"/>
          </a:xfrm>
          <a:prstGeom prst="rect">
            <a:avLst/>
          </a:prstGeom>
          <a:solidFill>
            <a:srgbClr val="FF6359"/>
          </a:solidFill>
          <a:ln w="12700">
            <a:solidFill>
              <a:srgbClr val="FF6359"/>
            </a:solidFill>
            <a:prstDash val="solid"/>
          </a:ln>
        </p:spPr>
      </p:sp>
      <p:sp>
        <p:nvSpPr>
          <p:cNvPr id="12" name="Text 10"/>
          <p:cNvSpPr/>
          <p:nvPr/>
        </p:nvSpPr>
        <p:spPr>
          <a:xfrm>
            <a:off x="292608" y="1115568"/>
            <a:ext cx="2615184" cy="320040"/>
          </a:xfrm>
          <a:prstGeom prst="rect">
            <a:avLst/>
          </a:prstGeom>
          <a:noFill/>
          <a:ln/>
        </p:spPr>
        <p:txBody>
          <a:bodyPr wrap="square" lIns="0" tIns="0" rIns="0" bIns="0" rtlCol="0" anchor="ctr"/>
          <a:lstStyle/>
          <a:p>
            <a:pPr indent="0" marL="0">
              <a:buNone/>
            </a:pPr>
            <a:r>
              <a:rPr lang="en-US" sz="1300" b="1" dirty="0">
                <a:solidFill>
                  <a:srgbClr val="123836"/>
                </a:solidFill>
                <a:latin typeface="Calibri" pitchFamily="34" charset="0"/>
                <a:ea typeface="Calibri" pitchFamily="34" charset="-122"/>
                <a:cs typeface="Calibri" pitchFamily="34" charset="-120"/>
              </a:rPr>
              <a:t>Exemptions</a:t>
            </a:r>
            <a:endParaRPr lang="en-US" sz="1300" dirty="0"/>
          </a:p>
        </p:txBody>
      </p:sp>
      <p:sp>
        <p:nvSpPr>
          <p:cNvPr id="13" name="Shape 11"/>
          <p:cNvSpPr/>
          <p:nvPr/>
        </p:nvSpPr>
        <p:spPr>
          <a:xfrm>
            <a:off x="246888" y="1481328"/>
            <a:ext cx="640080" cy="548640"/>
          </a:xfrm>
          <a:prstGeom prst="rect">
            <a:avLst/>
          </a:prstGeom>
          <a:solidFill>
            <a:srgbClr val="123836"/>
          </a:solidFill>
          <a:ln w="12700">
            <a:solidFill>
              <a:srgbClr val="1B5E52"/>
            </a:solidFill>
            <a:prstDash val="solid"/>
          </a:ln>
        </p:spPr>
      </p:sp>
      <p:sp>
        <p:nvSpPr>
          <p:cNvPr id="14" name="Text 12"/>
          <p:cNvSpPr/>
          <p:nvPr/>
        </p:nvSpPr>
        <p:spPr>
          <a:xfrm>
            <a:off x="246888" y="1481328"/>
            <a:ext cx="640080" cy="338328"/>
          </a:xfrm>
          <a:prstGeom prst="rect">
            <a:avLst/>
          </a:prstGeom>
          <a:noFill/>
          <a:ln/>
        </p:spPr>
        <p:txBody>
          <a:bodyPr wrap="square" lIns="0" tIns="0" rIns="0" bIns="0" rtlCol="0" anchor="b"/>
          <a:lstStyle/>
          <a:p>
            <a:pPr algn="ctr" indent="0" marL="0">
              <a:buNone/>
            </a:pPr>
            <a:r>
              <a:rPr lang="en-US" sz="750" b="1" dirty="0">
                <a:solidFill>
                  <a:srgbClr val="FFFFFF"/>
                </a:solidFill>
                <a:latin typeface="Calibri" pitchFamily="34" charset="0"/>
                <a:ea typeface="Calibri" pitchFamily="34" charset="-122"/>
                <a:cs typeface="Calibri" pitchFamily="34" charset="-120"/>
              </a:rPr>
              <a:t>~390H</a:t>
            </a:r>
            <a:endParaRPr lang="en-US" sz="750" dirty="0"/>
          </a:p>
        </p:txBody>
      </p:sp>
      <p:sp>
        <p:nvSpPr>
          <p:cNvPr id="15" name="Text 13"/>
          <p:cNvSpPr/>
          <p:nvPr/>
        </p:nvSpPr>
        <p:spPr>
          <a:xfrm>
            <a:off x="246888" y="1819656"/>
            <a:ext cx="640080" cy="201168"/>
          </a:xfrm>
          <a:prstGeom prst="rect">
            <a:avLst/>
          </a:prstGeom>
          <a:noFill/>
          <a:ln/>
        </p:spPr>
        <p:txBody>
          <a:bodyPr wrap="square" lIns="0" tIns="0" rIns="0" bIns="0" rtlCol="0" anchor="ctr"/>
          <a:lstStyle/>
          <a:p>
            <a:pPr algn="ctr" indent="0" marL="0">
              <a:buNone/>
            </a:pPr>
            <a:r>
              <a:rPr lang="en-US" sz="650" dirty="0">
                <a:solidFill>
                  <a:srgbClr val="FFD282"/>
                </a:solidFill>
                <a:latin typeface="Calibri" pitchFamily="34" charset="0"/>
                <a:ea typeface="Calibri" pitchFamily="34" charset="-122"/>
                <a:cs typeface="Calibri" pitchFamily="34" charset="-120"/>
              </a:rPr>
              <a:t>Effort</a:t>
            </a:r>
            <a:endParaRPr lang="en-US" sz="650" dirty="0"/>
          </a:p>
        </p:txBody>
      </p:sp>
      <p:sp>
        <p:nvSpPr>
          <p:cNvPr id="16" name="Shape 14"/>
          <p:cNvSpPr/>
          <p:nvPr/>
        </p:nvSpPr>
        <p:spPr>
          <a:xfrm>
            <a:off x="941832" y="1481328"/>
            <a:ext cx="640080" cy="548640"/>
          </a:xfrm>
          <a:prstGeom prst="rect">
            <a:avLst/>
          </a:prstGeom>
          <a:solidFill>
            <a:srgbClr val="123836"/>
          </a:solidFill>
          <a:ln w="12700">
            <a:solidFill>
              <a:srgbClr val="1B5E52"/>
            </a:solidFill>
            <a:prstDash val="solid"/>
          </a:ln>
        </p:spPr>
      </p:sp>
      <p:sp>
        <p:nvSpPr>
          <p:cNvPr id="17" name="Text 15"/>
          <p:cNvSpPr/>
          <p:nvPr/>
        </p:nvSpPr>
        <p:spPr>
          <a:xfrm>
            <a:off x="941832" y="1481328"/>
            <a:ext cx="640080" cy="338328"/>
          </a:xfrm>
          <a:prstGeom prst="rect">
            <a:avLst/>
          </a:prstGeom>
          <a:noFill/>
          <a:ln/>
        </p:spPr>
        <p:txBody>
          <a:bodyPr wrap="square" lIns="0" tIns="0" rIns="0" bIns="0" rtlCol="0" anchor="b"/>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18" name="Text 16"/>
          <p:cNvSpPr/>
          <p:nvPr/>
        </p:nvSpPr>
        <p:spPr>
          <a:xfrm>
            <a:off x="941832" y="1819656"/>
            <a:ext cx="640080" cy="201168"/>
          </a:xfrm>
          <a:prstGeom prst="rect">
            <a:avLst/>
          </a:prstGeom>
          <a:noFill/>
          <a:ln/>
        </p:spPr>
        <p:txBody>
          <a:bodyPr wrap="square" lIns="0" tIns="0" rIns="0" bIns="0" rtlCol="0" anchor="ctr"/>
          <a:lstStyle/>
          <a:p>
            <a:pPr algn="ctr" indent="0" marL="0">
              <a:buNone/>
            </a:pPr>
            <a:r>
              <a:rPr lang="en-US" sz="650" dirty="0">
                <a:solidFill>
                  <a:srgbClr val="FFD282"/>
                </a:solidFill>
                <a:latin typeface="Calibri" pitchFamily="34" charset="0"/>
                <a:ea typeface="Calibri" pitchFamily="34" charset="-122"/>
                <a:cs typeface="Calibri" pitchFamily="34" charset="-120"/>
              </a:rPr>
              <a:t>Features</a:t>
            </a:r>
            <a:endParaRPr lang="en-US" sz="650" dirty="0"/>
          </a:p>
        </p:txBody>
      </p:sp>
      <p:sp>
        <p:nvSpPr>
          <p:cNvPr id="19" name="Shape 17"/>
          <p:cNvSpPr/>
          <p:nvPr/>
        </p:nvSpPr>
        <p:spPr>
          <a:xfrm>
            <a:off x="1636776" y="1481328"/>
            <a:ext cx="640080" cy="548640"/>
          </a:xfrm>
          <a:prstGeom prst="rect">
            <a:avLst/>
          </a:prstGeom>
          <a:solidFill>
            <a:srgbClr val="123836"/>
          </a:solidFill>
          <a:ln w="12700">
            <a:solidFill>
              <a:srgbClr val="1B5E52"/>
            </a:solidFill>
            <a:prstDash val="solid"/>
          </a:ln>
        </p:spPr>
      </p:sp>
      <p:sp>
        <p:nvSpPr>
          <p:cNvPr id="20" name="Text 18"/>
          <p:cNvSpPr/>
          <p:nvPr/>
        </p:nvSpPr>
        <p:spPr>
          <a:xfrm>
            <a:off x="1636776" y="1481328"/>
            <a:ext cx="640080" cy="338328"/>
          </a:xfrm>
          <a:prstGeom prst="rect">
            <a:avLst/>
          </a:prstGeom>
          <a:noFill/>
          <a:ln/>
        </p:spPr>
        <p:txBody>
          <a:bodyPr wrap="square" lIns="0" tIns="0" rIns="0" bIns="0" rtlCol="0" anchor="b"/>
          <a:lstStyle/>
          <a:p>
            <a:pPr algn="ctr" indent="0" marL="0">
              <a:buNone/>
            </a:pPr>
            <a:r>
              <a:rPr lang="en-US" sz="750" b="1" dirty="0">
                <a:solidFill>
                  <a:srgbClr val="FFFFFF"/>
                </a:solidFill>
                <a:latin typeface="Calibri" pitchFamily="34" charset="0"/>
                <a:ea typeface="Calibri" pitchFamily="34" charset="-122"/>
                <a:cs typeface="Calibri" pitchFamily="34" charset="-120"/>
              </a:rPr>
              <a:t>P2</a:t>
            </a:r>
            <a:endParaRPr lang="en-US" sz="750" dirty="0"/>
          </a:p>
        </p:txBody>
      </p:sp>
      <p:sp>
        <p:nvSpPr>
          <p:cNvPr id="21" name="Text 19"/>
          <p:cNvSpPr/>
          <p:nvPr/>
        </p:nvSpPr>
        <p:spPr>
          <a:xfrm>
            <a:off x="1636776" y="1819656"/>
            <a:ext cx="640080" cy="201168"/>
          </a:xfrm>
          <a:prstGeom prst="rect">
            <a:avLst/>
          </a:prstGeom>
          <a:noFill/>
          <a:ln/>
        </p:spPr>
        <p:txBody>
          <a:bodyPr wrap="square" lIns="0" tIns="0" rIns="0" bIns="0" rtlCol="0" anchor="ctr"/>
          <a:lstStyle/>
          <a:p>
            <a:pPr algn="ctr" indent="0" marL="0">
              <a:buNone/>
            </a:pPr>
            <a:r>
              <a:rPr lang="en-US" sz="650" dirty="0">
                <a:solidFill>
                  <a:srgbClr val="FFD282"/>
                </a:solidFill>
                <a:latin typeface="Calibri" pitchFamily="34" charset="0"/>
                <a:ea typeface="Calibri" pitchFamily="34" charset="-122"/>
                <a:cs typeface="Calibri" pitchFamily="34" charset="-120"/>
              </a:rPr>
              <a:t>Priority</a:t>
            </a:r>
            <a:endParaRPr lang="en-US" sz="650" dirty="0"/>
          </a:p>
        </p:txBody>
      </p:sp>
      <p:sp>
        <p:nvSpPr>
          <p:cNvPr id="22" name="Shape 20"/>
          <p:cNvSpPr/>
          <p:nvPr/>
        </p:nvSpPr>
        <p:spPr>
          <a:xfrm>
            <a:off x="2331720" y="1481328"/>
            <a:ext cx="640080" cy="548640"/>
          </a:xfrm>
          <a:prstGeom prst="rect">
            <a:avLst/>
          </a:prstGeom>
          <a:solidFill>
            <a:srgbClr val="123836"/>
          </a:solidFill>
          <a:ln w="12700">
            <a:solidFill>
              <a:srgbClr val="1B5E52"/>
            </a:solidFill>
            <a:prstDash val="solid"/>
          </a:ln>
        </p:spPr>
      </p:sp>
      <p:sp>
        <p:nvSpPr>
          <p:cNvPr id="23" name="Text 21"/>
          <p:cNvSpPr/>
          <p:nvPr/>
        </p:nvSpPr>
        <p:spPr>
          <a:xfrm>
            <a:off x="2331720" y="1481328"/>
            <a:ext cx="640080" cy="338328"/>
          </a:xfrm>
          <a:prstGeom prst="rect">
            <a:avLst/>
          </a:prstGeom>
          <a:noFill/>
          <a:ln/>
        </p:spPr>
        <p:txBody>
          <a:bodyPr wrap="square" lIns="0" tIns="0" rIns="0" bIns="0" rtlCol="0" anchor="b"/>
          <a:lstStyle/>
          <a:p>
            <a:pPr algn="ctr" indent="0" marL="0">
              <a:buNone/>
            </a:pPr>
            <a:r>
              <a:rPr lang="en-US" sz="750" b="1" dirty="0">
                <a:solidFill>
                  <a:srgbClr val="FFFFFF"/>
                </a:solidFill>
                <a:latin typeface="Calibri" pitchFamily="34" charset="0"/>
                <a:ea typeface="Calibri" pitchFamily="34" charset="-122"/>
                <a:cs typeface="Calibri" pitchFamily="34" charset="-120"/>
              </a:rPr>
              <a:t>PI28</a:t>
            </a:r>
            <a:endParaRPr lang="en-US" sz="750" dirty="0"/>
          </a:p>
        </p:txBody>
      </p:sp>
      <p:sp>
        <p:nvSpPr>
          <p:cNvPr id="24" name="Text 22"/>
          <p:cNvSpPr/>
          <p:nvPr/>
        </p:nvSpPr>
        <p:spPr>
          <a:xfrm>
            <a:off x="2331720" y="1819656"/>
            <a:ext cx="640080" cy="201168"/>
          </a:xfrm>
          <a:prstGeom prst="rect">
            <a:avLst/>
          </a:prstGeom>
          <a:noFill/>
          <a:ln/>
        </p:spPr>
        <p:txBody>
          <a:bodyPr wrap="square" lIns="0" tIns="0" rIns="0" bIns="0" rtlCol="0" anchor="ctr"/>
          <a:lstStyle/>
          <a:p>
            <a:pPr algn="ctr" indent="0" marL="0">
              <a:buNone/>
            </a:pPr>
            <a:r>
              <a:rPr lang="en-US" sz="650" dirty="0">
                <a:solidFill>
                  <a:srgbClr val="FFD282"/>
                </a:solidFill>
                <a:latin typeface="Calibri" pitchFamily="34" charset="0"/>
                <a:ea typeface="Calibri" pitchFamily="34" charset="-122"/>
                <a:cs typeface="Calibri" pitchFamily="34" charset="-120"/>
              </a:rPr>
              <a:t>PI Window</a:t>
            </a:r>
            <a:endParaRPr lang="en-US" sz="650" dirty="0"/>
          </a:p>
        </p:txBody>
      </p:sp>
      <p:sp>
        <p:nvSpPr>
          <p:cNvPr id="25" name="Text 23"/>
          <p:cNvSpPr/>
          <p:nvPr/>
        </p:nvSpPr>
        <p:spPr>
          <a:xfrm>
            <a:off x="292608" y="2103120"/>
            <a:ext cx="2615184" cy="201168"/>
          </a:xfrm>
          <a:prstGeom prst="rect">
            <a:avLst/>
          </a:prstGeom>
          <a:noFill/>
          <a:ln/>
        </p:spPr>
        <p:txBody>
          <a:bodyPr wrap="square" lIns="0" tIns="0" rIns="0" bIns="0" rtlCol="0" anchor="ctr"/>
          <a:lstStyle/>
          <a:p>
            <a:pPr indent="0" marL="0">
              <a:buNone/>
            </a:pPr>
            <a:r>
              <a:rPr lang="en-US" sz="900" b="1" dirty="0">
                <a:solidFill>
                  <a:srgbClr val="FF6359"/>
                </a:solidFill>
                <a:latin typeface="Calibri" pitchFamily="34" charset="0"/>
                <a:ea typeface="Calibri" pitchFamily="34" charset="-122"/>
                <a:cs typeface="Calibri" pitchFamily="34" charset="-120"/>
              </a:rPr>
              <a:t>Scope</a:t>
            </a:r>
            <a:endParaRPr lang="en-US" sz="900" dirty="0"/>
          </a:p>
        </p:txBody>
      </p:sp>
      <p:sp>
        <p:nvSpPr>
          <p:cNvPr id="26" name="Text 24"/>
          <p:cNvSpPr/>
          <p:nvPr/>
        </p:nvSpPr>
        <p:spPr>
          <a:xfrm>
            <a:off x="292608" y="2304288"/>
            <a:ext cx="2615184" cy="822960"/>
          </a:xfrm>
          <a:prstGeom prst="rect">
            <a:avLst/>
          </a:prstGeom>
          <a:noFill/>
          <a:ln/>
        </p:spPr>
        <p:txBody>
          <a:bodyPr wrap="square" lIns="0" tIns="0" rIns="0" bIns="0" rtlCol="0" anchor="ctr"/>
          <a:lstStyle/>
          <a:p>
            <a:pPr indent="0" marL="0">
              <a:buNone/>
            </a:pPr>
            <a:r>
              <a:rPr lang="en-US" sz="850" dirty="0">
                <a:solidFill>
                  <a:srgbClr val="141E1E"/>
                </a:solidFill>
                <a:latin typeface="Calibri" pitchFamily="34" charset="0"/>
                <a:ea typeface="Calibri" pitchFamily="34" charset="-122"/>
                <a:cs typeface="Calibri" pitchFamily="34" charset="-120"/>
              </a:rPr>
              <a:t>Manages the application, approval, and recording of tax exemptions for qualifying taxpayers or transactions. Ensures audit-traceable decisions and supports statutory compliance for exemption schemes.</a:t>
            </a:r>
            <a:endParaRPr lang="en-US" sz="850" dirty="0"/>
          </a:p>
        </p:txBody>
      </p:sp>
      <p:sp>
        <p:nvSpPr>
          <p:cNvPr id="27" name="Text 25"/>
          <p:cNvSpPr/>
          <p:nvPr/>
        </p:nvSpPr>
        <p:spPr>
          <a:xfrm>
            <a:off x="292608" y="3172968"/>
            <a:ext cx="2615184" cy="201168"/>
          </a:xfrm>
          <a:prstGeom prst="rect">
            <a:avLst/>
          </a:prstGeom>
          <a:noFill/>
          <a:ln/>
        </p:spPr>
        <p:txBody>
          <a:bodyPr wrap="square" lIns="0" tIns="0" rIns="0" bIns="0" rtlCol="0" anchor="ctr"/>
          <a:lstStyle/>
          <a:p>
            <a:pPr indent="0" marL="0">
              <a:buNone/>
            </a:pPr>
            <a:r>
              <a:rPr lang="en-US" sz="900" b="1" dirty="0">
                <a:solidFill>
                  <a:srgbClr val="FF6359"/>
                </a:solidFill>
                <a:latin typeface="Calibri" pitchFamily="34" charset="0"/>
                <a:ea typeface="Calibri" pitchFamily="34" charset="-122"/>
                <a:cs typeface="Calibri" pitchFamily="34" charset="-120"/>
              </a:rPr>
              <a:t>Benefits</a:t>
            </a:r>
            <a:endParaRPr lang="en-US" sz="900" dirty="0"/>
          </a:p>
        </p:txBody>
      </p:sp>
      <p:sp>
        <p:nvSpPr>
          <p:cNvPr id="28" name="Text 26"/>
          <p:cNvSpPr/>
          <p:nvPr/>
        </p:nvSpPr>
        <p:spPr>
          <a:xfrm>
            <a:off x="292608" y="3383280"/>
            <a:ext cx="2615184" cy="822960"/>
          </a:xfrm>
          <a:prstGeom prst="rect">
            <a:avLst/>
          </a:prstGeom>
          <a:noFill/>
          <a:ln/>
        </p:spPr>
        <p:txBody>
          <a:bodyPr wrap="square" rtlCol="0" anchor="ctr"/>
          <a:lstStyle/>
          <a:p>
            <a:pPr marL="342900" indent="-342900">
              <a:buSzPct val="100000"/>
              <a:buChar char="•"/>
            </a:pPr>
            <a:r>
              <a:rPr lang="en-US" sz="800" dirty="0">
                <a:solidFill>
                  <a:srgbClr val="4A5C5A"/>
                </a:solidFill>
                <a:latin typeface="Calibri" pitchFamily="34" charset="0"/>
                <a:ea typeface="Calibri" pitchFamily="34" charset="-122"/>
                <a:cs typeface="Calibri" pitchFamily="34" charset="-120"/>
              </a:rPr>
              <a:t>Reduces manual exemption handling and processing backlogs</a:t>
            </a:r>
            <a:endParaRPr lang="en-US" sz="800" dirty="0"/>
          </a:p>
          <a:p>
            <a:pPr marL="342900" indent="-342900">
              <a:buSzPct val="100000"/>
              <a:buChar char="•"/>
            </a:pPr>
            <a:r>
              <a:rPr lang="en-US" sz="800" dirty="0">
                <a:solidFill>
                  <a:srgbClr val="4A5C5A"/>
                </a:solidFill>
                <a:latin typeface="Calibri" pitchFamily="34" charset="0"/>
                <a:ea typeface="Calibri" pitchFamily="34" charset="-122"/>
                <a:cs typeface="Calibri" pitchFamily="34" charset="-120"/>
              </a:rPr>
              <a:t>Audit-ready exemption records reduce compliance risk</a:t>
            </a:r>
            <a:endParaRPr lang="en-US" sz="800" dirty="0"/>
          </a:p>
          <a:p>
            <a:pPr marL="342900" indent="-342900">
              <a:buSzPct val="100000"/>
              <a:buChar char="•"/>
            </a:pPr>
            <a:r>
              <a:rPr lang="en-US" sz="800" dirty="0">
                <a:solidFill>
                  <a:srgbClr val="4A5C5A"/>
                </a:solidFill>
                <a:latin typeface="Calibri" pitchFamily="34" charset="0"/>
                <a:ea typeface="Calibri" pitchFamily="34" charset="-122"/>
                <a:cs typeface="Calibri" pitchFamily="34" charset="-120"/>
              </a:rPr>
              <a:t>Configurable exemption rules support multiple tax types</a:t>
            </a:r>
            <a:endParaRPr lang="en-US" sz="800" dirty="0"/>
          </a:p>
        </p:txBody>
      </p:sp>
      <p:sp>
        <p:nvSpPr>
          <p:cNvPr id="29" name="Shape 27"/>
          <p:cNvSpPr/>
          <p:nvPr/>
        </p:nvSpPr>
        <p:spPr>
          <a:xfrm>
            <a:off x="292608" y="4261104"/>
            <a:ext cx="2615184" cy="530352"/>
          </a:xfrm>
          <a:prstGeom prst="rect">
            <a:avLst/>
          </a:prstGeom>
          <a:solidFill>
            <a:srgbClr val="EEF3F2"/>
          </a:solidFill>
          <a:ln w="12700">
            <a:solidFill>
              <a:srgbClr val="D0D7D7"/>
            </a:solidFill>
            <a:prstDash val="solid"/>
          </a:ln>
        </p:spPr>
      </p:sp>
      <p:sp>
        <p:nvSpPr>
          <p:cNvPr id="30" name="Text 28"/>
          <p:cNvSpPr/>
          <p:nvPr/>
        </p:nvSpPr>
        <p:spPr>
          <a:xfrm>
            <a:off x="347472" y="4288536"/>
            <a:ext cx="2505456" cy="475488"/>
          </a:xfrm>
          <a:prstGeom prst="rect">
            <a:avLst/>
          </a:prstGeom>
          <a:noFill/>
          <a:ln/>
        </p:spPr>
        <p:txBody>
          <a:bodyPr wrap="square" lIns="0" tIns="0" rIns="0" bIns="0" rtlCol="0" anchor="ctr"/>
          <a:lstStyle/>
          <a:p>
            <a:pPr indent="0" marL="0">
              <a:buNone/>
            </a:pPr>
            <a:r>
              <a:rPr lang="en-US" sz="800" i="1" dirty="0">
                <a:solidFill>
                  <a:srgbClr val="123836"/>
                </a:solidFill>
                <a:latin typeface="Calibri" pitchFamily="34" charset="0"/>
                <a:ea typeface="Calibri" pitchFamily="34" charset="-122"/>
                <a:cs typeface="Calibri" pitchFamily="34" charset="-120"/>
              </a:rPr>
              <a:t>Small scope — good candidate for early delivery to demonstrate value to GRC stakeholders in PI28.</a:t>
            </a:r>
            <a:endParaRPr lang="en-US" sz="800" dirty="0"/>
          </a:p>
        </p:txBody>
      </p:sp>
      <p:sp>
        <p:nvSpPr>
          <p:cNvPr id="31" name="Shape 29"/>
          <p:cNvSpPr/>
          <p:nvPr/>
        </p:nvSpPr>
        <p:spPr>
          <a:xfrm>
            <a:off x="3172968" y="1024128"/>
            <a:ext cx="2834640" cy="3858768"/>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32" name="Shape 30"/>
          <p:cNvSpPr/>
          <p:nvPr/>
        </p:nvSpPr>
        <p:spPr>
          <a:xfrm>
            <a:off x="3172968" y="1024128"/>
            <a:ext cx="2834640" cy="54864"/>
          </a:xfrm>
          <a:prstGeom prst="rect">
            <a:avLst/>
          </a:prstGeom>
          <a:solidFill>
            <a:srgbClr val="FF6359"/>
          </a:solidFill>
          <a:ln w="12700">
            <a:solidFill>
              <a:srgbClr val="FF6359"/>
            </a:solidFill>
            <a:prstDash val="solid"/>
          </a:ln>
        </p:spPr>
      </p:sp>
      <p:sp>
        <p:nvSpPr>
          <p:cNvPr id="33" name="Text 31"/>
          <p:cNvSpPr/>
          <p:nvPr/>
        </p:nvSpPr>
        <p:spPr>
          <a:xfrm>
            <a:off x="3282696" y="1115568"/>
            <a:ext cx="2615184" cy="320040"/>
          </a:xfrm>
          <a:prstGeom prst="rect">
            <a:avLst/>
          </a:prstGeom>
          <a:noFill/>
          <a:ln/>
        </p:spPr>
        <p:txBody>
          <a:bodyPr wrap="square" lIns="0" tIns="0" rIns="0" bIns="0" rtlCol="0" anchor="ctr"/>
          <a:lstStyle/>
          <a:p>
            <a:pPr indent="0" marL="0">
              <a:buNone/>
            </a:pPr>
            <a:r>
              <a:rPr lang="en-US" sz="1300" b="1" dirty="0">
                <a:solidFill>
                  <a:srgbClr val="123836"/>
                </a:solidFill>
                <a:latin typeface="Calibri" pitchFamily="34" charset="0"/>
                <a:ea typeface="Calibri" pitchFamily="34" charset="-122"/>
                <a:cs typeface="Calibri" pitchFamily="34" charset="-120"/>
              </a:rPr>
              <a:t>Penalty &amp; Interest</a:t>
            </a:r>
            <a:endParaRPr lang="en-US" sz="1300" dirty="0"/>
          </a:p>
        </p:txBody>
      </p:sp>
      <p:sp>
        <p:nvSpPr>
          <p:cNvPr id="34" name="Shape 32"/>
          <p:cNvSpPr/>
          <p:nvPr/>
        </p:nvSpPr>
        <p:spPr>
          <a:xfrm>
            <a:off x="3236976" y="1481328"/>
            <a:ext cx="640080" cy="548640"/>
          </a:xfrm>
          <a:prstGeom prst="rect">
            <a:avLst/>
          </a:prstGeom>
          <a:solidFill>
            <a:srgbClr val="123836"/>
          </a:solidFill>
          <a:ln w="12700">
            <a:solidFill>
              <a:srgbClr val="1B5E52"/>
            </a:solidFill>
            <a:prstDash val="solid"/>
          </a:ln>
        </p:spPr>
      </p:sp>
      <p:sp>
        <p:nvSpPr>
          <p:cNvPr id="35" name="Text 33"/>
          <p:cNvSpPr/>
          <p:nvPr/>
        </p:nvSpPr>
        <p:spPr>
          <a:xfrm>
            <a:off x="3236976" y="1481328"/>
            <a:ext cx="640080" cy="338328"/>
          </a:xfrm>
          <a:prstGeom prst="rect">
            <a:avLst/>
          </a:prstGeom>
          <a:noFill/>
          <a:ln/>
        </p:spPr>
        <p:txBody>
          <a:bodyPr wrap="square" lIns="0" tIns="0" rIns="0" bIns="0" rtlCol="0" anchor="b"/>
          <a:lstStyle/>
          <a:p>
            <a:pPr algn="ctr" indent="0" marL="0">
              <a:buNone/>
            </a:pPr>
            <a:r>
              <a:rPr lang="en-US" sz="750" b="1" dirty="0">
                <a:solidFill>
                  <a:srgbClr val="FFFFFF"/>
                </a:solidFill>
                <a:latin typeface="Calibri" pitchFamily="34" charset="0"/>
                <a:ea typeface="Calibri" pitchFamily="34" charset="-122"/>
                <a:cs typeface="Calibri" pitchFamily="34" charset="-120"/>
              </a:rPr>
              <a:t>TBD</a:t>
            </a:r>
            <a:endParaRPr lang="en-US" sz="750" dirty="0"/>
          </a:p>
        </p:txBody>
      </p:sp>
      <p:sp>
        <p:nvSpPr>
          <p:cNvPr id="36" name="Text 34"/>
          <p:cNvSpPr/>
          <p:nvPr/>
        </p:nvSpPr>
        <p:spPr>
          <a:xfrm>
            <a:off x="3236976" y="1819656"/>
            <a:ext cx="640080" cy="201168"/>
          </a:xfrm>
          <a:prstGeom prst="rect">
            <a:avLst/>
          </a:prstGeom>
          <a:noFill/>
          <a:ln/>
        </p:spPr>
        <p:txBody>
          <a:bodyPr wrap="square" lIns="0" tIns="0" rIns="0" bIns="0" rtlCol="0" anchor="ctr"/>
          <a:lstStyle/>
          <a:p>
            <a:pPr algn="ctr" indent="0" marL="0">
              <a:buNone/>
            </a:pPr>
            <a:r>
              <a:rPr lang="en-US" sz="650" dirty="0">
                <a:solidFill>
                  <a:srgbClr val="FFD282"/>
                </a:solidFill>
                <a:latin typeface="Calibri" pitchFamily="34" charset="0"/>
                <a:ea typeface="Calibri" pitchFamily="34" charset="-122"/>
                <a:cs typeface="Calibri" pitchFamily="34" charset="-120"/>
              </a:rPr>
              <a:t>Effort</a:t>
            </a:r>
            <a:endParaRPr lang="en-US" sz="650" dirty="0"/>
          </a:p>
        </p:txBody>
      </p:sp>
      <p:sp>
        <p:nvSpPr>
          <p:cNvPr id="37" name="Shape 35"/>
          <p:cNvSpPr/>
          <p:nvPr/>
        </p:nvSpPr>
        <p:spPr>
          <a:xfrm>
            <a:off x="3931920" y="1481328"/>
            <a:ext cx="640080" cy="548640"/>
          </a:xfrm>
          <a:prstGeom prst="rect">
            <a:avLst/>
          </a:prstGeom>
          <a:solidFill>
            <a:srgbClr val="123836"/>
          </a:solidFill>
          <a:ln w="12700">
            <a:solidFill>
              <a:srgbClr val="1B5E52"/>
            </a:solidFill>
            <a:prstDash val="solid"/>
          </a:ln>
        </p:spPr>
      </p:sp>
      <p:sp>
        <p:nvSpPr>
          <p:cNvPr id="38" name="Text 36"/>
          <p:cNvSpPr/>
          <p:nvPr/>
        </p:nvSpPr>
        <p:spPr>
          <a:xfrm>
            <a:off x="3931920" y="1481328"/>
            <a:ext cx="640080" cy="338328"/>
          </a:xfrm>
          <a:prstGeom prst="rect">
            <a:avLst/>
          </a:prstGeom>
          <a:noFill/>
          <a:ln/>
        </p:spPr>
        <p:txBody>
          <a:bodyPr wrap="square" lIns="0" tIns="0" rIns="0" bIns="0" rtlCol="0" anchor="b"/>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39" name="Text 37"/>
          <p:cNvSpPr/>
          <p:nvPr/>
        </p:nvSpPr>
        <p:spPr>
          <a:xfrm>
            <a:off x="3931920" y="1819656"/>
            <a:ext cx="640080" cy="201168"/>
          </a:xfrm>
          <a:prstGeom prst="rect">
            <a:avLst/>
          </a:prstGeom>
          <a:noFill/>
          <a:ln/>
        </p:spPr>
        <p:txBody>
          <a:bodyPr wrap="square" lIns="0" tIns="0" rIns="0" bIns="0" rtlCol="0" anchor="ctr"/>
          <a:lstStyle/>
          <a:p>
            <a:pPr algn="ctr" indent="0" marL="0">
              <a:buNone/>
            </a:pPr>
            <a:r>
              <a:rPr lang="en-US" sz="650" dirty="0">
                <a:solidFill>
                  <a:srgbClr val="FFD282"/>
                </a:solidFill>
                <a:latin typeface="Calibri" pitchFamily="34" charset="0"/>
                <a:ea typeface="Calibri" pitchFamily="34" charset="-122"/>
                <a:cs typeface="Calibri" pitchFamily="34" charset="-120"/>
              </a:rPr>
              <a:t>Features</a:t>
            </a:r>
            <a:endParaRPr lang="en-US" sz="650" dirty="0"/>
          </a:p>
        </p:txBody>
      </p:sp>
      <p:sp>
        <p:nvSpPr>
          <p:cNvPr id="40" name="Shape 38"/>
          <p:cNvSpPr/>
          <p:nvPr/>
        </p:nvSpPr>
        <p:spPr>
          <a:xfrm>
            <a:off x="4626864" y="1481328"/>
            <a:ext cx="640080" cy="548640"/>
          </a:xfrm>
          <a:prstGeom prst="rect">
            <a:avLst/>
          </a:prstGeom>
          <a:solidFill>
            <a:srgbClr val="123836"/>
          </a:solidFill>
          <a:ln w="12700">
            <a:solidFill>
              <a:srgbClr val="1B5E52"/>
            </a:solidFill>
            <a:prstDash val="solid"/>
          </a:ln>
        </p:spPr>
      </p:sp>
      <p:sp>
        <p:nvSpPr>
          <p:cNvPr id="41" name="Text 39"/>
          <p:cNvSpPr/>
          <p:nvPr/>
        </p:nvSpPr>
        <p:spPr>
          <a:xfrm>
            <a:off x="4626864" y="1481328"/>
            <a:ext cx="640080" cy="338328"/>
          </a:xfrm>
          <a:prstGeom prst="rect">
            <a:avLst/>
          </a:prstGeom>
          <a:noFill/>
          <a:ln/>
        </p:spPr>
        <p:txBody>
          <a:bodyPr wrap="square" lIns="0" tIns="0" rIns="0" bIns="0" rtlCol="0" anchor="b"/>
          <a:lstStyle/>
          <a:p>
            <a:pPr algn="ctr" indent="0" marL="0">
              <a:buNone/>
            </a:pPr>
            <a:r>
              <a:rPr lang="en-US" sz="750" b="1" dirty="0">
                <a:solidFill>
                  <a:srgbClr val="FFFFFF"/>
                </a:solidFill>
                <a:latin typeface="Calibri" pitchFamily="34" charset="0"/>
                <a:ea typeface="Calibri" pitchFamily="34" charset="-122"/>
                <a:cs typeface="Calibri" pitchFamily="34" charset="-120"/>
              </a:rPr>
              <a:t>P2</a:t>
            </a:r>
            <a:endParaRPr lang="en-US" sz="750" dirty="0"/>
          </a:p>
        </p:txBody>
      </p:sp>
      <p:sp>
        <p:nvSpPr>
          <p:cNvPr id="42" name="Text 40"/>
          <p:cNvSpPr/>
          <p:nvPr/>
        </p:nvSpPr>
        <p:spPr>
          <a:xfrm>
            <a:off x="4626864" y="1819656"/>
            <a:ext cx="640080" cy="201168"/>
          </a:xfrm>
          <a:prstGeom prst="rect">
            <a:avLst/>
          </a:prstGeom>
          <a:noFill/>
          <a:ln/>
        </p:spPr>
        <p:txBody>
          <a:bodyPr wrap="square" lIns="0" tIns="0" rIns="0" bIns="0" rtlCol="0" anchor="ctr"/>
          <a:lstStyle/>
          <a:p>
            <a:pPr algn="ctr" indent="0" marL="0">
              <a:buNone/>
            </a:pPr>
            <a:r>
              <a:rPr lang="en-US" sz="650" dirty="0">
                <a:solidFill>
                  <a:srgbClr val="FFD282"/>
                </a:solidFill>
                <a:latin typeface="Calibri" pitchFamily="34" charset="0"/>
                <a:ea typeface="Calibri" pitchFamily="34" charset="-122"/>
                <a:cs typeface="Calibri" pitchFamily="34" charset="-120"/>
              </a:rPr>
              <a:t>Priority</a:t>
            </a:r>
            <a:endParaRPr lang="en-US" sz="650" dirty="0"/>
          </a:p>
        </p:txBody>
      </p:sp>
      <p:sp>
        <p:nvSpPr>
          <p:cNvPr id="43" name="Shape 41"/>
          <p:cNvSpPr/>
          <p:nvPr/>
        </p:nvSpPr>
        <p:spPr>
          <a:xfrm>
            <a:off x="5321808" y="1481328"/>
            <a:ext cx="640080" cy="548640"/>
          </a:xfrm>
          <a:prstGeom prst="rect">
            <a:avLst/>
          </a:prstGeom>
          <a:solidFill>
            <a:srgbClr val="123836"/>
          </a:solidFill>
          <a:ln w="12700">
            <a:solidFill>
              <a:srgbClr val="1B5E52"/>
            </a:solidFill>
            <a:prstDash val="solid"/>
          </a:ln>
        </p:spPr>
      </p:sp>
      <p:sp>
        <p:nvSpPr>
          <p:cNvPr id="44" name="Text 42"/>
          <p:cNvSpPr/>
          <p:nvPr/>
        </p:nvSpPr>
        <p:spPr>
          <a:xfrm>
            <a:off x="5321808" y="1481328"/>
            <a:ext cx="640080" cy="338328"/>
          </a:xfrm>
          <a:prstGeom prst="rect">
            <a:avLst/>
          </a:prstGeom>
          <a:noFill/>
          <a:ln/>
        </p:spPr>
        <p:txBody>
          <a:bodyPr wrap="square" lIns="0" tIns="0" rIns="0" bIns="0" rtlCol="0" anchor="b"/>
          <a:lstStyle/>
          <a:p>
            <a:pPr algn="ctr" indent="0" marL="0">
              <a:buNone/>
            </a:pPr>
            <a:r>
              <a:rPr lang="en-US" sz="750" b="1" dirty="0">
                <a:solidFill>
                  <a:srgbClr val="FFFFFF"/>
                </a:solidFill>
                <a:latin typeface="Calibri" pitchFamily="34" charset="0"/>
                <a:ea typeface="Calibri" pitchFamily="34" charset="-122"/>
                <a:cs typeface="Calibri" pitchFamily="34" charset="-120"/>
              </a:rPr>
              <a:t>PI28–PI29</a:t>
            </a:r>
            <a:endParaRPr lang="en-US" sz="750" dirty="0"/>
          </a:p>
        </p:txBody>
      </p:sp>
      <p:sp>
        <p:nvSpPr>
          <p:cNvPr id="45" name="Text 43"/>
          <p:cNvSpPr/>
          <p:nvPr/>
        </p:nvSpPr>
        <p:spPr>
          <a:xfrm>
            <a:off x="5321808" y="1819656"/>
            <a:ext cx="640080" cy="201168"/>
          </a:xfrm>
          <a:prstGeom prst="rect">
            <a:avLst/>
          </a:prstGeom>
          <a:noFill/>
          <a:ln/>
        </p:spPr>
        <p:txBody>
          <a:bodyPr wrap="square" lIns="0" tIns="0" rIns="0" bIns="0" rtlCol="0" anchor="ctr"/>
          <a:lstStyle/>
          <a:p>
            <a:pPr algn="ctr" indent="0" marL="0">
              <a:buNone/>
            </a:pPr>
            <a:r>
              <a:rPr lang="en-US" sz="650" dirty="0">
                <a:solidFill>
                  <a:srgbClr val="FFD282"/>
                </a:solidFill>
                <a:latin typeface="Calibri" pitchFamily="34" charset="0"/>
                <a:ea typeface="Calibri" pitchFamily="34" charset="-122"/>
                <a:cs typeface="Calibri" pitchFamily="34" charset="-120"/>
              </a:rPr>
              <a:t>PI Window</a:t>
            </a:r>
            <a:endParaRPr lang="en-US" sz="650" dirty="0"/>
          </a:p>
        </p:txBody>
      </p:sp>
      <p:sp>
        <p:nvSpPr>
          <p:cNvPr id="46" name="Text 44"/>
          <p:cNvSpPr/>
          <p:nvPr/>
        </p:nvSpPr>
        <p:spPr>
          <a:xfrm>
            <a:off x="3282696" y="2103120"/>
            <a:ext cx="2615184" cy="201168"/>
          </a:xfrm>
          <a:prstGeom prst="rect">
            <a:avLst/>
          </a:prstGeom>
          <a:noFill/>
          <a:ln/>
        </p:spPr>
        <p:txBody>
          <a:bodyPr wrap="square" lIns="0" tIns="0" rIns="0" bIns="0" rtlCol="0" anchor="ctr"/>
          <a:lstStyle/>
          <a:p>
            <a:pPr indent="0" marL="0">
              <a:buNone/>
            </a:pPr>
            <a:r>
              <a:rPr lang="en-US" sz="900" b="1" dirty="0">
                <a:solidFill>
                  <a:srgbClr val="FF6359"/>
                </a:solidFill>
                <a:latin typeface="Calibri" pitchFamily="34" charset="0"/>
                <a:ea typeface="Calibri" pitchFamily="34" charset="-122"/>
                <a:cs typeface="Calibri" pitchFamily="34" charset="-120"/>
              </a:rPr>
              <a:t>Scope</a:t>
            </a:r>
            <a:endParaRPr lang="en-US" sz="900" dirty="0"/>
          </a:p>
        </p:txBody>
      </p:sp>
      <p:sp>
        <p:nvSpPr>
          <p:cNvPr id="47" name="Text 45"/>
          <p:cNvSpPr/>
          <p:nvPr/>
        </p:nvSpPr>
        <p:spPr>
          <a:xfrm>
            <a:off x="3282696" y="2304288"/>
            <a:ext cx="2615184" cy="822960"/>
          </a:xfrm>
          <a:prstGeom prst="rect">
            <a:avLst/>
          </a:prstGeom>
          <a:noFill/>
          <a:ln/>
        </p:spPr>
        <p:txBody>
          <a:bodyPr wrap="square" lIns="0" tIns="0" rIns="0" bIns="0" rtlCol="0" anchor="ctr"/>
          <a:lstStyle/>
          <a:p>
            <a:pPr indent="0" marL="0">
              <a:buNone/>
            </a:pPr>
            <a:r>
              <a:rPr lang="en-US" sz="850" dirty="0">
                <a:solidFill>
                  <a:srgbClr val="141E1E"/>
                </a:solidFill>
                <a:latin typeface="Calibri" pitchFamily="34" charset="0"/>
                <a:ea typeface="Calibri" pitchFamily="34" charset="-122"/>
                <a:cs typeface="Calibri" pitchFamily="34" charset="-120"/>
              </a:rPr>
              <a:t>Automates the calculation and application of statutory penalties and interest charges on overdue tax liabilities. Ensures accurate and consistent enforcement of late payment rules across all tax types.</a:t>
            </a:r>
            <a:endParaRPr lang="en-US" sz="850" dirty="0"/>
          </a:p>
        </p:txBody>
      </p:sp>
      <p:sp>
        <p:nvSpPr>
          <p:cNvPr id="48" name="Text 46"/>
          <p:cNvSpPr/>
          <p:nvPr/>
        </p:nvSpPr>
        <p:spPr>
          <a:xfrm>
            <a:off x="3282696" y="3172968"/>
            <a:ext cx="2615184" cy="201168"/>
          </a:xfrm>
          <a:prstGeom prst="rect">
            <a:avLst/>
          </a:prstGeom>
          <a:noFill/>
          <a:ln/>
        </p:spPr>
        <p:txBody>
          <a:bodyPr wrap="square" lIns="0" tIns="0" rIns="0" bIns="0" rtlCol="0" anchor="ctr"/>
          <a:lstStyle/>
          <a:p>
            <a:pPr indent="0" marL="0">
              <a:buNone/>
            </a:pPr>
            <a:r>
              <a:rPr lang="en-US" sz="900" b="1" dirty="0">
                <a:solidFill>
                  <a:srgbClr val="FF6359"/>
                </a:solidFill>
                <a:latin typeface="Calibri" pitchFamily="34" charset="0"/>
                <a:ea typeface="Calibri" pitchFamily="34" charset="-122"/>
                <a:cs typeface="Calibri" pitchFamily="34" charset="-120"/>
              </a:rPr>
              <a:t>Benefits</a:t>
            </a:r>
            <a:endParaRPr lang="en-US" sz="900" dirty="0"/>
          </a:p>
        </p:txBody>
      </p:sp>
      <p:sp>
        <p:nvSpPr>
          <p:cNvPr id="49" name="Text 47"/>
          <p:cNvSpPr/>
          <p:nvPr/>
        </p:nvSpPr>
        <p:spPr>
          <a:xfrm>
            <a:off x="3282696" y="3383280"/>
            <a:ext cx="2615184" cy="822960"/>
          </a:xfrm>
          <a:prstGeom prst="rect">
            <a:avLst/>
          </a:prstGeom>
          <a:noFill/>
          <a:ln/>
        </p:spPr>
        <p:txBody>
          <a:bodyPr wrap="square" rtlCol="0" anchor="ctr"/>
          <a:lstStyle/>
          <a:p>
            <a:pPr marL="342900" indent="-342900">
              <a:buSzPct val="100000"/>
              <a:buChar char="•"/>
            </a:pPr>
            <a:r>
              <a:rPr lang="en-US" sz="800" dirty="0">
                <a:solidFill>
                  <a:srgbClr val="4A5C5A"/>
                </a:solidFill>
                <a:latin typeface="Calibri" pitchFamily="34" charset="0"/>
                <a:ea typeface="Calibri" pitchFamily="34" charset="-122"/>
                <a:cs typeface="Calibri" pitchFamily="34" charset="-120"/>
              </a:rPr>
              <a:t>Automated calculations eliminate manual errors and officer inconsistency</a:t>
            </a:r>
            <a:endParaRPr lang="en-US" sz="800" dirty="0"/>
          </a:p>
          <a:p>
            <a:pPr marL="342900" indent="-342900">
              <a:buSzPct val="100000"/>
              <a:buChar char="•"/>
            </a:pPr>
            <a:r>
              <a:rPr lang="en-US" sz="800" dirty="0">
                <a:solidFill>
                  <a:srgbClr val="4A5C5A"/>
                </a:solidFill>
                <a:latin typeface="Calibri" pitchFamily="34" charset="0"/>
                <a:ea typeface="Calibri" pitchFamily="34" charset="-122"/>
                <a:cs typeface="Calibri" pitchFamily="34" charset="-120"/>
              </a:rPr>
              <a:t>Increases voluntary compliance by ensuring consistent enforcement</a:t>
            </a:r>
            <a:endParaRPr lang="en-US" sz="800" dirty="0"/>
          </a:p>
          <a:p>
            <a:pPr marL="342900" indent="-342900">
              <a:buSzPct val="100000"/>
              <a:buChar char="•"/>
            </a:pPr>
            <a:r>
              <a:rPr lang="en-US" sz="800" dirty="0">
                <a:solidFill>
                  <a:srgbClr val="4A5C5A"/>
                </a:solidFill>
                <a:latin typeface="Calibri" pitchFamily="34" charset="0"/>
                <a:ea typeface="Calibri" pitchFamily="34" charset="-122"/>
                <a:cs typeface="Calibri" pitchFamily="34" charset="-120"/>
              </a:rPr>
              <a:t>Supports configurable penalty schedules per tax type and jurisdiction</a:t>
            </a:r>
            <a:endParaRPr lang="en-US" sz="800" dirty="0"/>
          </a:p>
        </p:txBody>
      </p:sp>
      <p:sp>
        <p:nvSpPr>
          <p:cNvPr id="50" name="Shape 48"/>
          <p:cNvSpPr/>
          <p:nvPr/>
        </p:nvSpPr>
        <p:spPr>
          <a:xfrm>
            <a:off x="3282696" y="4261104"/>
            <a:ext cx="2615184" cy="530352"/>
          </a:xfrm>
          <a:prstGeom prst="rect">
            <a:avLst/>
          </a:prstGeom>
          <a:solidFill>
            <a:srgbClr val="EEF3F2"/>
          </a:solidFill>
          <a:ln w="12700">
            <a:solidFill>
              <a:srgbClr val="D0D7D7"/>
            </a:solidFill>
            <a:prstDash val="solid"/>
          </a:ln>
        </p:spPr>
      </p:sp>
      <p:sp>
        <p:nvSpPr>
          <p:cNvPr id="51" name="Text 49"/>
          <p:cNvSpPr/>
          <p:nvPr/>
        </p:nvSpPr>
        <p:spPr>
          <a:xfrm>
            <a:off x="3337560" y="4288536"/>
            <a:ext cx="2505456" cy="475488"/>
          </a:xfrm>
          <a:prstGeom prst="rect">
            <a:avLst/>
          </a:prstGeom>
          <a:noFill/>
          <a:ln/>
        </p:spPr>
        <p:txBody>
          <a:bodyPr wrap="square" lIns="0" tIns="0" rIns="0" bIns="0" rtlCol="0" anchor="ctr"/>
          <a:lstStyle/>
          <a:p>
            <a:pPr indent="0" marL="0">
              <a:buNone/>
            </a:pPr>
            <a:r>
              <a:rPr lang="en-US" sz="800" i="1" dirty="0">
                <a:solidFill>
                  <a:srgbClr val="123836"/>
                </a:solidFill>
                <a:latin typeface="Calibri" pitchFamily="34" charset="0"/>
                <a:ea typeface="Calibri" pitchFamily="34" charset="-122"/>
                <a:cs typeface="Calibri" pitchFamily="34" charset="-120"/>
              </a:rPr>
              <a:t>Effort not yet estimated — scope clarification required before PI28 planning can be confirmed.</a:t>
            </a:r>
            <a:endParaRPr lang="en-US" sz="800" dirty="0"/>
          </a:p>
        </p:txBody>
      </p:sp>
      <p:sp>
        <p:nvSpPr>
          <p:cNvPr id="52" name="Shape 50"/>
          <p:cNvSpPr/>
          <p:nvPr/>
        </p:nvSpPr>
        <p:spPr>
          <a:xfrm>
            <a:off x="6163056" y="1024128"/>
            <a:ext cx="2834640" cy="3858768"/>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53" name="Shape 51"/>
          <p:cNvSpPr/>
          <p:nvPr/>
        </p:nvSpPr>
        <p:spPr>
          <a:xfrm>
            <a:off x="6163056" y="1024128"/>
            <a:ext cx="2834640" cy="54864"/>
          </a:xfrm>
          <a:prstGeom prst="rect">
            <a:avLst/>
          </a:prstGeom>
          <a:solidFill>
            <a:srgbClr val="FF6359"/>
          </a:solidFill>
          <a:ln w="12700">
            <a:solidFill>
              <a:srgbClr val="FF6359"/>
            </a:solidFill>
            <a:prstDash val="solid"/>
          </a:ln>
        </p:spPr>
      </p:sp>
      <p:sp>
        <p:nvSpPr>
          <p:cNvPr id="54" name="Text 52"/>
          <p:cNvSpPr/>
          <p:nvPr/>
        </p:nvSpPr>
        <p:spPr>
          <a:xfrm>
            <a:off x="6272784" y="1115568"/>
            <a:ext cx="2615184" cy="320040"/>
          </a:xfrm>
          <a:prstGeom prst="rect">
            <a:avLst/>
          </a:prstGeom>
          <a:noFill/>
          <a:ln/>
        </p:spPr>
        <p:txBody>
          <a:bodyPr wrap="square" lIns="0" tIns="0" rIns="0" bIns="0" rtlCol="0" anchor="ctr"/>
          <a:lstStyle/>
          <a:p>
            <a:pPr indent="0" marL="0">
              <a:buNone/>
            </a:pPr>
            <a:r>
              <a:rPr lang="en-US" sz="1300" b="1" dirty="0">
                <a:solidFill>
                  <a:srgbClr val="123836"/>
                </a:solidFill>
                <a:latin typeface="Calibri" pitchFamily="34" charset="0"/>
                <a:ea typeface="Calibri" pitchFamily="34" charset="-122"/>
                <a:cs typeface="Calibri" pitchFamily="34" charset="-120"/>
              </a:rPr>
              <a:t>Tax Accounts</a:t>
            </a:r>
            <a:endParaRPr lang="en-US" sz="1300" dirty="0"/>
          </a:p>
        </p:txBody>
      </p:sp>
      <p:sp>
        <p:nvSpPr>
          <p:cNvPr id="55" name="Shape 53"/>
          <p:cNvSpPr/>
          <p:nvPr/>
        </p:nvSpPr>
        <p:spPr>
          <a:xfrm>
            <a:off x="6227064" y="1481328"/>
            <a:ext cx="640080" cy="548640"/>
          </a:xfrm>
          <a:prstGeom prst="rect">
            <a:avLst/>
          </a:prstGeom>
          <a:solidFill>
            <a:srgbClr val="123836"/>
          </a:solidFill>
          <a:ln w="12700">
            <a:solidFill>
              <a:srgbClr val="1B5E52"/>
            </a:solidFill>
            <a:prstDash val="solid"/>
          </a:ln>
        </p:spPr>
      </p:sp>
      <p:sp>
        <p:nvSpPr>
          <p:cNvPr id="56" name="Text 54"/>
          <p:cNvSpPr/>
          <p:nvPr/>
        </p:nvSpPr>
        <p:spPr>
          <a:xfrm>
            <a:off x="6227064" y="1481328"/>
            <a:ext cx="640080" cy="338328"/>
          </a:xfrm>
          <a:prstGeom prst="rect">
            <a:avLst/>
          </a:prstGeom>
          <a:noFill/>
          <a:ln/>
        </p:spPr>
        <p:txBody>
          <a:bodyPr wrap="square" lIns="0" tIns="0" rIns="0" bIns="0" rtlCol="0" anchor="b"/>
          <a:lstStyle/>
          <a:p>
            <a:pPr algn="ctr" indent="0" marL="0">
              <a:buNone/>
            </a:pPr>
            <a:r>
              <a:rPr lang="en-US" sz="750" b="1" dirty="0">
                <a:solidFill>
                  <a:srgbClr val="FFFFFF"/>
                </a:solidFill>
                <a:latin typeface="Calibri" pitchFamily="34" charset="0"/>
                <a:ea typeface="Calibri" pitchFamily="34" charset="-122"/>
                <a:cs typeface="Calibri" pitchFamily="34" charset="-120"/>
              </a:rPr>
              <a:t>TBD</a:t>
            </a:r>
            <a:endParaRPr lang="en-US" sz="750" dirty="0"/>
          </a:p>
        </p:txBody>
      </p:sp>
      <p:sp>
        <p:nvSpPr>
          <p:cNvPr id="57" name="Text 55"/>
          <p:cNvSpPr/>
          <p:nvPr/>
        </p:nvSpPr>
        <p:spPr>
          <a:xfrm>
            <a:off x="6227064" y="1819656"/>
            <a:ext cx="640080" cy="201168"/>
          </a:xfrm>
          <a:prstGeom prst="rect">
            <a:avLst/>
          </a:prstGeom>
          <a:noFill/>
          <a:ln/>
        </p:spPr>
        <p:txBody>
          <a:bodyPr wrap="square" lIns="0" tIns="0" rIns="0" bIns="0" rtlCol="0" anchor="ctr"/>
          <a:lstStyle/>
          <a:p>
            <a:pPr algn="ctr" indent="0" marL="0">
              <a:buNone/>
            </a:pPr>
            <a:r>
              <a:rPr lang="en-US" sz="650" dirty="0">
                <a:solidFill>
                  <a:srgbClr val="FFD282"/>
                </a:solidFill>
                <a:latin typeface="Calibri" pitchFamily="34" charset="0"/>
                <a:ea typeface="Calibri" pitchFamily="34" charset="-122"/>
                <a:cs typeface="Calibri" pitchFamily="34" charset="-120"/>
              </a:rPr>
              <a:t>Effort</a:t>
            </a:r>
            <a:endParaRPr lang="en-US" sz="650" dirty="0"/>
          </a:p>
        </p:txBody>
      </p:sp>
      <p:sp>
        <p:nvSpPr>
          <p:cNvPr id="58" name="Shape 56"/>
          <p:cNvSpPr/>
          <p:nvPr/>
        </p:nvSpPr>
        <p:spPr>
          <a:xfrm>
            <a:off x="6922008" y="1481328"/>
            <a:ext cx="640080" cy="548640"/>
          </a:xfrm>
          <a:prstGeom prst="rect">
            <a:avLst/>
          </a:prstGeom>
          <a:solidFill>
            <a:srgbClr val="123836"/>
          </a:solidFill>
          <a:ln w="12700">
            <a:solidFill>
              <a:srgbClr val="1B5E52"/>
            </a:solidFill>
            <a:prstDash val="solid"/>
          </a:ln>
        </p:spPr>
      </p:sp>
      <p:sp>
        <p:nvSpPr>
          <p:cNvPr id="59" name="Text 57"/>
          <p:cNvSpPr/>
          <p:nvPr/>
        </p:nvSpPr>
        <p:spPr>
          <a:xfrm>
            <a:off x="6922008" y="1481328"/>
            <a:ext cx="640080" cy="338328"/>
          </a:xfrm>
          <a:prstGeom prst="rect">
            <a:avLst/>
          </a:prstGeom>
          <a:noFill/>
          <a:ln/>
        </p:spPr>
        <p:txBody>
          <a:bodyPr wrap="square" lIns="0" tIns="0" rIns="0" bIns="0" rtlCol="0" anchor="b"/>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60" name="Text 58"/>
          <p:cNvSpPr/>
          <p:nvPr/>
        </p:nvSpPr>
        <p:spPr>
          <a:xfrm>
            <a:off x="6922008" y="1819656"/>
            <a:ext cx="640080" cy="201168"/>
          </a:xfrm>
          <a:prstGeom prst="rect">
            <a:avLst/>
          </a:prstGeom>
          <a:noFill/>
          <a:ln/>
        </p:spPr>
        <p:txBody>
          <a:bodyPr wrap="square" lIns="0" tIns="0" rIns="0" bIns="0" rtlCol="0" anchor="ctr"/>
          <a:lstStyle/>
          <a:p>
            <a:pPr algn="ctr" indent="0" marL="0">
              <a:buNone/>
            </a:pPr>
            <a:r>
              <a:rPr lang="en-US" sz="650" dirty="0">
                <a:solidFill>
                  <a:srgbClr val="FFD282"/>
                </a:solidFill>
                <a:latin typeface="Calibri" pitchFamily="34" charset="0"/>
                <a:ea typeface="Calibri" pitchFamily="34" charset="-122"/>
                <a:cs typeface="Calibri" pitchFamily="34" charset="-120"/>
              </a:rPr>
              <a:t>Features</a:t>
            </a:r>
            <a:endParaRPr lang="en-US" sz="650" dirty="0"/>
          </a:p>
        </p:txBody>
      </p:sp>
      <p:sp>
        <p:nvSpPr>
          <p:cNvPr id="61" name="Shape 59"/>
          <p:cNvSpPr/>
          <p:nvPr/>
        </p:nvSpPr>
        <p:spPr>
          <a:xfrm>
            <a:off x="7616952" y="1481328"/>
            <a:ext cx="640080" cy="548640"/>
          </a:xfrm>
          <a:prstGeom prst="rect">
            <a:avLst/>
          </a:prstGeom>
          <a:solidFill>
            <a:srgbClr val="123836"/>
          </a:solidFill>
          <a:ln w="12700">
            <a:solidFill>
              <a:srgbClr val="1B5E52"/>
            </a:solidFill>
            <a:prstDash val="solid"/>
          </a:ln>
        </p:spPr>
      </p:sp>
      <p:sp>
        <p:nvSpPr>
          <p:cNvPr id="62" name="Text 60"/>
          <p:cNvSpPr/>
          <p:nvPr/>
        </p:nvSpPr>
        <p:spPr>
          <a:xfrm>
            <a:off x="7616952" y="1481328"/>
            <a:ext cx="640080" cy="338328"/>
          </a:xfrm>
          <a:prstGeom prst="rect">
            <a:avLst/>
          </a:prstGeom>
          <a:noFill/>
          <a:ln/>
        </p:spPr>
        <p:txBody>
          <a:bodyPr wrap="square" lIns="0" tIns="0" rIns="0" bIns="0" rtlCol="0" anchor="b"/>
          <a:lstStyle/>
          <a:p>
            <a:pPr algn="ctr" indent="0" marL="0">
              <a:buNone/>
            </a:pPr>
            <a:r>
              <a:rPr lang="en-US" sz="750" b="1" dirty="0">
                <a:solidFill>
                  <a:srgbClr val="FFFFFF"/>
                </a:solidFill>
                <a:latin typeface="Calibri" pitchFamily="34" charset="0"/>
                <a:ea typeface="Calibri" pitchFamily="34" charset="-122"/>
                <a:cs typeface="Calibri" pitchFamily="34" charset="-120"/>
              </a:rPr>
              <a:t>P1</a:t>
            </a:r>
            <a:endParaRPr lang="en-US" sz="750" dirty="0"/>
          </a:p>
        </p:txBody>
      </p:sp>
      <p:sp>
        <p:nvSpPr>
          <p:cNvPr id="63" name="Text 61"/>
          <p:cNvSpPr/>
          <p:nvPr/>
        </p:nvSpPr>
        <p:spPr>
          <a:xfrm>
            <a:off x="7616952" y="1819656"/>
            <a:ext cx="640080" cy="201168"/>
          </a:xfrm>
          <a:prstGeom prst="rect">
            <a:avLst/>
          </a:prstGeom>
          <a:noFill/>
          <a:ln/>
        </p:spPr>
        <p:txBody>
          <a:bodyPr wrap="square" lIns="0" tIns="0" rIns="0" bIns="0" rtlCol="0" anchor="ctr"/>
          <a:lstStyle/>
          <a:p>
            <a:pPr algn="ctr" indent="0" marL="0">
              <a:buNone/>
            </a:pPr>
            <a:r>
              <a:rPr lang="en-US" sz="650" dirty="0">
                <a:solidFill>
                  <a:srgbClr val="FFD282"/>
                </a:solidFill>
                <a:latin typeface="Calibri" pitchFamily="34" charset="0"/>
                <a:ea typeface="Calibri" pitchFamily="34" charset="-122"/>
                <a:cs typeface="Calibri" pitchFamily="34" charset="-120"/>
              </a:rPr>
              <a:t>Priority</a:t>
            </a:r>
            <a:endParaRPr lang="en-US" sz="650" dirty="0"/>
          </a:p>
        </p:txBody>
      </p:sp>
      <p:sp>
        <p:nvSpPr>
          <p:cNvPr id="64" name="Shape 62"/>
          <p:cNvSpPr/>
          <p:nvPr/>
        </p:nvSpPr>
        <p:spPr>
          <a:xfrm>
            <a:off x="8311896" y="1481328"/>
            <a:ext cx="640080" cy="548640"/>
          </a:xfrm>
          <a:prstGeom prst="rect">
            <a:avLst/>
          </a:prstGeom>
          <a:solidFill>
            <a:srgbClr val="123836"/>
          </a:solidFill>
          <a:ln w="12700">
            <a:solidFill>
              <a:srgbClr val="1B5E52"/>
            </a:solidFill>
            <a:prstDash val="solid"/>
          </a:ln>
        </p:spPr>
      </p:sp>
      <p:sp>
        <p:nvSpPr>
          <p:cNvPr id="65" name="Text 63"/>
          <p:cNvSpPr/>
          <p:nvPr/>
        </p:nvSpPr>
        <p:spPr>
          <a:xfrm>
            <a:off x="8311896" y="1481328"/>
            <a:ext cx="640080" cy="338328"/>
          </a:xfrm>
          <a:prstGeom prst="rect">
            <a:avLst/>
          </a:prstGeom>
          <a:noFill/>
          <a:ln/>
        </p:spPr>
        <p:txBody>
          <a:bodyPr wrap="square" lIns="0" tIns="0" rIns="0" bIns="0" rtlCol="0" anchor="b"/>
          <a:lstStyle/>
          <a:p>
            <a:pPr algn="ctr" indent="0" marL="0">
              <a:buNone/>
            </a:pPr>
            <a:r>
              <a:rPr lang="en-US" sz="750" b="1" dirty="0">
                <a:solidFill>
                  <a:srgbClr val="FFFFFF"/>
                </a:solidFill>
                <a:latin typeface="Calibri" pitchFamily="34" charset="0"/>
                <a:ea typeface="Calibri" pitchFamily="34" charset="-122"/>
                <a:cs typeface="Calibri" pitchFamily="34" charset="-120"/>
              </a:rPr>
              <a:t>PI28–PI29</a:t>
            </a:r>
            <a:endParaRPr lang="en-US" sz="750" dirty="0"/>
          </a:p>
        </p:txBody>
      </p:sp>
      <p:sp>
        <p:nvSpPr>
          <p:cNvPr id="66" name="Text 64"/>
          <p:cNvSpPr/>
          <p:nvPr/>
        </p:nvSpPr>
        <p:spPr>
          <a:xfrm>
            <a:off x="8311896" y="1819656"/>
            <a:ext cx="640080" cy="201168"/>
          </a:xfrm>
          <a:prstGeom prst="rect">
            <a:avLst/>
          </a:prstGeom>
          <a:noFill/>
          <a:ln/>
        </p:spPr>
        <p:txBody>
          <a:bodyPr wrap="square" lIns="0" tIns="0" rIns="0" bIns="0" rtlCol="0" anchor="ctr"/>
          <a:lstStyle/>
          <a:p>
            <a:pPr algn="ctr" indent="0" marL="0">
              <a:buNone/>
            </a:pPr>
            <a:r>
              <a:rPr lang="en-US" sz="650" dirty="0">
                <a:solidFill>
                  <a:srgbClr val="FFD282"/>
                </a:solidFill>
                <a:latin typeface="Calibri" pitchFamily="34" charset="0"/>
                <a:ea typeface="Calibri" pitchFamily="34" charset="-122"/>
                <a:cs typeface="Calibri" pitchFamily="34" charset="-120"/>
              </a:rPr>
              <a:t>PI Window</a:t>
            </a:r>
            <a:endParaRPr lang="en-US" sz="650" dirty="0"/>
          </a:p>
        </p:txBody>
      </p:sp>
      <p:sp>
        <p:nvSpPr>
          <p:cNvPr id="67" name="Text 65"/>
          <p:cNvSpPr/>
          <p:nvPr/>
        </p:nvSpPr>
        <p:spPr>
          <a:xfrm>
            <a:off x="6272784" y="2103120"/>
            <a:ext cx="2615184" cy="201168"/>
          </a:xfrm>
          <a:prstGeom prst="rect">
            <a:avLst/>
          </a:prstGeom>
          <a:noFill/>
          <a:ln/>
        </p:spPr>
        <p:txBody>
          <a:bodyPr wrap="square" lIns="0" tIns="0" rIns="0" bIns="0" rtlCol="0" anchor="ctr"/>
          <a:lstStyle/>
          <a:p>
            <a:pPr indent="0" marL="0">
              <a:buNone/>
            </a:pPr>
            <a:r>
              <a:rPr lang="en-US" sz="900" b="1" dirty="0">
                <a:solidFill>
                  <a:srgbClr val="FF6359"/>
                </a:solidFill>
                <a:latin typeface="Calibri" pitchFamily="34" charset="0"/>
                <a:ea typeface="Calibri" pitchFamily="34" charset="-122"/>
                <a:cs typeface="Calibri" pitchFamily="34" charset="-120"/>
              </a:rPr>
              <a:t>Scope</a:t>
            </a:r>
            <a:endParaRPr lang="en-US" sz="900" dirty="0"/>
          </a:p>
        </p:txBody>
      </p:sp>
      <p:sp>
        <p:nvSpPr>
          <p:cNvPr id="68" name="Text 66"/>
          <p:cNvSpPr/>
          <p:nvPr/>
        </p:nvSpPr>
        <p:spPr>
          <a:xfrm>
            <a:off x="6272784" y="2304288"/>
            <a:ext cx="2615184" cy="822960"/>
          </a:xfrm>
          <a:prstGeom prst="rect">
            <a:avLst/>
          </a:prstGeom>
          <a:noFill/>
          <a:ln/>
        </p:spPr>
        <p:txBody>
          <a:bodyPr wrap="square" lIns="0" tIns="0" rIns="0" bIns="0" rtlCol="0" anchor="ctr"/>
          <a:lstStyle/>
          <a:p>
            <a:pPr indent="0" marL="0">
              <a:buNone/>
            </a:pPr>
            <a:r>
              <a:rPr lang="en-US" sz="850" dirty="0">
                <a:solidFill>
                  <a:srgbClr val="141E1E"/>
                </a:solidFill>
                <a:latin typeface="Calibri" pitchFamily="34" charset="0"/>
                <a:ea typeface="Calibri" pitchFamily="34" charset="-122"/>
                <a:cs typeface="Calibri" pitchFamily="34" charset="-120"/>
              </a:rPr>
              <a:t>Provides a structured account management layer for individual tax obligations, enabling authorities to track, manage, and report on each taxpayer's account position across multiple tax types and periods.</a:t>
            </a:r>
            <a:endParaRPr lang="en-US" sz="850" dirty="0"/>
          </a:p>
        </p:txBody>
      </p:sp>
      <p:sp>
        <p:nvSpPr>
          <p:cNvPr id="69" name="Text 67"/>
          <p:cNvSpPr/>
          <p:nvPr/>
        </p:nvSpPr>
        <p:spPr>
          <a:xfrm>
            <a:off x="6272784" y="3172968"/>
            <a:ext cx="2615184" cy="201168"/>
          </a:xfrm>
          <a:prstGeom prst="rect">
            <a:avLst/>
          </a:prstGeom>
          <a:noFill/>
          <a:ln/>
        </p:spPr>
        <p:txBody>
          <a:bodyPr wrap="square" lIns="0" tIns="0" rIns="0" bIns="0" rtlCol="0" anchor="ctr"/>
          <a:lstStyle/>
          <a:p>
            <a:pPr indent="0" marL="0">
              <a:buNone/>
            </a:pPr>
            <a:r>
              <a:rPr lang="en-US" sz="900" b="1" dirty="0">
                <a:solidFill>
                  <a:srgbClr val="FF6359"/>
                </a:solidFill>
                <a:latin typeface="Calibri" pitchFamily="34" charset="0"/>
                <a:ea typeface="Calibri" pitchFamily="34" charset="-122"/>
                <a:cs typeface="Calibri" pitchFamily="34" charset="-120"/>
              </a:rPr>
              <a:t>Benefits</a:t>
            </a:r>
            <a:endParaRPr lang="en-US" sz="900" dirty="0"/>
          </a:p>
        </p:txBody>
      </p:sp>
      <p:sp>
        <p:nvSpPr>
          <p:cNvPr id="70" name="Text 68"/>
          <p:cNvSpPr/>
          <p:nvPr/>
        </p:nvSpPr>
        <p:spPr>
          <a:xfrm>
            <a:off x="6272784" y="3383280"/>
            <a:ext cx="2615184" cy="822960"/>
          </a:xfrm>
          <a:prstGeom prst="rect">
            <a:avLst/>
          </a:prstGeom>
          <a:noFill/>
          <a:ln/>
        </p:spPr>
        <p:txBody>
          <a:bodyPr wrap="square" rtlCol="0" anchor="ctr"/>
          <a:lstStyle/>
          <a:p>
            <a:pPr marL="342900" indent="-342900">
              <a:buSzPct val="100000"/>
              <a:buChar char="•"/>
            </a:pPr>
            <a:r>
              <a:rPr lang="en-US" sz="800" dirty="0">
                <a:solidFill>
                  <a:srgbClr val="4A5C5A"/>
                </a:solidFill>
                <a:latin typeface="Calibri" pitchFamily="34" charset="0"/>
                <a:ea typeface="Calibri" pitchFamily="34" charset="-122"/>
                <a:cs typeface="Calibri" pitchFamily="34" charset="-120"/>
              </a:rPr>
              <a:t>Unified account view simplifies officer case management and reduces error rates</a:t>
            </a:r>
            <a:endParaRPr lang="en-US" sz="800" dirty="0"/>
          </a:p>
          <a:p>
            <a:pPr marL="342900" indent="-342900">
              <a:buSzPct val="100000"/>
              <a:buChar char="•"/>
            </a:pPr>
            <a:r>
              <a:rPr lang="en-US" sz="800" dirty="0">
                <a:solidFill>
                  <a:srgbClr val="4A5C5A"/>
                </a:solidFill>
                <a:latin typeface="Calibri" pitchFamily="34" charset="0"/>
                <a:ea typeface="Calibri" pitchFamily="34" charset="-122"/>
                <a:cs typeface="Calibri" pitchFamily="34" charset="-120"/>
              </a:rPr>
              <a:t>Supports multi-period and multi-tax-type account tracking in a single view</a:t>
            </a:r>
            <a:endParaRPr lang="en-US" sz="800" dirty="0"/>
          </a:p>
          <a:p>
            <a:pPr marL="342900" indent="-342900">
              <a:buSzPct val="100000"/>
              <a:buChar char="•"/>
            </a:pPr>
            <a:r>
              <a:rPr lang="en-US" sz="800" dirty="0">
                <a:solidFill>
                  <a:srgbClr val="4A5C5A"/>
                </a:solidFill>
                <a:latin typeface="Calibri" pitchFamily="34" charset="0"/>
                <a:ea typeface="Calibri" pitchFamily="34" charset="-122"/>
                <a:cs typeface="Calibri" pitchFamily="34" charset="-120"/>
              </a:rPr>
              <a:t>Foundation for advanced debt management and compliance analytics</a:t>
            </a:r>
            <a:endParaRPr lang="en-US" sz="800" dirty="0"/>
          </a:p>
        </p:txBody>
      </p:sp>
      <p:sp>
        <p:nvSpPr>
          <p:cNvPr id="71" name="Shape 69"/>
          <p:cNvSpPr/>
          <p:nvPr/>
        </p:nvSpPr>
        <p:spPr>
          <a:xfrm>
            <a:off x="6272784" y="4261104"/>
            <a:ext cx="2615184" cy="530352"/>
          </a:xfrm>
          <a:prstGeom prst="rect">
            <a:avLst/>
          </a:prstGeom>
          <a:solidFill>
            <a:srgbClr val="EEF3F2"/>
          </a:solidFill>
          <a:ln w="12700">
            <a:solidFill>
              <a:srgbClr val="D0D7D7"/>
            </a:solidFill>
            <a:prstDash val="solid"/>
          </a:ln>
        </p:spPr>
      </p:sp>
      <p:sp>
        <p:nvSpPr>
          <p:cNvPr id="72" name="Text 70"/>
          <p:cNvSpPr/>
          <p:nvPr/>
        </p:nvSpPr>
        <p:spPr>
          <a:xfrm>
            <a:off x="6327648" y="4288536"/>
            <a:ext cx="2505456" cy="475488"/>
          </a:xfrm>
          <a:prstGeom prst="rect">
            <a:avLst/>
          </a:prstGeom>
          <a:noFill/>
          <a:ln/>
        </p:spPr>
        <p:txBody>
          <a:bodyPr wrap="square" lIns="0" tIns="0" rIns="0" bIns="0" rtlCol="0" anchor="ctr"/>
          <a:lstStyle/>
          <a:p>
            <a:pPr indent="0" marL="0">
              <a:buNone/>
            </a:pPr>
            <a:r>
              <a:rPr lang="en-US" sz="800" i="1" dirty="0">
                <a:solidFill>
                  <a:srgbClr val="123836"/>
                </a:solidFill>
                <a:latin typeface="Calibri" pitchFamily="34" charset="0"/>
                <a:ea typeface="Calibri" pitchFamily="34" charset="-122"/>
                <a:cs typeface="Calibri" pitchFamily="34" charset="-120"/>
              </a:rPr>
              <a:t>P1 priority but effort TBD — requires immediate scoping to avoid PI28 planning risk.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3836"/>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F6359"/>
          </a:solidFill>
          <a:ln w="12700">
            <a:solidFill>
              <a:srgbClr val="FF6359"/>
            </a:solidFill>
            <a:prstDash val="solid"/>
          </a:ln>
        </p:spPr>
      </p:sp>
      <p:sp>
        <p:nvSpPr>
          <p:cNvPr id="3" name="Shape 1"/>
          <p:cNvSpPr/>
          <p:nvPr/>
        </p:nvSpPr>
        <p:spPr>
          <a:xfrm>
            <a:off x="0" y="4434840"/>
            <a:ext cx="9144000" cy="708660"/>
          </a:xfrm>
          <a:prstGeom prst="rect">
            <a:avLst/>
          </a:prstGeom>
          <a:solidFill>
            <a:srgbClr val="0A2422"/>
          </a:solidFill>
          <a:ln w="12700">
            <a:solidFill>
              <a:srgbClr val="0A2422"/>
            </a:solidFill>
            <a:prstDash val="solid"/>
          </a:ln>
        </p:spPr>
      </p:sp>
      <p:sp>
        <p:nvSpPr>
          <p:cNvPr id="4" name="Text 2"/>
          <p:cNvSpPr/>
          <p:nvPr/>
        </p:nvSpPr>
        <p:spPr>
          <a:xfrm>
            <a:off x="320040" y="274320"/>
            <a:ext cx="850392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Next Steps &amp; Decision Points</a:t>
            </a:r>
            <a:endParaRPr lang="en-US" sz="2800" dirty="0"/>
          </a:p>
        </p:txBody>
      </p:sp>
      <p:sp>
        <p:nvSpPr>
          <p:cNvPr id="5" name="Text 3"/>
          <p:cNvSpPr/>
          <p:nvPr/>
        </p:nvSpPr>
        <p:spPr>
          <a:xfrm>
            <a:off x="320040" y="868680"/>
            <a:ext cx="8503920" cy="320040"/>
          </a:xfrm>
          <a:prstGeom prst="rect">
            <a:avLst/>
          </a:prstGeom>
          <a:noFill/>
          <a:ln/>
        </p:spPr>
        <p:txBody>
          <a:bodyPr wrap="square" lIns="0" tIns="0" rIns="0" bIns="0" rtlCol="0" anchor="ctr"/>
          <a:lstStyle/>
          <a:p>
            <a:pPr indent="0" marL="0">
              <a:buNone/>
            </a:pPr>
            <a:r>
              <a:rPr lang="en-US" sz="1300" dirty="0">
                <a:solidFill>
                  <a:srgbClr val="73AA87"/>
                </a:solidFill>
                <a:latin typeface="Calibri" pitchFamily="34" charset="0"/>
                <a:ea typeface="Calibri" pitchFamily="34" charset="-122"/>
                <a:cs typeface="Calibri" pitchFamily="34" charset="-120"/>
              </a:rPr>
              <a:t>Solon Tax Product Roadmap 2026 | SteerCo Session — 29 April 2026</a:t>
            </a:r>
            <a:endParaRPr lang="en-US" sz="1300" dirty="0"/>
          </a:p>
        </p:txBody>
      </p:sp>
      <p:sp>
        <p:nvSpPr>
          <p:cNvPr id="6" name="Shape 4"/>
          <p:cNvSpPr/>
          <p:nvPr/>
        </p:nvSpPr>
        <p:spPr>
          <a:xfrm>
            <a:off x="320040" y="1325880"/>
            <a:ext cx="8503920" cy="658368"/>
          </a:xfrm>
          <a:prstGeom prst="rect">
            <a:avLst/>
          </a:prstGeom>
          <a:solidFill>
            <a:srgbClr val="1B5E52"/>
          </a:solidFill>
          <a:ln w="12700">
            <a:solidFill>
              <a:srgbClr val="1E4A44"/>
            </a:solidFill>
            <a:prstDash val="solid"/>
          </a:ln>
        </p:spPr>
      </p:sp>
      <p:sp>
        <p:nvSpPr>
          <p:cNvPr id="7" name="Shape 5"/>
          <p:cNvSpPr/>
          <p:nvPr/>
        </p:nvSpPr>
        <p:spPr>
          <a:xfrm>
            <a:off x="320040" y="1325880"/>
            <a:ext cx="54864" cy="658368"/>
          </a:xfrm>
          <a:prstGeom prst="rect">
            <a:avLst/>
          </a:prstGeom>
          <a:solidFill>
            <a:srgbClr val="FFD282"/>
          </a:solidFill>
          <a:ln w="12700">
            <a:solidFill>
              <a:srgbClr val="FFD282"/>
            </a:solidFill>
            <a:prstDash val="solid"/>
          </a:ln>
        </p:spPr>
      </p:sp>
      <p:sp>
        <p:nvSpPr>
          <p:cNvPr id="8" name="Text 6"/>
          <p:cNvSpPr/>
          <p:nvPr/>
        </p:nvSpPr>
        <p:spPr>
          <a:xfrm>
            <a:off x="411480" y="1399032"/>
            <a:ext cx="365760" cy="457200"/>
          </a:xfrm>
          <a:prstGeom prst="rect">
            <a:avLst/>
          </a:prstGeom>
          <a:noFill/>
          <a:ln/>
        </p:spPr>
        <p:txBody>
          <a:bodyPr wrap="square" lIns="0" tIns="0" rIns="0" bIns="0" rtlCol="0" anchor="ctr"/>
          <a:lstStyle/>
          <a:p>
            <a:pPr indent="0" marL="0">
              <a:buNone/>
            </a:pPr>
            <a:r>
              <a:rPr lang="en-US" sz="1800" b="1" dirty="0">
                <a:solidFill>
                  <a:srgbClr val="FFD282"/>
                </a:solidFill>
                <a:latin typeface="Calibri" pitchFamily="34" charset="0"/>
                <a:ea typeface="Calibri" pitchFamily="34" charset="-122"/>
                <a:cs typeface="Calibri" pitchFamily="34" charset="-120"/>
              </a:rPr>
              <a:t>01</a:t>
            </a:r>
            <a:endParaRPr lang="en-US" sz="1800" dirty="0"/>
          </a:p>
        </p:txBody>
      </p:sp>
      <p:sp>
        <p:nvSpPr>
          <p:cNvPr id="9" name="Text 7"/>
          <p:cNvSpPr/>
          <p:nvPr/>
        </p:nvSpPr>
        <p:spPr>
          <a:xfrm>
            <a:off x="822960" y="1417320"/>
            <a:ext cx="7772400" cy="256032"/>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Confirm PI28 Capacity</a:t>
            </a:r>
            <a:endParaRPr lang="en-US" sz="1100" dirty="0"/>
          </a:p>
        </p:txBody>
      </p:sp>
      <p:sp>
        <p:nvSpPr>
          <p:cNvPr id="10" name="Text 8"/>
          <p:cNvSpPr/>
          <p:nvPr/>
        </p:nvSpPr>
        <p:spPr>
          <a:xfrm>
            <a:off x="822960" y="1691640"/>
            <a:ext cx="7772400" cy="256032"/>
          </a:xfrm>
          <a:prstGeom prst="rect">
            <a:avLst/>
          </a:prstGeom>
          <a:noFill/>
          <a:ln/>
        </p:spPr>
        <p:txBody>
          <a:bodyPr wrap="square" lIns="0" tIns="0" rIns="0" bIns="0" rtlCol="0" anchor="ctr"/>
          <a:lstStyle/>
          <a:p>
            <a:pPr indent="0" marL="0">
              <a:buNone/>
            </a:pPr>
            <a:r>
              <a:rPr lang="en-US" sz="900" dirty="0">
                <a:solidFill>
                  <a:srgbClr val="D0D7D7"/>
                </a:solidFill>
                <a:latin typeface="Calibri" pitchFamily="34" charset="0"/>
                <a:ea typeface="Calibri" pitchFamily="34" charset="-122"/>
                <a:cs typeface="Calibri" pitchFamily="34" charset="-120"/>
              </a:rPr>
              <a:t>Validate delivery team capacity for Registration, Taxpayer Accounting, and Billing features planned in PI28. Flag any resource constraints to product leadership.</a:t>
            </a:r>
            <a:endParaRPr lang="en-US" sz="900" dirty="0"/>
          </a:p>
        </p:txBody>
      </p:sp>
      <p:sp>
        <p:nvSpPr>
          <p:cNvPr id="11" name="Shape 9"/>
          <p:cNvSpPr/>
          <p:nvPr/>
        </p:nvSpPr>
        <p:spPr>
          <a:xfrm>
            <a:off x="320040" y="2075688"/>
            <a:ext cx="8503920" cy="658368"/>
          </a:xfrm>
          <a:prstGeom prst="rect">
            <a:avLst/>
          </a:prstGeom>
          <a:solidFill>
            <a:srgbClr val="1B5E52"/>
          </a:solidFill>
          <a:ln w="12700">
            <a:solidFill>
              <a:srgbClr val="1E4A44"/>
            </a:solidFill>
            <a:prstDash val="solid"/>
          </a:ln>
        </p:spPr>
      </p:sp>
      <p:sp>
        <p:nvSpPr>
          <p:cNvPr id="12" name="Shape 10"/>
          <p:cNvSpPr/>
          <p:nvPr/>
        </p:nvSpPr>
        <p:spPr>
          <a:xfrm>
            <a:off x="320040" y="2075688"/>
            <a:ext cx="54864" cy="658368"/>
          </a:xfrm>
          <a:prstGeom prst="rect">
            <a:avLst/>
          </a:prstGeom>
          <a:solidFill>
            <a:srgbClr val="FFD282"/>
          </a:solidFill>
          <a:ln w="12700">
            <a:solidFill>
              <a:srgbClr val="FFD282"/>
            </a:solidFill>
            <a:prstDash val="solid"/>
          </a:ln>
        </p:spPr>
      </p:sp>
      <p:sp>
        <p:nvSpPr>
          <p:cNvPr id="13" name="Text 11"/>
          <p:cNvSpPr/>
          <p:nvPr/>
        </p:nvSpPr>
        <p:spPr>
          <a:xfrm>
            <a:off x="411480" y="2148840"/>
            <a:ext cx="365760" cy="457200"/>
          </a:xfrm>
          <a:prstGeom prst="rect">
            <a:avLst/>
          </a:prstGeom>
          <a:noFill/>
          <a:ln/>
        </p:spPr>
        <p:txBody>
          <a:bodyPr wrap="square" lIns="0" tIns="0" rIns="0" bIns="0" rtlCol="0" anchor="ctr"/>
          <a:lstStyle/>
          <a:p>
            <a:pPr indent="0" marL="0">
              <a:buNone/>
            </a:pPr>
            <a:r>
              <a:rPr lang="en-US" sz="1800" b="1" dirty="0">
                <a:solidFill>
                  <a:srgbClr val="FFD282"/>
                </a:solidFill>
                <a:latin typeface="Calibri" pitchFamily="34" charset="0"/>
                <a:ea typeface="Calibri" pitchFamily="34" charset="-122"/>
                <a:cs typeface="Calibri" pitchFamily="34" charset="-120"/>
              </a:rPr>
              <a:t>02</a:t>
            </a:r>
            <a:endParaRPr lang="en-US" sz="1800" dirty="0"/>
          </a:p>
        </p:txBody>
      </p:sp>
      <p:sp>
        <p:nvSpPr>
          <p:cNvPr id="14" name="Text 12"/>
          <p:cNvSpPr/>
          <p:nvPr/>
        </p:nvSpPr>
        <p:spPr>
          <a:xfrm>
            <a:off x="822960" y="2167128"/>
            <a:ext cx="7772400" cy="256032"/>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Estimate Penalty &amp; Interest + Tax Accounts</a:t>
            </a:r>
            <a:endParaRPr lang="en-US" sz="1100" dirty="0"/>
          </a:p>
        </p:txBody>
      </p:sp>
      <p:sp>
        <p:nvSpPr>
          <p:cNvPr id="15" name="Text 13"/>
          <p:cNvSpPr/>
          <p:nvPr/>
        </p:nvSpPr>
        <p:spPr>
          <a:xfrm>
            <a:off x="822960" y="2441448"/>
            <a:ext cx="7772400" cy="256032"/>
          </a:xfrm>
          <a:prstGeom prst="rect">
            <a:avLst/>
          </a:prstGeom>
          <a:noFill/>
          <a:ln/>
        </p:spPr>
        <p:txBody>
          <a:bodyPr wrap="square" lIns="0" tIns="0" rIns="0" bIns="0" rtlCol="0" anchor="ctr"/>
          <a:lstStyle/>
          <a:p>
            <a:pPr indent="0" marL="0">
              <a:buNone/>
            </a:pPr>
            <a:r>
              <a:rPr lang="en-US" sz="900" dirty="0">
                <a:solidFill>
                  <a:srgbClr val="D0D7D7"/>
                </a:solidFill>
                <a:latin typeface="Calibri" pitchFamily="34" charset="0"/>
                <a:ea typeface="Calibri" pitchFamily="34" charset="-122"/>
                <a:cs typeface="Calibri" pitchFamily="34" charset="-120"/>
              </a:rPr>
              <a:t>Both initiatives are P1/P2 with TBD effort estimates. Scope clarification sessions must be scheduled before PI28 planning begins.</a:t>
            </a:r>
            <a:endParaRPr lang="en-US" sz="900" dirty="0"/>
          </a:p>
        </p:txBody>
      </p:sp>
      <p:sp>
        <p:nvSpPr>
          <p:cNvPr id="16" name="Shape 14"/>
          <p:cNvSpPr/>
          <p:nvPr/>
        </p:nvSpPr>
        <p:spPr>
          <a:xfrm>
            <a:off x="320040" y="2825496"/>
            <a:ext cx="8503920" cy="658368"/>
          </a:xfrm>
          <a:prstGeom prst="rect">
            <a:avLst/>
          </a:prstGeom>
          <a:solidFill>
            <a:srgbClr val="1B5E52"/>
          </a:solidFill>
          <a:ln w="12700">
            <a:solidFill>
              <a:srgbClr val="1E4A44"/>
            </a:solidFill>
            <a:prstDash val="solid"/>
          </a:ln>
        </p:spPr>
      </p:sp>
      <p:sp>
        <p:nvSpPr>
          <p:cNvPr id="17" name="Shape 15"/>
          <p:cNvSpPr/>
          <p:nvPr/>
        </p:nvSpPr>
        <p:spPr>
          <a:xfrm>
            <a:off x="320040" y="2825496"/>
            <a:ext cx="54864" cy="658368"/>
          </a:xfrm>
          <a:prstGeom prst="rect">
            <a:avLst/>
          </a:prstGeom>
          <a:solidFill>
            <a:srgbClr val="FFD282"/>
          </a:solidFill>
          <a:ln w="12700">
            <a:solidFill>
              <a:srgbClr val="FFD282"/>
            </a:solidFill>
            <a:prstDash val="solid"/>
          </a:ln>
        </p:spPr>
      </p:sp>
      <p:sp>
        <p:nvSpPr>
          <p:cNvPr id="18" name="Text 16"/>
          <p:cNvSpPr/>
          <p:nvPr/>
        </p:nvSpPr>
        <p:spPr>
          <a:xfrm>
            <a:off x="411480" y="2898648"/>
            <a:ext cx="365760" cy="457200"/>
          </a:xfrm>
          <a:prstGeom prst="rect">
            <a:avLst/>
          </a:prstGeom>
          <a:noFill/>
          <a:ln/>
        </p:spPr>
        <p:txBody>
          <a:bodyPr wrap="square" lIns="0" tIns="0" rIns="0" bIns="0" rtlCol="0" anchor="ctr"/>
          <a:lstStyle/>
          <a:p>
            <a:pPr indent="0" marL="0">
              <a:buNone/>
            </a:pPr>
            <a:r>
              <a:rPr lang="en-US" sz="1800" b="1" dirty="0">
                <a:solidFill>
                  <a:srgbClr val="FFD282"/>
                </a:solidFill>
                <a:latin typeface="Calibri" pitchFamily="34" charset="0"/>
                <a:ea typeface="Calibri" pitchFamily="34" charset="-122"/>
                <a:cs typeface="Calibri" pitchFamily="34" charset="-120"/>
              </a:rPr>
              <a:t>03</a:t>
            </a:r>
            <a:endParaRPr lang="en-US" sz="1800" dirty="0"/>
          </a:p>
        </p:txBody>
      </p:sp>
      <p:sp>
        <p:nvSpPr>
          <p:cNvPr id="19" name="Text 17"/>
          <p:cNvSpPr/>
          <p:nvPr/>
        </p:nvSpPr>
        <p:spPr>
          <a:xfrm>
            <a:off x="822960" y="2916936"/>
            <a:ext cx="7772400" cy="256032"/>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Approve PI29 Scope for Registration</a:t>
            </a:r>
            <a:endParaRPr lang="en-US" sz="1100" dirty="0"/>
          </a:p>
        </p:txBody>
      </p:sp>
      <p:sp>
        <p:nvSpPr>
          <p:cNvPr id="20" name="Text 18"/>
          <p:cNvSpPr/>
          <p:nvPr/>
        </p:nvSpPr>
        <p:spPr>
          <a:xfrm>
            <a:off x="822960" y="3191256"/>
            <a:ext cx="7772400" cy="256032"/>
          </a:xfrm>
          <a:prstGeom prst="rect">
            <a:avLst/>
          </a:prstGeom>
          <a:noFill/>
          <a:ln/>
        </p:spPr>
        <p:txBody>
          <a:bodyPr wrap="square" lIns="0" tIns="0" rIns="0" bIns="0" rtlCol="0" anchor="ctr"/>
          <a:lstStyle/>
          <a:p>
            <a:pPr indent="0" marL="0">
              <a:buNone/>
            </a:pPr>
            <a:r>
              <a:rPr lang="en-US" sz="900" dirty="0">
                <a:solidFill>
                  <a:srgbClr val="D0D7D7"/>
                </a:solidFill>
                <a:latin typeface="Calibri" pitchFamily="34" charset="0"/>
                <a:ea typeface="Calibri" pitchFamily="34" charset="-122"/>
                <a:cs typeface="Calibri" pitchFamily="34" charset="-120"/>
              </a:rPr>
              <a:t>Organisational Hierarchy View feature requires SteerCo alignment on priority and GRC team availability for PI29 delivery confirmation.</a:t>
            </a:r>
            <a:endParaRPr lang="en-US" sz="900" dirty="0"/>
          </a:p>
        </p:txBody>
      </p:sp>
      <p:sp>
        <p:nvSpPr>
          <p:cNvPr id="21" name="Shape 19"/>
          <p:cNvSpPr/>
          <p:nvPr/>
        </p:nvSpPr>
        <p:spPr>
          <a:xfrm>
            <a:off x="320040" y="3575304"/>
            <a:ext cx="8503920" cy="658368"/>
          </a:xfrm>
          <a:prstGeom prst="rect">
            <a:avLst/>
          </a:prstGeom>
          <a:solidFill>
            <a:srgbClr val="1B5E52"/>
          </a:solidFill>
          <a:ln w="12700">
            <a:solidFill>
              <a:srgbClr val="1E4A44"/>
            </a:solidFill>
            <a:prstDash val="solid"/>
          </a:ln>
        </p:spPr>
      </p:sp>
      <p:sp>
        <p:nvSpPr>
          <p:cNvPr id="22" name="Shape 20"/>
          <p:cNvSpPr/>
          <p:nvPr/>
        </p:nvSpPr>
        <p:spPr>
          <a:xfrm>
            <a:off x="320040" y="3575304"/>
            <a:ext cx="54864" cy="658368"/>
          </a:xfrm>
          <a:prstGeom prst="rect">
            <a:avLst/>
          </a:prstGeom>
          <a:solidFill>
            <a:srgbClr val="FFD282"/>
          </a:solidFill>
          <a:ln w="12700">
            <a:solidFill>
              <a:srgbClr val="FFD282"/>
            </a:solidFill>
            <a:prstDash val="solid"/>
          </a:ln>
        </p:spPr>
      </p:sp>
      <p:sp>
        <p:nvSpPr>
          <p:cNvPr id="23" name="Text 21"/>
          <p:cNvSpPr/>
          <p:nvPr/>
        </p:nvSpPr>
        <p:spPr>
          <a:xfrm>
            <a:off x="411480" y="3648456"/>
            <a:ext cx="365760" cy="457200"/>
          </a:xfrm>
          <a:prstGeom prst="rect">
            <a:avLst/>
          </a:prstGeom>
          <a:noFill/>
          <a:ln/>
        </p:spPr>
        <p:txBody>
          <a:bodyPr wrap="square" lIns="0" tIns="0" rIns="0" bIns="0" rtlCol="0" anchor="ctr"/>
          <a:lstStyle/>
          <a:p>
            <a:pPr indent="0" marL="0">
              <a:buNone/>
            </a:pPr>
            <a:r>
              <a:rPr lang="en-US" sz="1800" b="1" dirty="0">
                <a:solidFill>
                  <a:srgbClr val="FFD282"/>
                </a:solidFill>
                <a:latin typeface="Calibri" pitchFamily="34" charset="0"/>
                <a:ea typeface="Calibri" pitchFamily="34" charset="-122"/>
                <a:cs typeface="Calibri" pitchFamily="34" charset="-120"/>
              </a:rPr>
              <a:t>04</a:t>
            </a:r>
            <a:endParaRPr lang="en-US" sz="1800" dirty="0"/>
          </a:p>
        </p:txBody>
      </p:sp>
      <p:sp>
        <p:nvSpPr>
          <p:cNvPr id="24" name="Text 22"/>
          <p:cNvSpPr/>
          <p:nvPr/>
        </p:nvSpPr>
        <p:spPr>
          <a:xfrm>
            <a:off x="822960" y="3666744"/>
            <a:ext cx="7772400" cy="256032"/>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Advance Exemptions as Quick Win</a:t>
            </a:r>
            <a:endParaRPr lang="en-US" sz="1100" dirty="0"/>
          </a:p>
        </p:txBody>
      </p:sp>
      <p:sp>
        <p:nvSpPr>
          <p:cNvPr id="25" name="Text 23"/>
          <p:cNvSpPr/>
          <p:nvPr/>
        </p:nvSpPr>
        <p:spPr>
          <a:xfrm>
            <a:off x="822960" y="3941064"/>
            <a:ext cx="7772400" cy="256032"/>
          </a:xfrm>
          <a:prstGeom prst="rect">
            <a:avLst/>
          </a:prstGeom>
          <a:noFill/>
          <a:ln/>
        </p:spPr>
        <p:txBody>
          <a:bodyPr wrap="square" lIns="0" tIns="0" rIns="0" bIns="0" rtlCol="0" anchor="ctr"/>
          <a:lstStyle/>
          <a:p>
            <a:pPr indent="0" marL="0">
              <a:buNone/>
            </a:pPr>
            <a:r>
              <a:rPr lang="en-US" sz="900" dirty="0">
                <a:solidFill>
                  <a:srgbClr val="D0D7D7"/>
                </a:solidFill>
                <a:latin typeface="Calibri" pitchFamily="34" charset="0"/>
                <a:ea typeface="Calibri" pitchFamily="34" charset="-122"/>
                <a:cs typeface="Calibri" pitchFamily="34" charset="-120"/>
              </a:rPr>
              <a:t>Small scope, P2 initiative with clear value. Recommend advancing delivery to PI28 to demonstrate early value to Greek Project stakeholders.</a:t>
            </a:r>
            <a:endParaRPr lang="en-US" sz="900" dirty="0"/>
          </a:p>
        </p:txBody>
      </p:sp>
      <p:sp>
        <p:nvSpPr>
          <p:cNvPr id="26" name="Text 24"/>
          <p:cNvSpPr/>
          <p:nvPr/>
        </p:nvSpPr>
        <p:spPr>
          <a:xfrm>
            <a:off x="320040" y="4480560"/>
            <a:ext cx="8503920" cy="274320"/>
          </a:xfrm>
          <a:prstGeom prst="rect">
            <a:avLst/>
          </a:prstGeom>
          <a:noFill/>
          <a:ln/>
        </p:spPr>
        <p:txBody>
          <a:bodyPr wrap="square" lIns="0" tIns="0" rIns="0" bIns="0" rtlCol="0" anchor="ctr"/>
          <a:lstStyle/>
          <a:p>
            <a:pPr algn="ctr" indent="0" marL="0">
              <a:buNone/>
            </a:pPr>
            <a:r>
              <a:rPr lang="en-US" sz="900" dirty="0">
                <a:solidFill>
                  <a:srgbClr val="718886"/>
                </a:solidFill>
                <a:latin typeface="Calibri" pitchFamily="34" charset="0"/>
                <a:ea typeface="Calibri" pitchFamily="34" charset="-122"/>
                <a:cs typeface="Calibri" pitchFamily="34" charset="-120"/>
              </a:rPr>
              <a:t>Netcompany | netcompany.com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Solon Tax Product Roadmap 2026 – Feature Catalog</dc:title>
  <dc:subject>PptxGenJS Presentation</dc:subject>
  <dc:creator>Nikolaj</dc:creator>
  <cp:lastModifiedBy>Nikolaj</cp:lastModifiedBy>
  <cp:revision>1</cp:revision>
  <dcterms:created xsi:type="dcterms:W3CDTF">2026-04-08T13:51:22Z</dcterms:created>
  <dcterms:modified xsi:type="dcterms:W3CDTF">2026-04-08T13:51:22Z</dcterms:modified>
</cp:coreProperties>
</file>